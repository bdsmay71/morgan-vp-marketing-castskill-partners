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1" r:id="rId2"/>
  </p:sldMasterIdLst>
  <p:notesMasterIdLst>
    <p:notesMasterId r:id="rId23"/>
  </p:notesMasterIdLst>
  <p:sldIdLst>
    <p:sldId id="257" r:id="rId3"/>
    <p:sldId id="321" r:id="rId4"/>
    <p:sldId id="270" r:id="rId5"/>
    <p:sldId id="374" r:id="rId6"/>
    <p:sldId id="2145707134" r:id="rId7"/>
    <p:sldId id="2145707131" r:id="rId8"/>
    <p:sldId id="329" r:id="rId9"/>
    <p:sldId id="258" r:id="rId10"/>
    <p:sldId id="260" r:id="rId11"/>
    <p:sldId id="376" r:id="rId12"/>
    <p:sldId id="2145707136" r:id="rId13"/>
    <p:sldId id="382" r:id="rId14"/>
    <p:sldId id="256" r:id="rId15"/>
    <p:sldId id="2145707138" r:id="rId16"/>
    <p:sldId id="269" r:id="rId17"/>
    <p:sldId id="301" r:id="rId18"/>
    <p:sldId id="344" r:id="rId19"/>
    <p:sldId id="345" r:id="rId20"/>
    <p:sldId id="346" r:id="rId21"/>
    <p:sldId id="3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DA951C-F598-4459-9495-762124FF80A3}" v="171" dt="2026-03-17T12:07:10.9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99" d="100"/>
          <a:sy n="99" d="100"/>
        </p:scale>
        <p:origin x="192"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FFFEEB-EAAF-944D-9F4C-16A7604A9589}" type="datetimeFigureOut">
              <a:rPr lang="en-US" smtClean="0"/>
              <a:t>3/17/26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C5F152-0D69-9C47-A369-D8A87C505462}" type="slidenum">
              <a:rPr lang="en-US" smtClean="0"/>
              <a:t>‹#›</a:t>
            </a:fld>
            <a:endParaRPr lang="en-US"/>
          </a:p>
        </p:txBody>
      </p:sp>
    </p:spTree>
    <p:extLst>
      <p:ext uri="{BB962C8B-B14F-4D97-AF65-F5344CB8AC3E}">
        <p14:creationId xmlns:p14="http://schemas.microsoft.com/office/powerpoint/2010/main" val="759042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5E33FC-AAEC-7E48-9C6E-3C620D42379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36205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D813B-191B-BEB8-1294-55FE6FA7D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2F6864-52CC-652C-E6B8-47D7B17F4DD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3D6B6A-00D0-E482-2303-B5FD6A6448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216D72E-A947-9BE1-0CEE-04D7E88E74D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775094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3E56594B-2730-426E-89AA-7E9990349F24}" type="slidenum">
              <a:rPr lang="en-US" smtClean="0"/>
              <a:t>6</a:t>
            </a:fld>
            <a:endParaRPr lang="en-US"/>
          </a:p>
        </p:txBody>
      </p:sp>
    </p:spTree>
    <p:extLst>
      <p:ext uri="{BB962C8B-B14F-4D97-AF65-F5344CB8AC3E}">
        <p14:creationId xmlns:p14="http://schemas.microsoft.com/office/powerpoint/2010/main" val="667033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5F152-0D69-9C47-A369-D8A87C505462}" type="slidenum">
              <a:rPr lang="en-US" smtClean="0"/>
              <a:t>11</a:t>
            </a:fld>
            <a:endParaRPr lang="en-US"/>
          </a:p>
        </p:txBody>
      </p:sp>
    </p:spTree>
    <p:extLst>
      <p:ext uri="{BB962C8B-B14F-4D97-AF65-F5344CB8AC3E}">
        <p14:creationId xmlns:p14="http://schemas.microsoft.com/office/powerpoint/2010/main" val="866766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27A2C-0CA7-4E98-CC64-6FDFDDD3A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997ED9-02A4-6466-FEEA-180ABE9D4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ABE984-8363-29FA-298E-E67732ED73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4DF23E-F1EE-5819-9E02-0B90442B943C}"/>
              </a:ext>
            </a:extLst>
          </p:cNvPr>
          <p:cNvSpPr>
            <a:spLocks noGrp="1"/>
          </p:cNvSpPr>
          <p:nvPr>
            <p:ph type="sldNum" sz="quarter" idx="10"/>
          </p:nvPr>
        </p:nvSpPr>
        <p:spPr/>
        <p:txBody>
          <a:bodyPr/>
          <a:lstStyle/>
          <a:p>
            <a:fld id="{F7021451-1387-4CA6-816F-3879F97B5CBC}" type="slidenum">
              <a:rPr lang="en-US"/>
              <a:t>12</a:t>
            </a:fld>
            <a:endParaRPr lang="en-US"/>
          </a:p>
        </p:txBody>
      </p:sp>
      <p:sp>
        <p:nvSpPr>
          <p:cNvPr id="5" name="Text 20">
            <a:extLst>
              <a:ext uri="{FF2B5EF4-FFF2-40B4-BE49-F238E27FC236}">
                <a16:creationId xmlns:a16="http://schemas.microsoft.com/office/drawing/2014/main" id="{CB11C77D-2DC2-7CFD-0522-1994A918C3E7}"/>
              </a:ext>
            </a:extLst>
          </p:cNvPr>
          <p:cNvSpPr/>
          <p:nvPr/>
        </p:nvSpPr>
        <p:spPr>
          <a:xfrm>
            <a:off x="1639414" y="4913313"/>
            <a:ext cx="3579171" cy="274320"/>
          </a:xfrm>
          <a:prstGeom prst="rect">
            <a:avLst/>
          </a:prstGeom>
          <a:noFill/>
          <a:ln/>
        </p:spPr>
        <p:txBody>
          <a:bodyPr wrap="square" lIns="0" tIns="0" rIns="33867" bIns="0" rtlCol="0" anchor="ctr"/>
          <a:lstStyle/>
          <a:p>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Exit low-margin programs; redirect capacity to the mech. &amp; electrical systems layer of hyperscale infrastructure; pursue designed-in OEM status.</a:t>
            </a:r>
          </a:p>
        </p:txBody>
      </p:sp>
      <p:sp>
        <p:nvSpPr>
          <p:cNvPr id="6" name="Text 33">
            <a:extLst>
              <a:ext uri="{FF2B5EF4-FFF2-40B4-BE49-F238E27FC236}">
                <a16:creationId xmlns:a16="http://schemas.microsoft.com/office/drawing/2014/main" id="{84F66CCD-A26A-4A9D-1773-9E3F29882A8F}"/>
              </a:ext>
            </a:extLst>
          </p:cNvPr>
          <p:cNvSpPr/>
          <p:nvPr/>
        </p:nvSpPr>
        <p:spPr>
          <a:xfrm>
            <a:off x="1638406" y="5726549"/>
            <a:ext cx="3591713" cy="274320"/>
          </a:xfrm>
          <a:prstGeom prst="rect">
            <a:avLst/>
          </a:prstGeom>
          <a:noFill/>
          <a:ln/>
        </p:spPr>
        <p:txBody>
          <a:bodyPr wrap="square" lIns="0" tIns="0" rIns="33867" bIns="0" rtlCol="0" anchor="ctr"/>
          <a:lstStyle/>
          <a:p>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Full margin waterfall by customer/SKU day 30; pricing authority in DoA ASAP; Sales incentives shifted from revenue to gross margin</a:t>
            </a:r>
          </a:p>
        </p:txBody>
      </p:sp>
      <p:sp>
        <p:nvSpPr>
          <p:cNvPr id="7" name="Text 46">
            <a:extLst>
              <a:ext uri="{FF2B5EF4-FFF2-40B4-BE49-F238E27FC236}">
                <a16:creationId xmlns:a16="http://schemas.microsoft.com/office/drawing/2014/main" id="{023F0CE2-2252-07A8-A1E7-3275D0A37FFD}"/>
              </a:ext>
            </a:extLst>
          </p:cNvPr>
          <p:cNvSpPr/>
          <p:nvPr/>
        </p:nvSpPr>
        <p:spPr>
          <a:xfrm>
            <a:off x="1639414" y="6607278"/>
            <a:ext cx="3646331" cy="274320"/>
          </a:xfrm>
          <a:prstGeom prst="rect">
            <a:avLst/>
          </a:prstGeom>
          <a:noFill/>
          <a:ln/>
        </p:spPr>
        <p:txBody>
          <a:bodyPr wrap="square" lIns="0" tIns="0" rIns="33867" bIns="0" rtlCol="0" anchor="ctr"/>
          <a:lstStyle/>
          <a:p>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SQDCI and Productivity baseline day 30; Daily management and visual controls; working capital optimization  prior to growth capex</a:t>
            </a:r>
          </a:p>
        </p:txBody>
      </p:sp>
      <p:sp>
        <p:nvSpPr>
          <p:cNvPr id="8" name="Text 59">
            <a:extLst>
              <a:ext uri="{FF2B5EF4-FFF2-40B4-BE49-F238E27FC236}">
                <a16:creationId xmlns:a16="http://schemas.microsoft.com/office/drawing/2014/main" id="{B287E88F-1AE1-E6F2-2EBC-83A1B5209CFD}"/>
              </a:ext>
            </a:extLst>
          </p:cNvPr>
          <p:cNvSpPr/>
          <p:nvPr/>
        </p:nvSpPr>
        <p:spPr>
          <a:xfrm>
            <a:off x="1644380" y="7430238"/>
            <a:ext cx="3585737" cy="274320"/>
          </a:xfrm>
          <a:prstGeom prst="rect">
            <a:avLst/>
          </a:prstGeom>
          <a:noFill/>
          <a:ln/>
        </p:spPr>
        <p:txBody>
          <a:bodyPr wrap="square" lIns="0" tIns="0" rIns="33867" bIns="0" rtlCol="0" anchor="ctr"/>
          <a:lstStyle/>
          <a:p>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Leadership, talent, and tools assessment. Talent Management system implementation &amp; Playbook execution </a:t>
            </a:r>
          </a:p>
        </p:txBody>
      </p:sp>
      <p:sp>
        <p:nvSpPr>
          <p:cNvPr id="9" name="Text 72">
            <a:extLst>
              <a:ext uri="{FF2B5EF4-FFF2-40B4-BE49-F238E27FC236}">
                <a16:creationId xmlns:a16="http://schemas.microsoft.com/office/drawing/2014/main" id="{AB24AEA2-E0A3-8E61-34B6-E7086445F03B}"/>
              </a:ext>
            </a:extLst>
          </p:cNvPr>
          <p:cNvSpPr/>
          <p:nvPr/>
        </p:nvSpPr>
        <p:spPr>
          <a:xfrm>
            <a:off x="1644380" y="8280020"/>
            <a:ext cx="3585738" cy="265176"/>
          </a:xfrm>
          <a:prstGeom prst="rect">
            <a:avLst/>
          </a:prstGeom>
          <a:noFill/>
          <a:ln/>
        </p:spPr>
        <p:txBody>
          <a:bodyPr wrap="square" lIns="0" tIns="0" rIns="33867" bIns="0" rtlCol="0" anchor="ctr"/>
          <a:lstStyle/>
          <a:p>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Parallel add-on pipeline, and the same 100-day playbook at every acquisition; combined scale targets buyer universe identified prior to entry</a:t>
            </a:r>
          </a:p>
        </p:txBody>
      </p:sp>
    </p:spTree>
    <p:extLst>
      <p:ext uri="{BB962C8B-B14F-4D97-AF65-F5344CB8AC3E}">
        <p14:creationId xmlns:p14="http://schemas.microsoft.com/office/powerpoint/2010/main" val="1145646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12131-B946-AA23-62EB-5151B6AA10A6}"/>
              </a:ext>
            </a:extLst>
          </p:cNvPr>
          <p:cNvSpPr>
            <a:spLocks noGrp="1"/>
          </p:cNvSpPr>
          <p:nvPr>
            <p:ph type="ctrTitle"/>
          </p:nvPr>
        </p:nvSpPr>
        <p:spPr>
          <a:xfrm>
            <a:off x="1524000" y="1122363"/>
            <a:ext cx="9144000" cy="2227124"/>
          </a:xfrm>
        </p:spPr>
        <p:txBody>
          <a:bodyPr anchor="b">
            <a:normAutofit/>
          </a:bodyPr>
          <a:lstStyle>
            <a:lvl1pPr algn="ctr">
              <a:defRPr sz="4000" baseline="0"/>
            </a:lvl1pPr>
          </a:lstStyle>
          <a:p>
            <a:r>
              <a:rPr lang="en-US"/>
              <a:t>Click to edit Master title style</a:t>
            </a:r>
          </a:p>
        </p:txBody>
      </p:sp>
      <p:sp>
        <p:nvSpPr>
          <p:cNvPr id="3" name="Subtitle 2">
            <a:extLst>
              <a:ext uri="{FF2B5EF4-FFF2-40B4-BE49-F238E27FC236}">
                <a16:creationId xmlns:a16="http://schemas.microsoft.com/office/drawing/2014/main" id="{F7E5ED93-29D9-67E6-35B9-F1ED0F0AE89F}"/>
              </a:ext>
            </a:extLst>
          </p:cNvPr>
          <p:cNvSpPr>
            <a:spLocks noGrp="1"/>
          </p:cNvSpPr>
          <p:nvPr>
            <p:ph type="subTitle" idx="1"/>
          </p:nvPr>
        </p:nvSpPr>
        <p:spPr>
          <a:xfrm>
            <a:off x="1524000" y="3602038"/>
            <a:ext cx="9144000" cy="1655762"/>
          </a:xfrm>
        </p:spPr>
        <p:txBody>
          <a:bodyPr/>
          <a:lstStyle>
            <a:lvl1pPr marL="0" indent="0" algn="ctr">
              <a:buNone/>
              <a:defRPr sz="2400" b="1"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895173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4029-6C42-9009-6C97-2F3CF1F866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52ABE6-2BB3-7B23-A8DC-B2C7197B7CBE}"/>
              </a:ext>
            </a:extLst>
          </p:cNvPr>
          <p:cNvSpPr>
            <a:spLocks noGrp="1"/>
          </p:cNvSpPr>
          <p:nvPr>
            <p:ph idx="1"/>
          </p:nvPr>
        </p:nvSpPr>
        <p:spPr>
          <a:xfrm>
            <a:off x="1046922" y="1848677"/>
            <a:ext cx="10306878" cy="40154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11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4029-6C42-9009-6C97-2F3CF1F866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52ABE6-2BB3-7B23-A8DC-B2C7197B7CBE}"/>
              </a:ext>
            </a:extLst>
          </p:cNvPr>
          <p:cNvSpPr>
            <a:spLocks noGrp="1"/>
          </p:cNvSpPr>
          <p:nvPr>
            <p:ph idx="1"/>
          </p:nvPr>
        </p:nvSpPr>
        <p:spPr>
          <a:xfrm>
            <a:off x="1046922" y="1848677"/>
            <a:ext cx="10306878" cy="40154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descr="A green and black logo&#10;&#10;AI-generated content may be incorrect.">
            <a:extLst>
              <a:ext uri="{FF2B5EF4-FFF2-40B4-BE49-F238E27FC236}">
                <a16:creationId xmlns:a16="http://schemas.microsoft.com/office/drawing/2014/main" id="{7546FE33-14CA-D9ED-1D9B-334CF15A4E08}"/>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6802312" y="3637493"/>
            <a:ext cx="5389688" cy="2582559"/>
          </a:xfrm>
          <a:prstGeom prst="rect">
            <a:avLst/>
          </a:prstGeom>
        </p:spPr>
      </p:pic>
    </p:spTree>
    <p:extLst>
      <p:ext uri="{BB962C8B-B14F-4D97-AF65-F5344CB8AC3E}">
        <p14:creationId xmlns:p14="http://schemas.microsoft.com/office/powerpoint/2010/main" val="264272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370D2-AD1D-8D6D-10B0-69DD4DD9ADB2}"/>
              </a:ext>
            </a:extLst>
          </p:cNvPr>
          <p:cNvSpPr>
            <a:spLocks noGrp="1"/>
          </p:cNvSpPr>
          <p:nvPr>
            <p:ph type="title"/>
          </p:nvPr>
        </p:nvSpPr>
        <p:spPr>
          <a:xfrm>
            <a:off x="839788" y="1095153"/>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8A58E2-7F36-7017-A1B9-C76B8F57FAAA}"/>
              </a:ext>
            </a:extLst>
          </p:cNvPr>
          <p:cNvSpPr>
            <a:spLocks noGrp="1"/>
          </p:cNvSpPr>
          <p:nvPr>
            <p:ph idx="1"/>
          </p:nvPr>
        </p:nvSpPr>
        <p:spPr>
          <a:xfrm>
            <a:off x="5183188" y="1736651"/>
            <a:ext cx="6172200" cy="3437861"/>
          </a:xfrm>
        </p:spPr>
        <p:txBody>
          <a:bodyPr>
            <a:normAutofit/>
          </a:bodyPr>
          <a:lstStyle>
            <a:lvl1pPr>
              <a:defRPr sz="1400" baseline="0"/>
            </a:lvl1pPr>
            <a:lvl2pPr>
              <a:defRPr sz="1400" baseline="0"/>
            </a:lvl2pPr>
            <a:lvl3pPr>
              <a:defRPr sz="1400" baseline="0"/>
            </a:lvl3pPr>
            <a:lvl4pPr>
              <a:defRPr sz="1400" baseline="0"/>
            </a:lvl4pPr>
            <a:lvl5pPr>
              <a:defRPr sz="1400" baseline="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A8AAA2-BB4D-165C-6F82-3EA7739AF97F}"/>
              </a:ext>
            </a:extLst>
          </p:cNvPr>
          <p:cNvSpPr>
            <a:spLocks noGrp="1"/>
          </p:cNvSpPr>
          <p:nvPr>
            <p:ph type="body" sz="half" idx="2"/>
          </p:nvPr>
        </p:nvSpPr>
        <p:spPr>
          <a:xfrm>
            <a:off x="839788" y="2695353"/>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52826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A4855-EFB8-2D46-E819-225C31DFD872}"/>
              </a:ext>
            </a:extLst>
          </p:cNvPr>
          <p:cNvSpPr>
            <a:spLocks noGrp="1"/>
          </p:cNvSpPr>
          <p:nvPr>
            <p:ph type="title"/>
          </p:nvPr>
        </p:nvSpPr>
        <p:spPr>
          <a:xfrm>
            <a:off x="3232011" y="2254003"/>
            <a:ext cx="5727976" cy="1301819"/>
          </a:xfrm>
        </p:spPr>
        <p:txBody>
          <a:bodyPr anchor="b">
            <a:normAutofit/>
          </a:bodyPr>
          <a:lstStyle>
            <a:lvl1pPr algn="ctr">
              <a:defRPr sz="3000" baseline="0"/>
            </a:lvl1pPr>
          </a:lstStyle>
          <a:p>
            <a:r>
              <a:rPr lang="en-US"/>
              <a:t>Click to edit Master title style</a:t>
            </a:r>
          </a:p>
        </p:txBody>
      </p:sp>
      <p:sp>
        <p:nvSpPr>
          <p:cNvPr id="3" name="Text Placeholder 2">
            <a:extLst>
              <a:ext uri="{FF2B5EF4-FFF2-40B4-BE49-F238E27FC236}">
                <a16:creationId xmlns:a16="http://schemas.microsoft.com/office/drawing/2014/main" id="{066D4826-F7C6-076F-0D71-F3CA675DB716}"/>
              </a:ext>
            </a:extLst>
          </p:cNvPr>
          <p:cNvSpPr>
            <a:spLocks noGrp="1"/>
          </p:cNvSpPr>
          <p:nvPr>
            <p:ph type="body" idx="1"/>
          </p:nvPr>
        </p:nvSpPr>
        <p:spPr>
          <a:xfrm>
            <a:off x="3232011" y="3706113"/>
            <a:ext cx="5727976" cy="684596"/>
          </a:xfrm>
        </p:spPr>
        <p:txBody>
          <a:bodyPr>
            <a:normAutofit/>
          </a:bodyPr>
          <a:lstStyle>
            <a:lvl1pPr marL="0" indent="0" algn="ctr">
              <a:buNone/>
              <a:defRPr sz="2000" baseline="0">
                <a:solidFill>
                  <a:schemeClr val="tx1">
                    <a:tint val="82000"/>
                  </a:schemeClr>
                </a:solidFill>
                <a:latin typeface="Inter Medium" panose="02000503000000020004"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5" name="Picture 4">
            <a:extLst>
              <a:ext uri="{FF2B5EF4-FFF2-40B4-BE49-F238E27FC236}">
                <a16:creationId xmlns:a16="http://schemas.microsoft.com/office/drawing/2014/main" id="{229F2BD6-05CD-602E-F2BC-75DE63F2645C}"/>
              </a:ext>
            </a:extLst>
          </p:cNvPr>
          <p:cNvPicPr>
            <a:picLocks noChangeAspect="1"/>
          </p:cNvPicPr>
          <p:nvPr userDrawn="1"/>
        </p:nvPicPr>
        <p:blipFill>
          <a:blip r:embed="rId2"/>
          <a:stretch>
            <a:fillRect/>
          </a:stretch>
        </p:blipFill>
        <p:spPr>
          <a:xfrm>
            <a:off x="455524" y="6258317"/>
            <a:ext cx="1041008" cy="365760"/>
          </a:xfrm>
          <a:prstGeom prst="rect">
            <a:avLst/>
          </a:prstGeom>
        </p:spPr>
      </p:pic>
    </p:spTree>
    <p:extLst>
      <p:ext uri="{BB962C8B-B14F-4D97-AF65-F5344CB8AC3E}">
        <p14:creationId xmlns:p14="http://schemas.microsoft.com/office/powerpoint/2010/main" val="108665670"/>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C1D78-291F-EB5A-746F-5954FA267B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D3EA5D-77FE-CB1C-3658-82D41BECE0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AEF66B-2A2D-649F-0D3F-A8FB3ADFC7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107468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601E4-2FEA-064E-925E-C2060B736F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54C870-1983-2058-8D1F-A7DA4E031B17}"/>
              </a:ext>
            </a:extLst>
          </p:cNvPr>
          <p:cNvSpPr>
            <a:spLocks noGrp="1"/>
          </p:cNvSpPr>
          <p:nvPr>
            <p:ph sz="half" idx="1"/>
          </p:nvPr>
        </p:nvSpPr>
        <p:spPr>
          <a:xfrm>
            <a:off x="1046922" y="1929225"/>
            <a:ext cx="4972878" cy="42477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E8F617-503E-D26E-01D4-5B532FEB9726}"/>
              </a:ext>
            </a:extLst>
          </p:cNvPr>
          <p:cNvSpPr>
            <a:spLocks noGrp="1"/>
          </p:cNvSpPr>
          <p:nvPr>
            <p:ph sz="half" idx="2"/>
          </p:nvPr>
        </p:nvSpPr>
        <p:spPr>
          <a:xfrm>
            <a:off x="6172200" y="1929227"/>
            <a:ext cx="5181600" cy="4247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7936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261DA-1461-D247-37FC-AFDE14FF7C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104CDF-2A1B-D721-2A7D-5F1D51D4B6EF}"/>
              </a:ext>
            </a:extLst>
          </p:cNvPr>
          <p:cNvSpPr>
            <a:spLocks noGrp="1"/>
          </p:cNvSpPr>
          <p:nvPr>
            <p:ph type="body" idx="1"/>
          </p:nvPr>
        </p:nvSpPr>
        <p:spPr>
          <a:xfrm>
            <a:off x="839788" y="1681163"/>
            <a:ext cx="5157787" cy="823912"/>
          </a:xfrm>
        </p:spPr>
        <p:txBody>
          <a:bodyPr anchor="b">
            <a:normAutofit/>
          </a:bodyPr>
          <a:lstStyle>
            <a:lvl1pPr marL="0" indent="0">
              <a:buNone/>
              <a:defRPr sz="1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C6709B-159A-72E4-B025-DC6FE42A23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20F66F-9086-BDA4-0184-A509C97345A9}"/>
              </a:ext>
            </a:extLst>
          </p:cNvPr>
          <p:cNvSpPr>
            <a:spLocks noGrp="1"/>
          </p:cNvSpPr>
          <p:nvPr>
            <p:ph type="body" sz="quarter" idx="3"/>
          </p:nvPr>
        </p:nvSpPr>
        <p:spPr>
          <a:xfrm>
            <a:off x="6172200" y="1681163"/>
            <a:ext cx="5183188" cy="823912"/>
          </a:xfrm>
        </p:spPr>
        <p:txBody>
          <a:bodyPr anchor="b">
            <a:normAutofit/>
          </a:bodyPr>
          <a:lstStyle>
            <a:lvl1pPr marL="0" indent="0">
              <a:buNone/>
              <a:defRPr sz="1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B6631C-75B0-DB7B-7E03-90AB93D4E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4205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2C594-421B-EBCC-EE00-39012D05CF3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26187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4689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12131-B946-AA23-62EB-5151B6AA10A6}"/>
              </a:ext>
            </a:extLst>
          </p:cNvPr>
          <p:cNvSpPr>
            <a:spLocks noGrp="1"/>
          </p:cNvSpPr>
          <p:nvPr>
            <p:ph type="ctrTitle"/>
          </p:nvPr>
        </p:nvSpPr>
        <p:spPr>
          <a:xfrm>
            <a:off x="1524000" y="1122363"/>
            <a:ext cx="9144000" cy="2227124"/>
          </a:xfrm>
        </p:spPr>
        <p:txBody>
          <a:bodyPr anchor="b">
            <a:normAutofit/>
          </a:bodyPr>
          <a:lstStyle>
            <a:lvl1pPr algn="ctr">
              <a:defRPr sz="4000" baseline="0"/>
            </a:lvl1pPr>
          </a:lstStyle>
          <a:p>
            <a:r>
              <a:rPr lang="en-US"/>
              <a:t>Click to edit Master title style</a:t>
            </a:r>
          </a:p>
        </p:txBody>
      </p:sp>
      <p:sp>
        <p:nvSpPr>
          <p:cNvPr id="3" name="Subtitle 2">
            <a:extLst>
              <a:ext uri="{FF2B5EF4-FFF2-40B4-BE49-F238E27FC236}">
                <a16:creationId xmlns:a16="http://schemas.microsoft.com/office/drawing/2014/main" id="{F7E5ED93-29D9-67E6-35B9-F1ED0F0AE89F}"/>
              </a:ext>
            </a:extLst>
          </p:cNvPr>
          <p:cNvSpPr>
            <a:spLocks noGrp="1"/>
          </p:cNvSpPr>
          <p:nvPr>
            <p:ph type="subTitle" idx="1"/>
          </p:nvPr>
        </p:nvSpPr>
        <p:spPr>
          <a:xfrm>
            <a:off x="1524000" y="3602038"/>
            <a:ext cx="9144000" cy="1655762"/>
          </a:xfrm>
        </p:spPr>
        <p:txBody>
          <a:bodyPr/>
          <a:lstStyle>
            <a:lvl1pPr marL="0" indent="0" algn="ctr">
              <a:buNone/>
              <a:defRPr sz="2400" b="1"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545450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4029-6C42-9009-6C97-2F3CF1F86606}"/>
              </a:ext>
            </a:extLst>
          </p:cNvPr>
          <p:cNvSpPr>
            <a:spLocks noGrp="1"/>
          </p:cNvSpPr>
          <p:nvPr>
            <p:ph type="title"/>
          </p:nvPr>
        </p:nvSpPr>
        <p:spPr>
          <a:xfrm>
            <a:off x="942561" y="509285"/>
            <a:ext cx="10515600" cy="613459"/>
          </a:xfrm>
        </p:spPr>
        <p:txBody>
          <a:bodyPr anchor="t" anchorCtr="0"/>
          <a:lstStyle/>
          <a:p>
            <a:r>
              <a:rPr lang="en-US"/>
              <a:t>Click to edit Master title style</a:t>
            </a:r>
          </a:p>
        </p:txBody>
      </p:sp>
      <p:sp>
        <p:nvSpPr>
          <p:cNvPr id="3" name="Content Placeholder 2">
            <a:extLst>
              <a:ext uri="{FF2B5EF4-FFF2-40B4-BE49-F238E27FC236}">
                <a16:creationId xmlns:a16="http://schemas.microsoft.com/office/drawing/2014/main" id="{A452ABE6-2BB3-7B23-A8DC-B2C7197B7CBE}"/>
              </a:ext>
            </a:extLst>
          </p:cNvPr>
          <p:cNvSpPr>
            <a:spLocks noGrp="1"/>
          </p:cNvSpPr>
          <p:nvPr>
            <p:ph idx="1"/>
          </p:nvPr>
        </p:nvSpPr>
        <p:spPr>
          <a:xfrm>
            <a:off x="942561" y="1504709"/>
            <a:ext cx="10306878" cy="4359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87607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accent1">
            <a:lumMod val="20000"/>
            <a:lumOff val="80000"/>
            <a:alpha val="251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4029-6C42-9009-6C97-2F3CF1F86606}"/>
              </a:ext>
            </a:extLst>
          </p:cNvPr>
          <p:cNvSpPr>
            <a:spLocks noGrp="1"/>
          </p:cNvSpPr>
          <p:nvPr>
            <p:ph type="title"/>
          </p:nvPr>
        </p:nvSpPr>
        <p:spPr>
          <a:xfrm>
            <a:off x="942561" y="509285"/>
            <a:ext cx="10515600" cy="613459"/>
          </a:xfrm>
        </p:spPr>
        <p:txBody>
          <a:bodyPr anchor="t" anchorCtr="0"/>
          <a:lstStyle/>
          <a:p>
            <a:r>
              <a:rPr lang="en-US"/>
              <a:t>Click to edit Master title style</a:t>
            </a:r>
          </a:p>
        </p:txBody>
      </p:sp>
      <p:sp>
        <p:nvSpPr>
          <p:cNvPr id="3" name="Content Placeholder 2">
            <a:extLst>
              <a:ext uri="{FF2B5EF4-FFF2-40B4-BE49-F238E27FC236}">
                <a16:creationId xmlns:a16="http://schemas.microsoft.com/office/drawing/2014/main" id="{A452ABE6-2BB3-7B23-A8DC-B2C7197B7CBE}"/>
              </a:ext>
            </a:extLst>
          </p:cNvPr>
          <p:cNvSpPr>
            <a:spLocks noGrp="1"/>
          </p:cNvSpPr>
          <p:nvPr>
            <p:ph idx="1"/>
          </p:nvPr>
        </p:nvSpPr>
        <p:spPr>
          <a:xfrm>
            <a:off x="942561" y="1504709"/>
            <a:ext cx="10306878" cy="4359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7294084"/>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4029-6C42-9009-6C97-2F3CF1F86606}"/>
              </a:ext>
            </a:extLst>
          </p:cNvPr>
          <p:cNvSpPr>
            <a:spLocks noGrp="1"/>
          </p:cNvSpPr>
          <p:nvPr>
            <p:ph type="title"/>
          </p:nvPr>
        </p:nvSpPr>
        <p:spPr>
          <a:xfrm>
            <a:off x="1046922" y="603665"/>
            <a:ext cx="10515600" cy="54223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452ABE6-2BB3-7B23-A8DC-B2C7197B7CBE}"/>
              </a:ext>
            </a:extLst>
          </p:cNvPr>
          <p:cNvSpPr>
            <a:spLocks noGrp="1"/>
          </p:cNvSpPr>
          <p:nvPr>
            <p:ph idx="1"/>
          </p:nvPr>
        </p:nvSpPr>
        <p:spPr>
          <a:xfrm>
            <a:off x="1046922" y="1446835"/>
            <a:ext cx="10306878" cy="4417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descr="A green and black logo&#10;&#10;AI-generated content may be incorrect.">
            <a:extLst>
              <a:ext uri="{FF2B5EF4-FFF2-40B4-BE49-F238E27FC236}">
                <a16:creationId xmlns:a16="http://schemas.microsoft.com/office/drawing/2014/main" id="{7546FE33-14CA-D9ED-1D9B-334CF15A4E08}"/>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6802312" y="3637493"/>
            <a:ext cx="5389688" cy="2582559"/>
          </a:xfrm>
          <a:prstGeom prst="rect">
            <a:avLst/>
          </a:prstGeom>
        </p:spPr>
      </p:pic>
    </p:spTree>
    <p:extLst>
      <p:ext uri="{BB962C8B-B14F-4D97-AF65-F5344CB8AC3E}">
        <p14:creationId xmlns:p14="http://schemas.microsoft.com/office/powerpoint/2010/main" val="7763396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370D2-AD1D-8D6D-10B0-69DD4DD9ADB2}"/>
              </a:ext>
            </a:extLst>
          </p:cNvPr>
          <p:cNvSpPr>
            <a:spLocks noGrp="1"/>
          </p:cNvSpPr>
          <p:nvPr>
            <p:ph type="title"/>
          </p:nvPr>
        </p:nvSpPr>
        <p:spPr>
          <a:xfrm>
            <a:off x="839788" y="1095153"/>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8A58E2-7F36-7017-A1B9-C76B8F57FAAA}"/>
              </a:ext>
            </a:extLst>
          </p:cNvPr>
          <p:cNvSpPr>
            <a:spLocks noGrp="1"/>
          </p:cNvSpPr>
          <p:nvPr>
            <p:ph idx="1"/>
          </p:nvPr>
        </p:nvSpPr>
        <p:spPr>
          <a:xfrm>
            <a:off x="5183188" y="1736651"/>
            <a:ext cx="6172200" cy="3437861"/>
          </a:xfrm>
        </p:spPr>
        <p:txBody>
          <a:bodyPr>
            <a:normAutofit/>
          </a:bodyPr>
          <a:lstStyle>
            <a:lvl1pPr>
              <a:defRPr sz="1400" baseline="0"/>
            </a:lvl1pPr>
            <a:lvl2pPr>
              <a:defRPr sz="1400" baseline="0"/>
            </a:lvl2pPr>
            <a:lvl3pPr>
              <a:defRPr sz="1400" baseline="0"/>
            </a:lvl3pPr>
            <a:lvl4pPr>
              <a:defRPr sz="1400" baseline="0"/>
            </a:lvl4pPr>
            <a:lvl5pPr>
              <a:defRPr sz="1400" baseline="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A8AAA2-BB4D-165C-6F82-3EA7739AF97F}"/>
              </a:ext>
            </a:extLst>
          </p:cNvPr>
          <p:cNvSpPr>
            <a:spLocks noGrp="1"/>
          </p:cNvSpPr>
          <p:nvPr>
            <p:ph type="body" sz="half" idx="2"/>
          </p:nvPr>
        </p:nvSpPr>
        <p:spPr>
          <a:xfrm>
            <a:off x="839788" y="2695353"/>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8464081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15542A-D4F5-5070-C227-2E6516B6A041}"/>
              </a:ext>
            </a:extLst>
          </p:cNvPr>
          <p:cNvSpPr/>
          <p:nvPr userDrawn="1"/>
        </p:nvSpPr>
        <p:spPr>
          <a:xfrm>
            <a:off x="1" y="0"/>
            <a:ext cx="4053526" cy="6072809"/>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B370D2-AD1D-8D6D-10B0-69DD4DD9ADB2}"/>
              </a:ext>
            </a:extLst>
          </p:cNvPr>
          <p:cNvSpPr>
            <a:spLocks noGrp="1"/>
          </p:cNvSpPr>
          <p:nvPr>
            <p:ph type="title"/>
          </p:nvPr>
        </p:nvSpPr>
        <p:spPr>
          <a:xfrm>
            <a:off x="839789" y="1095153"/>
            <a:ext cx="2912080" cy="2062826"/>
          </a:xfrm>
        </p:spPr>
        <p:txBody>
          <a:bodyPr anchor="b"/>
          <a:lstStyle>
            <a:lvl1pPr>
              <a:defRPr sz="32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88A58E2-7F36-7017-A1B9-C76B8F57FAAA}"/>
              </a:ext>
            </a:extLst>
          </p:cNvPr>
          <p:cNvSpPr>
            <a:spLocks noGrp="1"/>
          </p:cNvSpPr>
          <p:nvPr>
            <p:ph idx="1"/>
          </p:nvPr>
        </p:nvSpPr>
        <p:spPr>
          <a:xfrm>
            <a:off x="4591657" y="1686570"/>
            <a:ext cx="5259388" cy="3484860"/>
          </a:xfrm>
        </p:spPr>
        <p:txBody>
          <a:bodyPr>
            <a:normAutofit/>
          </a:bodyPr>
          <a:lstStyle>
            <a:lvl1pPr>
              <a:defRPr sz="1400" baseline="0"/>
            </a:lvl1pPr>
            <a:lvl2pPr>
              <a:defRPr sz="1400" baseline="0"/>
            </a:lvl2pPr>
            <a:lvl3pPr>
              <a:defRPr sz="1400" baseline="0"/>
            </a:lvl3pPr>
            <a:lvl4pPr>
              <a:defRPr sz="1400" baseline="0"/>
            </a:lvl4pPr>
            <a:lvl5pPr>
              <a:defRPr sz="1400" baseline="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A8AAA2-BB4D-165C-6F82-3EA7739AF97F}"/>
              </a:ext>
            </a:extLst>
          </p:cNvPr>
          <p:cNvSpPr>
            <a:spLocks noGrp="1"/>
          </p:cNvSpPr>
          <p:nvPr>
            <p:ph type="body" sz="half" idx="2"/>
          </p:nvPr>
        </p:nvSpPr>
        <p:spPr>
          <a:xfrm>
            <a:off x="839788" y="3242821"/>
            <a:ext cx="2553861" cy="3264120"/>
          </a:xfrm>
        </p:spPr>
        <p:txBody>
          <a:bodyPr/>
          <a:lstStyle>
            <a:lvl1pPr marL="0" indent="0">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3949825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A4855-EFB8-2D46-E819-225C31DFD872}"/>
              </a:ext>
            </a:extLst>
          </p:cNvPr>
          <p:cNvSpPr>
            <a:spLocks noGrp="1"/>
          </p:cNvSpPr>
          <p:nvPr>
            <p:ph type="title"/>
          </p:nvPr>
        </p:nvSpPr>
        <p:spPr>
          <a:xfrm>
            <a:off x="3232011" y="2254003"/>
            <a:ext cx="5727976" cy="1301819"/>
          </a:xfrm>
        </p:spPr>
        <p:txBody>
          <a:bodyPr anchor="b">
            <a:normAutofit/>
          </a:bodyPr>
          <a:lstStyle>
            <a:lvl1pPr algn="ctr">
              <a:defRPr sz="3000" baseline="0"/>
            </a:lvl1pPr>
          </a:lstStyle>
          <a:p>
            <a:r>
              <a:rPr lang="en-US"/>
              <a:t>Click to edit Master title style</a:t>
            </a:r>
          </a:p>
        </p:txBody>
      </p:sp>
      <p:sp>
        <p:nvSpPr>
          <p:cNvPr id="3" name="Text Placeholder 2">
            <a:extLst>
              <a:ext uri="{FF2B5EF4-FFF2-40B4-BE49-F238E27FC236}">
                <a16:creationId xmlns:a16="http://schemas.microsoft.com/office/drawing/2014/main" id="{066D4826-F7C6-076F-0D71-F3CA675DB716}"/>
              </a:ext>
            </a:extLst>
          </p:cNvPr>
          <p:cNvSpPr>
            <a:spLocks noGrp="1"/>
          </p:cNvSpPr>
          <p:nvPr>
            <p:ph type="body" idx="1"/>
          </p:nvPr>
        </p:nvSpPr>
        <p:spPr>
          <a:xfrm>
            <a:off x="3232011" y="3706113"/>
            <a:ext cx="5727976" cy="684596"/>
          </a:xfrm>
        </p:spPr>
        <p:txBody>
          <a:bodyPr>
            <a:normAutofit/>
          </a:bodyPr>
          <a:lstStyle>
            <a:lvl1pPr marL="0" indent="0" algn="ctr">
              <a:buNone/>
              <a:defRPr sz="2000" baseline="0">
                <a:solidFill>
                  <a:schemeClr val="tx1">
                    <a:tint val="82000"/>
                  </a:schemeClr>
                </a:solidFill>
                <a:latin typeface="Inter Medium" panose="02000503000000020004"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5" name="Picture 4">
            <a:extLst>
              <a:ext uri="{FF2B5EF4-FFF2-40B4-BE49-F238E27FC236}">
                <a16:creationId xmlns:a16="http://schemas.microsoft.com/office/drawing/2014/main" id="{229F2BD6-05CD-602E-F2BC-75DE63F2645C}"/>
              </a:ext>
            </a:extLst>
          </p:cNvPr>
          <p:cNvPicPr>
            <a:picLocks noChangeAspect="1"/>
          </p:cNvPicPr>
          <p:nvPr userDrawn="1"/>
        </p:nvPicPr>
        <p:blipFill>
          <a:blip r:embed="rId2"/>
          <a:stretch>
            <a:fillRect/>
          </a:stretch>
        </p:blipFill>
        <p:spPr>
          <a:xfrm>
            <a:off x="455524" y="6258317"/>
            <a:ext cx="1041008" cy="365760"/>
          </a:xfrm>
          <a:prstGeom prst="rect">
            <a:avLst/>
          </a:prstGeom>
        </p:spPr>
      </p:pic>
    </p:spTree>
    <p:extLst>
      <p:ext uri="{BB962C8B-B14F-4D97-AF65-F5344CB8AC3E}">
        <p14:creationId xmlns:p14="http://schemas.microsoft.com/office/powerpoint/2010/main" val="1827872083"/>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C1D78-291F-EB5A-746F-5954FA267B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D3EA5D-77FE-CB1C-3658-82D41BECE0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AEF66B-2A2D-649F-0D3F-A8FB3ADFC7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9330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601E4-2FEA-064E-925E-C2060B736F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54C870-1983-2058-8D1F-A7DA4E031B17}"/>
              </a:ext>
            </a:extLst>
          </p:cNvPr>
          <p:cNvSpPr>
            <a:spLocks noGrp="1"/>
          </p:cNvSpPr>
          <p:nvPr>
            <p:ph sz="half" idx="1"/>
          </p:nvPr>
        </p:nvSpPr>
        <p:spPr>
          <a:xfrm>
            <a:off x="1046922" y="1929225"/>
            <a:ext cx="4972878" cy="42477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E8F617-503E-D26E-01D4-5B532FEB9726}"/>
              </a:ext>
            </a:extLst>
          </p:cNvPr>
          <p:cNvSpPr>
            <a:spLocks noGrp="1"/>
          </p:cNvSpPr>
          <p:nvPr>
            <p:ph sz="half" idx="2"/>
          </p:nvPr>
        </p:nvSpPr>
        <p:spPr>
          <a:xfrm>
            <a:off x="6172200" y="1929227"/>
            <a:ext cx="5181600" cy="4247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93971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261DA-1461-D247-37FC-AFDE14FF7C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104CDF-2A1B-D721-2A7D-5F1D51D4B6EF}"/>
              </a:ext>
            </a:extLst>
          </p:cNvPr>
          <p:cNvSpPr>
            <a:spLocks noGrp="1"/>
          </p:cNvSpPr>
          <p:nvPr>
            <p:ph type="body" idx="1"/>
          </p:nvPr>
        </p:nvSpPr>
        <p:spPr>
          <a:xfrm>
            <a:off x="839788" y="1681163"/>
            <a:ext cx="5157787" cy="823912"/>
          </a:xfrm>
        </p:spPr>
        <p:txBody>
          <a:bodyPr anchor="b">
            <a:normAutofit/>
          </a:bodyPr>
          <a:lstStyle>
            <a:lvl1pPr marL="0" indent="0">
              <a:buNone/>
              <a:defRPr sz="1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C6709B-159A-72E4-B025-DC6FE42A23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20F66F-9086-BDA4-0184-A509C97345A9}"/>
              </a:ext>
            </a:extLst>
          </p:cNvPr>
          <p:cNvSpPr>
            <a:spLocks noGrp="1"/>
          </p:cNvSpPr>
          <p:nvPr>
            <p:ph type="body" sz="quarter" idx="3"/>
          </p:nvPr>
        </p:nvSpPr>
        <p:spPr>
          <a:xfrm>
            <a:off x="6172200" y="1681163"/>
            <a:ext cx="5183188" cy="823912"/>
          </a:xfrm>
        </p:spPr>
        <p:txBody>
          <a:bodyPr anchor="b">
            <a:normAutofit/>
          </a:bodyPr>
          <a:lstStyle>
            <a:lvl1pPr marL="0" indent="0">
              <a:buNone/>
              <a:defRPr sz="1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B6631C-75B0-DB7B-7E03-90AB93D4E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19843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2C594-421B-EBCC-EE00-39012D05CF3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36391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10421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388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5_Blank with Title">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19CC2D-6364-4F0D-084B-90AEDB9201D7}"/>
              </a:ext>
            </a:extLst>
          </p:cNvPr>
          <p:cNvSpPr/>
          <p:nvPr userDrawn="1"/>
        </p:nvSpPr>
        <p:spPr>
          <a:xfrm>
            <a:off x="6613035" y="1653023"/>
            <a:ext cx="5578965" cy="4301647"/>
          </a:xfrm>
          <a:prstGeom prst="rect">
            <a:avLst/>
          </a:prstGeom>
          <a:solidFill>
            <a:srgbClr val="F0F3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14B2B23-275C-693B-E94B-330CC62FD13C}"/>
              </a:ext>
            </a:extLst>
          </p:cNvPr>
          <p:cNvSpPr/>
          <p:nvPr userDrawn="1"/>
        </p:nvSpPr>
        <p:spPr>
          <a:xfrm>
            <a:off x="7932399" y="1653022"/>
            <a:ext cx="2938509" cy="4301647"/>
          </a:xfrm>
          <a:prstGeom prst="rect">
            <a:avLst/>
          </a:prstGeom>
          <a:solidFill>
            <a:srgbClr val="FCFD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4B7B56B0-3DAD-D1EB-C521-6E5288F3EA3C}"/>
              </a:ext>
            </a:extLst>
          </p:cNvPr>
          <p:cNvCxnSpPr>
            <a:cxnSpLocks/>
          </p:cNvCxnSpPr>
          <p:nvPr userDrawn="1"/>
        </p:nvCxnSpPr>
        <p:spPr>
          <a:xfrm>
            <a:off x="8014392" y="1659381"/>
            <a:ext cx="0" cy="4295275"/>
          </a:xfrm>
          <a:prstGeom prst="line">
            <a:avLst/>
          </a:prstGeom>
          <a:ln w="12700">
            <a:solidFill>
              <a:srgbClr val="A4B4D0"/>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32A88C9-0914-7765-2084-33F15C9EB705}"/>
              </a:ext>
            </a:extLst>
          </p:cNvPr>
          <p:cNvCxnSpPr>
            <a:cxnSpLocks/>
            <a:endCxn id="2" idx="2"/>
          </p:cNvCxnSpPr>
          <p:nvPr userDrawn="1"/>
        </p:nvCxnSpPr>
        <p:spPr>
          <a:xfrm>
            <a:off x="9401654" y="1654070"/>
            <a:ext cx="864" cy="4300600"/>
          </a:xfrm>
          <a:prstGeom prst="line">
            <a:avLst/>
          </a:prstGeom>
          <a:ln w="12700">
            <a:solidFill>
              <a:srgbClr val="A4B4D0"/>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F1E0C4B-B796-AC25-221B-70D5BB0D1F7B}"/>
              </a:ext>
            </a:extLst>
          </p:cNvPr>
          <p:cNvCxnSpPr>
            <a:cxnSpLocks/>
          </p:cNvCxnSpPr>
          <p:nvPr userDrawn="1"/>
        </p:nvCxnSpPr>
        <p:spPr>
          <a:xfrm>
            <a:off x="10795213" y="1659381"/>
            <a:ext cx="0" cy="4295275"/>
          </a:xfrm>
          <a:prstGeom prst="line">
            <a:avLst/>
          </a:prstGeom>
          <a:ln w="12700">
            <a:solidFill>
              <a:srgbClr val="A4B4D0"/>
            </a:solidFill>
            <a:prstDash val="dash"/>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6095E51-22EC-41B0-33A8-83A32B6CB470}"/>
              </a:ext>
            </a:extLst>
          </p:cNvPr>
          <p:cNvSpPr txBox="1"/>
          <p:nvPr userDrawn="1"/>
        </p:nvSpPr>
        <p:spPr>
          <a:xfrm>
            <a:off x="1643824" y="6470031"/>
            <a:ext cx="1120227" cy="246221"/>
          </a:xfrm>
          <a:prstGeom prst="rect">
            <a:avLst/>
          </a:prstGeom>
          <a:noFill/>
        </p:spPr>
        <p:txBody>
          <a:bodyPr wrap="square" rtlCol="0">
            <a:spAutoFit/>
          </a:bodyPr>
          <a:lstStyle/>
          <a:p>
            <a:pPr algn="l"/>
            <a:r>
              <a:rPr lang="en-US" sz="1000">
                <a:solidFill>
                  <a:schemeClr val="tx1"/>
                </a:solidFill>
              </a:rPr>
              <a:t>confidential</a:t>
            </a:r>
          </a:p>
        </p:txBody>
      </p:sp>
      <p:cxnSp>
        <p:nvCxnSpPr>
          <p:cNvPr id="10" name="Straight Connector 9">
            <a:extLst>
              <a:ext uri="{FF2B5EF4-FFF2-40B4-BE49-F238E27FC236}">
                <a16:creationId xmlns:a16="http://schemas.microsoft.com/office/drawing/2014/main" id="{3D0EF194-348F-710C-7D30-2D2DAAB2E342}"/>
              </a:ext>
            </a:extLst>
          </p:cNvPr>
          <p:cNvCxnSpPr>
            <a:cxnSpLocks/>
          </p:cNvCxnSpPr>
          <p:nvPr userDrawn="1"/>
        </p:nvCxnSpPr>
        <p:spPr>
          <a:xfrm>
            <a:off x="1643824" y="6456412"/>
            <a:ext cx="0" cy="27454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7B89D67A-C4DB-0192-2300-1CD8042C0071}"/>
              </a:ext>
            </a:extLst>
          </p:cNvPr>
          <p:cNvSpPr>
            <a:spLocks noGrp="1"/>
          </p:cNvSpPr>
          <p:nvPr>
            <p:ph idx="1" hasCustomPrompt="1"/>
          </p:nvPr>
        </p:nvSpPr>
        <p:spPr>
          <a:xfrm>
            <a:off x="325753" y="1114632"/>
            <a:ext cx="11552718" cy="696850"/>
          </a:xfrm>
          <a:prstGeom prst="rect">
            <a:avLst/>
          </a:prstGeom>
        </p:spPr>
        <p:txBody>
          <a:bodyPr/>
          <a:lstStyle>
            <a:lvl1pPr marL="0" indent="0">
              <a:buNone/>
              <a:defRPr sz="1300">
                <a:solidFill>
                  <a:schemeClr val="tx1"/>
                </a:solidFill>
                <a:latin typeface="Calibri" panose="020F0502020204030204" pitchFamily="34" charset="0"/>
                <a:cs typeface="Calibri" panose="020F0502020204030204" pitchFamily="34" charset="0"/>
              </a:defRPr>
            </a:lvl1pPr>
            <a:lvl2pPr>
              <a:defRPr sz="2000">
                <a:solidFill>
                  <a:schemeClr val="tx2"/>
                </a:solidFill>
                <a:latin typeface="+mj-lt"/>
              </a:defRPr>
            </a:lvl2pPr>
            <a:lvl3pPr>
              <a:defRPr sz="1600">
                <a:solidFill>
                  <a:schemeClr val="tx2"/>
                </a:solidFill>
                <a:latin typeface="+mj-lt"/>
              </a:defRPr>
            </a:lvl3pPr>
            <a:lvl4pPr>
              <a:defRPr sz="1600">
                <a:solidFill>
                  <a:schemeClr val="tx2"/>
                </a:solidFill>
                <a:latin typeface="+mj-lt"/>
              </a:defRPr>
            </a:lvl4pPr>
            <a:lvl5pPr>
              <a:defRPr sz="1600">
                <a:solidFill>
                  <a:schemeClr val="tx2"/>
                </a:solidFill>
                <a:latin typeface="+mj-lt"/>
              </a:defRPr>
            </a:lvl5pPr>
          </a:lstStyle>
          <a:p>
            <a:pPr lvl="0"/>
            <a:r>
              <a:rPr lang="en-US"/>
              <a:t>Click to edit text</a:t>
            </a:r>
          </a:p>
        </p:txBody>
      </p:sp>
      <p:sp>
        <p:nvSpPr>
          <p:cNvPr id="14" name="Text Placeholder 13">
            <a:extLst>
              <a:ext uri="{FF2B5EF4-FFF2-40B4-BE49-F238E27FC236}">
                <a16:creationId xmlns:a16="http://schemas.microsoft.com/office/drawing/2014/main" id="{551CC848-9A01-9D21-41BB-FF19BF81E09C}"/>
              </a:ext>
            </a:extLst>
          </p:cNvPr>
          <p:cNvSpPr>
            <a:spLocks noGrp="1"/>
          </p:cNvSpPr>
          <p:nvPr>
            <p:ph type="body" sz="quarter" idx="10" hasCustomPrompt="1"/>
          </p:nvPr>
        </p:nvSpPr>
        <p:spPr>
          <a:xfrm>
            <a:off x="328118" y="205438"/>
            <a:ext cx="4045099" cy="336688"/>
          </a:xfrm>
          <a:prstGeom prst="rect">
            <a:avLst/>
          </a:prstGeom>
        </p:spPr>
        <p:txBody>
          <a:bodyPr anchor="ctr"/>
          <a:lstStyle>
            <a:lvl1pPr marL="0" indent="0">
              <a:buNone/>
              <a:defRPr sz="1400" b="1"/>
            </a:lvl1pPr>
          </a:lstStyle>
          <a:p>
            <a:pPr lvl="0"/>
            <a:r>
              <a:rPr lang="en-US"/>
              <a:t>Click to edit subtitle</a:t>
            </a:r>
          </a:p>
        </p:txBody>
      </p:sp>
      <p:sp>
        <p:nvSpPr>
          <p:cNvPr id="15" name="Title 1">
            <a:extLst>
              <a:ext uri="{FF2B5EF4-FFF2-40B4-BE49-F238E27FC236}">
                <a16:creationId xmlns:a16="http://schemas.microsoft.com/office/drawing/2014/main" id="{F7118FB7-859D-14C8-2D43-87C5C61CC197}"/>
              </a:ext>
            </a:extLst>
          </p:cNvPr>
          <p:cNvSpPr>
            <a:spLocks noGrp="1"/>
          </p:cNvSpPr>
          <p:nvPr>
            <p:ph type="title" hasCustomPrompt="1"/>
          </p:nvPr>
        </p:nvSpPr>
        <p:spPr>
          <a:xfrm>
            <a:off x="328118" y="548935"/>
            <a:ext cx="11544785" cy="454918"/>
          </a:xfrm>
          <a:prstGeom prst="rect">
            <a:avLst/>
          </a:prstGeom>
        </p:spPr>
        <p:txBody>
          <a:bodyPr anchor="t"/>
          <a:lstStyle>
            <a:lvl1pPr algn="l">
              <a:defRPr sz="2800" b="1" cap="none" baseline="0">
                <a:solidFill>
                  <a:schemeClr val="tx1"/>
                </a:solidFill>
                <a:latin typeface="Calibri" panose="020F0502020204030204" pitchFamily="34" charset="0"/>
                <a:cs typeface="Calibri" panose="020F0502020204030204" pitchFamily="34" charset="0"/>
              </a:defRPr>
            </a:lvl1pPr>
          </a:lstStyle>
          <a:p>
            <a:r>
              <a:rPr lang="en-US"/>
              <a:t>Click to edit title</a:t>
            </a:r>
          </a:p>
        </p:txBody>
      </p:sp>
      <p:sp>
        <p:nvSpPr>
          <p:cNvPr id="21" name="Rectangle 20">
            <a:extLst>
              <a:ext uri="{FF2B5EF4-FFF2-40B4-BE49-F238E27FC236}">
                <a16:creationId xmlns:a16="http://schemas.microsoft.com/office/drawing/2014/main" id="{21A06F97-226E-FCEB-460C-DA60E0A7E0DA}"/>
              </a:ext>
            </a:extLst>
          </p:cNvPr>
          <p:cNvSpPr/>
          <p:nvPr userDrawn="1"/>
        </p:nvSpPr>
        <p:spPr>
          <a:xfrm>
            <a:off x="9690963" y="6423511"/>
            <a:ext cx="2503599" cy="34839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7F2338A-C701-27C4-2241-F4F91ACBB16A}"/>
              </a:ext>
            </a:extLst>
          </p:cNvPr>
          <p:cNvSpPr txBox="1"/>
          <p:nvPr userDrawn="1"/>
        </p:nvSpPr>
        <p:spPr>
          <a:xfrm>
            <a:off x="9489990" y="6391013"/>
            <a:ext cx="2227090" cy="215444"/>
          </a:xfrm>
          <a:prstGeom prst="rect">
            <a:avLst/>
          </a:prstGeom>
          <a:noFill/>
        </p:spPr>
        <p:txBody>
          <a:bodyPr wrap="square" rtlCol="0">
            <a:spAutoFit/>
          </a:bodyPr>
          <a:lstStyle/>
          <a:p>
            <a:pPr algn="ctr"/>
            <a:r>
              <a:rPr lang="en-US" sz="800" b="0" i="0" baseline="0">
                <a:solidFill>
                  <a:schemeClr val="accent1"/>
                </a:solidFill>
                <a:latin typeface="+mj-lt"/>
              </a:rPr>
              <a:t>Catskill Partners 2026 - CONFIDENTIAL</a:t>
            </a:r>
          </a:p>
        </p:txBody>
      </p:sp>
      <p:sp>
        <p:nvSpPr>
          <p:cNvPr id="16" name="TextBox 15">
            <a:extLst>
              <a:ext uri="{FF2B5EF4-FFF2-40B4-BE49-F238E27FC236}">
                <a16:creationId xmlns:a16="http://schemas.microsoft.com/office/drawing/2014/main" id="{960C4EBD-DF5D-5ACE-ED87-934CE7724655}"/>
              </a:ext>
            </a:extLst>
          </p:cNvPr>
          <p:cNvSpPr txBox="1"/>
          <p:nvPr userDrawn="1"/>
        </p:nvSpPr>
        <p:spPr>
          <a:xfrm>
            <a:off x="11704402" y="6383133"/>
            <a:ext cx="337002" cy="200055"/>
          </a:xfrm>
          <a:prstGeom prst="rect">
            <a:avLst/>
          </a:prstGeom>
          <a:noFill/>
        </p:spPr>
        <p:txBody>
          <a:bodyPr wrap="square">
            <a:spAutoFit/>
          </a:bodyPr>
          <a:lstStyle/>
          <a:p>
            <a:fld id="{ADCBC895-3375-EE4E-8A7C-43D4D593BD6E}" type="slidenum">
              <a:rPr lang="en-US" sz="700" baseline="0" smtClean="0">
                <a:ln>
                  <a:noFill/>
                </a:ln>
                <a:solidFill>
                  <a:schemeClr val="bg1"/>
                </a:solidFill>
              </a:rPr>
              <a:pPr/>
              <a:t>‹#›</a:t>
            </a:fld>
            <a:endParaRPr lang="en-US" sz="700"/>
          </a:p>
        </p:txBody>
      </p:sp>
    </p:spTree>
    <p:extLst>
      <p:ext uri="{BB962C8B-B14F-4D97-AF65-F5344CB8AC3E}">
        <p14:creationId xmlns:p14="http://schemas.microsoft.com/office/powerpoint/2010/main" val="34397506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4032">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6" Type="http://schemas.openxmlformats.org/officeDocument/2006/relationships/image" Target="../media/image3.emf"/><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theme" Target="../theme/theme2.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969671-D0D8-D09F-178E-BEAEF13C6806}"/>
              </a:ext>
            </a:extLst>
          </p:cNvPr>
          <p:cNvSpPr/>
          <p:nvPr userDrawn="1"/>
        </p:nvSpPr>
        <p:spPr>
          <a:xfrm>
            <a:off x="0" y="6072808"/>
            <a:ext cx="12192000" cy="78519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Ins="365760" rtlCol="0" anchor="ctr"/>
          <a:lstStyle/>
          <a:p>
            <a:pPr algn="r"/>
            <a:fld id="{ADCBC895-3375-EE4E-8A7C-43D4D593BD6E}" type="slidenum">
              <a:rPr lang="en-US" sz="700" baseline="0" smtClean="0">
                <a:ln>
                  <a:noFill/>
                </a:ln>
                <a:solidFill>
                  <a:schemeClr val="bg1"/>
                </a:solidFill>
              </a:rPr>
              <a:pPr algn="r"/>
              <a:t>‹#›</a:t>
            </a:fld>
            <a:endParaRPr lang="en-US" sz="700" baseline="0">
              <a:ln>
                <a:noFill/>
              </a:ln>
              <a:solidFill>
                <a:schemeClr val="bg1"/>
              </a:solidFill>
            </a:endParaRPr>
          </a:p>
        </p:txBody>
      </p:sp>
      <p:sp>
        <p:nvSpPr>
          <p:cNvPr id="2" name="Title Placeholder 1">
            <a:extLst>
              <a:ext uri="{FF2B5EF4-FFF2-40B4-BE49-F238E27FC236}">
                <a16:creationId xmlns:a16="http://schemas.microsoft.com/office/drawing/2014/main" id="{589D7041-F06F-3D52-7057-1D234CE58084}"/>
              </a:ext>
            </a:extLst>
          </p:cNvPr>
          <p:cNvSpPr>
            <a:spLocks noGrp="1"/>
          </p:cNvSpPr>
          <p:nvPr>
            <p:ph type="title"/>
          </p:nvPr>
        </p:nvSpPr>
        <p:spPr>
          <a:xfrm>
            <a:off x="1046922" y="603664"/>
            <a:ext cx="10515600" cy="73899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2A3227-C752-19EB-D3CA-9F3E6B721FA2}"/>
              </a:ext>
            </a:extLst>
          </p:cNvPr>
          <p:cNvSpPr>
            <a:spLocks noGrp="1"/>
          </p:cNvSpPr>
          <p:nvPr>
            <p:ph type="body" idx="1"/>
          </p:nvPr>
        </p:nvSpPr>
        <p:spPr>
          <a:xfrm>
            <a:off x="1046922" y="1639602"/>
            <a:ext cx="10515600" cy="47759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EC0BD223-481B-701E-876D-54D8B1993AD7}"/>
              </a:ext>
            </a:extLst>
          </p:cNvPr>
          <p:cNvSpPr txBox="1"/>
          <p:nvPr userDrawn="1"/>
        </p:nvSpPr>
        <p:spPr>
          <a:xfrm>
            <a:off x="9489989" y="6369747"/>
            <a:ext cx="2369095" cy="215444"/>
          </a:xfrm>
          <a:prstGeom prst="rect">
            <a:avLst/>
          </a:prstGeom>
          <a:noFill/>
        </p:spPr>
        <p:txBody>
          <a:bodyPr wrap="square" rtlCol="0">
            <a:spAutoFit/>
          </a:bodyPr>
          <a:lstStyle/>
          <a:p>
            <a:pPr algn="ctr"/>
            <a:r>
              <a:rPr lang="en-US" sz="800" b="0" i="0" baseline="0">
                <a:solidFill>
                  <a:schemeClr val="accent1"/>
                </a:solidFill>
                <a:latin typeface="+mj-lt"/>
              </a:rPr>
              <a:t>Catskill Partners 2026 - CONFIDENTIAL</a:t>
            </a:r>
          </a:p>
        </p:txBody>
      </p:sp>
    </p:spTree>
    <p:extLst>
      <p:ext uri="{BB962C8B-B14F-4D97-AF65-F5344CB8AC3E}">
        <p14:creationId xmlns:p14="http://schemas.microsoft.com/office/powerpoint/2010/main" val="39967560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dt="0"/>
  <p:txStyles>
    <p:titleStyle>
      <a:lvl1pPr algn="l" defTabSz="914400" rtl="0" eaLnBrk="1" latinLnBrk="0" hangingPunct="1">
        <a:lnSpc>
          <a:spcPct val="90000"/>
        </a:lnSpc>
        <a:spcBef>
          <a:spcPct val="0"/>
        </a:spcBef>
        <a:buNone/>
        <a:defRPr sz="3000" kern="1200" baseline="0">
          <a:solidFill>
            <a:schemeClr val="tx1"/>
          </a:solidFill>
          <a:latin typeface="Inter ExtraBold" panose="02000503000000020004" pitchFamily="2" charset="0"/>
          <a:ea typeface="+mj-ea"/>
          <a:cs typeface="+mj-cs"/>
        </a:defRPr>
      </a:lvl1pPr>
    </p:titleStyle>
    <p:bodyStyle>
      <a:lvl1pPr marL="109728" indent="-109728" algn="l" defTabSz="914400" rtl="0" eaLnBrk="1" latinLnBrk="0" hangingPunct="1">
        <a:lnSpc>
          <a:spcPct val="100000"/>
        </a:lnSpc>
        <a:spcBef>
          <a:spcPts val="10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1pPr>
      <a:lvl2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2pPr>
      <a:lvl3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3pPr>
      <a:lvl4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4pPr>
      <a:lvl5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969671-D0D8-D09F-178E-BEAEF13C6806}"/>
              </a:ext>
            </a:extLst>
          </p:cNvPr>
          <p:cNvSpPr/>
          <p:nvPr userDrawn="1"/>
        </p:nvSpPr>
        <p:spPr>
          <a:xfrm>
            <a:off x="0" y="6072808"/>
            <a:ext cx="12192000" cy="78519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Ins="365760" rtlCol="0" anchor="ctr"/>
          <a:lstStyle/>
          <a:p>
            <a:pPr algn="r"/>
            <a:fld id="{ADCBC895-3375-EE4E-8A7C-43D4D593BD6E}" type="slidenum">
              <a:rPr lang="en-US" sz="700" baseline="0" smtClean="0">
                <a:ln>
                  <a:noFill/>
                </a:ln>
                <a:solidFill>
                  <a:schemeClr val="bg1"/>
                </a:solidFill>
              </a:rPr>
              <a:pPr algn="r"/>
              <a:t>‹#›</a:t>
            </a:fld>
            <a:endParaRPr lang="en-US" sz="700" baseline="0">
              <a:ln>
                <a:noFill/>
              </a:ln>
              <a:solidFill>
                <a:schemeClr val="bg1"/>
              </a:solidFill>
            </a:endParaRPr>
          </a:p>
        </p:txBody>
      </p:sp>
      <p:pic>
        <p:nvPicPr>
          <p:cNvPr id="15" name="Picture 14">
            <a:extLst>
              <a:ext uri="{FF2B5EF4-FFF2-40B4-BE49-F238E27FC236}">
                <a16:creationId xmlns:a16="http://schemas.microsoft.com/office/drawing/2014/main" id="{3575DB57-FB11-27C4-4D2B-1AE917C8E717}"/>
              </a:ext>
            </a:extLst>
          </p:cNvPr>
          <p:cNvPicPr>
            <a:picLocks noChangeAspect="1"/>
          </p:cNvPicPr>
          <p:nvPr userDrawn="1"/>
        </p:nvPicPr>
        <p:blipFill>
          <a:blip r:embed="rId16"/>
          <a:stretch>
            <a:fillRect/>
          </a:stretch>
        </p:blipFill>
        <p:spPr>
          <a:xfrm>
            <a:off x="458856" y="6264305"/>
            <a:ext cx="1037230" cy="365760"/>
          </a:xfrm>
          <a:prstGeom prst="rect">
            <a:avLst/>
          </a:prstGeom>
        </p:spPr>
      </p:pic>
      <p:sp>
        <p:nvSpPr>
          <p:cNvPr id="2" name="Title Placeholder 1">
            <a:extLst>
              <a:ext uri="{FF2B5EF4-FFF2-40B4-BE49-F238E27FC236}">
                <a16:creationId xmlns:a16="http://schemas.microsoft.com/office/drawing/2014/main" id="{589D7041-F06F-3D52-7057-1D234CE58084}"/>
              </a:ext>
            </a:extLst>
          </p:cNvPr>
          <p:cNvSpPr>
            <a:spLocks noGrp="1"/>
          </p:cNvSpPr>
          <p:nvPr>
            <p:ph type="title"/>
          </p:nvPr>
        </p:nvSpPr>
        <p:spPr>
          <a:xfrm>
            <a:off x="1046922" y="603664"/>
            <a:ext cx="10515600" cy="5293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2A3227-C752-19EB-D3CA-9F3E6B721FA2}"/>
              </a:ext>
            </a:extLst>
          </p:cNvPr>
          <p:cNvSpPr>
            <a:spLocks noGrp="1"/>
          </p:cNvSpPr>
          <p:nvPr>
            <p:ph type="body" idx="1"/>
          </p:nvPr>
        </p:nvSpPr>
        <p:spPr>
          <a:xfrm>
            <a:off x="1046922" y="1430000"/>
            <a:ext cx="10515600" cy="498550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EC0BD223-481B-701E-876D-54D8B1993AD7}"/>
              </a:ext>
            </a:extLst>
          </p:cNvPr>
          <p:cNvSpPr txBox="1"/>
          <p:nvPr userDrawn="1"/>
        </p:nvSpPr>
        <p:spPr>
          <a:xfrm>
            <a:off x="9489990" y="6369747"/>
            <a:ext cx="2152662" cy="215444"/>
          </a:xfrm>
          <a:prstGeom prst="rect">
            <a:avLst/>
          </a:prstGeom>
          <a:noFill/>
        </p:spPr>
        <p:txBody>
          <a:bodyPr wrap="square" rtlCol="0">
            <a:spAutoFit/>
          </a:bodyPr>
          <a:lstStyle/>
          <a:p>
            <a:pPr algn="ctr"/>
            <a:r>
              <a:rPr lang="en-US" sz="800" b="0" i="0" baseline="0">
                <a:solidFill>
                  <a:schemeClr val="accent1"/>
                </a:solidFill>
                <a:latin typeface="+mj-lt"/>
              </a:rPr>
              <a:t>Catskill Partners 2026 - CONFIDENTIAL</a:t>
            </a:r>
          </a:p>
        </p:txBody>
      </p:sp>
    </p:spTree>
    <p:extLst>
      <p:ext uri="{BB962C8B-B14F-4D97-AF65-F5344CB8AC3E}">
        <p14:creationId xmlns:p14="http://schemas.microsoft.com/office/powerpoint/2010/main" val="3354136977"/>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Lst>
  <p:hf sldNum="0" hdr="0" dt="0"/>
  <p:txStyles>
    <p:titleStyle>
      <a:lvl1pPr algn="l" defTabSz="914400" rtl="0" eaLnBrk="1" latinLnBrk="0" hangingPunct="1">
        <a:lnSpc>
          <a:spcPct val="90000"/>
        </a:lnSpc>
        <a:spcBef>
          <a:spcPct val="0"/>
        </a:spcBef>
        <a:buNone/>
        <a:defRPr sz="3000" kern="1200" baseline="0">
          <a:solidFill>
            <a:schemeClr val="tx1"/>
          </a:solidFill>
          <a:latin typeface="Inter ExtraBold" panose="02000503000000020004" pitchFamily="2" charset="0"/>
          <a:ea typeface="+mj-ea"/>
          <a:cs typeface="+mj-cs"/>
        </a:defRPr>
      </a:lvl1pPr>
    </p:titleStyle>
    <p:bodyStyle>
      <a:lvl1pPr marL="109728" indent="-109728" algn="l" defTabSz="914400" rtl="0" eaLnBrk="1" latinLnBrk="0" hangingPunct="1">
        <a:lnSpc>
          <a:spcPct val="100000"/>
        </a:lnSpc>
        <a:spcBef>
          <a:spcPts val="10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1pPr>
      <a:lvl2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2pPr>
      <a:lvl3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3pPr>
      <a:lvl4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4pPr>
      <a:lvl5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8.svg"/><Relationship Id="rId2" Type="http://schemas.openxmlformats.org/officeDocument/2006/relationships/slideLayout" Target="../slideLayouts/slideLayout24.xml"/><Relationship Id="rId1" Type="http://schemas.openxmlformats.org/officeDocument/2006/relationships/tags" Target="../tags/tag1.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view of a valley with trees and mountains&#10;&#10;AI-generated content may be incorrect.">
            <a:extLst>
              <a:ext uri="{FF2B5EF4-FFF2-40B4-BE49-F238E27FC236}">
                <a16:creationId xmlns:a16="http://schemas.microsoft.com/office/drawing/2014/main" id="{F82BE82B-81E0-494F-F663-6965CF473389}"/>
              </a:ext>
            </a:extLst>
          </p:cNvPr>
          <p:cNvPicPr>
            <a:picLocks noChangeAspect="1"/>
          </p:cNvPicPr>
          <p:nvPr/>
        </p:nvPicPr>
        <p:blipFill>
          <a:blip r:embed="rId3"/>
          <a:srcRect r="253" b="25066"/>
          <a:stretch>
            <a:fillRect/>
          </a:stretch>
        </p:blipFill>
        <p:spPr>
          <a:xfrm>
            <a:off x="0" y="-1"/>
            <a:ext cx="12192000" cy="6106035"/>
          </a:xfrm>
          <a:prstGeom prst="rect">
            <a:avLst/>
          </a:prstGeom>
        </p:spPr>
      </p:pic>
      <p:sp>
        <p:nvSpPr>
          <p:cNvPr id="2" name="Title 1">
            <a:extLst>
              <a:ext uri="{FF2B5EF4-FFF2-40B4-BE49-F238E27FC236}">
                <a16:creationId xmlns:a16="http://schemas.microsoft.com/office/drawing/2014/main" id="{1FE97057-E787-E8D8-6C64-775AF3284A0D}"/>
              </a:ext>
            </a:extLst>
          </p:cNvPr>
          <p:cNvSpPr>
            <a:spLocks noGrp="1"/>
          </p:cNvSpPr>
          <p:nvPr>
            <p:ph type="ctrTitle"/>
          </p:nvPr>
        </p:nvSpPr>
        <p:spPr>
          <a:xfrm>
            <a:off x="1524000" y="1122362"/>
            <a:ext cx="9144000" cy="2604685"/>
          </a:xfrm>
        </p:spPr>
        <p:txBody>
          <a:bodyPr>
            <a:normAutofit/>
          </a:bodyPr>
          <a:lstStyle/>
          <a:p>
            <a:r>
              <a:rPr lang="en-US" b="1">
                <a:solidFill>
                  <a:schemeClr val="bg1"/>
                </a:solidFill>
              </a:rPr>
              <a:t>CLARITY. CRAFT. CAPITAL.</a:t>
            </a:r>
            <a:endParaRPr lang="en-US" sz="2200" b="1">
              <a:solidFill>
                <a:schemeClr val="bg1"/>
              </a:solidFill>
            </a:endParaRPr>
          </a:p>
        </p:txBody>
      </p:sp>
      <p:sp>
        <p:nvSpPr>
          <p:cNvPr id="3" name="Subtitle 2">
            <a:extLst>
              <a:ext uri="{FF2B5EF4-FFF2-40B4-BE49-F238E27FC236}">
                <a16:creationId xmlns:a16="http://schemas.microsoft.com/office/drawing/2014/main" id="{2BF6FEA9-FBBE-BD36-B60E-3AAC7C1BAC10}"/>
              </a:ext>
            </a:extLst>
          </p:cNvPr>
          <p:cNvSpPr>
            <a:spLocks noGrp="1"/>
          </p:cNvSpPr>
          <p:nvPr>
            <p:ph type="subTitle" idx="1"/>
          </p:nvPr>
        </p:nvSpPr>
        <p:spPr/>
        <p:txBody>
          <a:bodyPr>
            <a:normAutofit/>
          </a:bodyPr>
          <a:lstStyle/>
          <a:p>
            <a:endParaRPr lang="en-US" sz="2000">
              <a:solidFill>
                <a:schemeClr val="bg1"/>
              </a:solidFill>
            </a:endParaRPr>
          </a:p>
          <a:p>
            <a:r>
              <a:rPr lang="en-US" sz="2000">
                <a:solidFill>
                  <a:schemeClr val="bg1"/>
                </a:solidFill>
              </a:rPr>
              <a:t>We are operators first. </a:t>
            </a:r>
          </a:p>
          <a:p>
            <a:r>
              <a:rPr lang="en-US" sz="1600" b="0">
                <a:solidFill>
                  <a:schemeClr val="bg1"/>
                </a:solidFill>
              </a:rPr>
              <a:t>With deep private equity fluency, we bring with clarity of vision, executional rigor, and disciplined stewardship to every investment.</a:t>
            </a:r>
          </a:p>
        </p:txBody>
      </p:sp>
      <p:pic>
        <p:nvPicPr>
          <p:cNvPr id="12" name="Picture 11" descr="A logo with a green arrow&#10;&#10;AI-generated content may be incorrect.">
            <a:extLst>
              <a:ext uri="{FF2B5EF4-FFF2-40B4-BE49-F238E27FC236}">
                <a16:creationId xmlns:a16="http://schemas.microsoft.com/office/drawing/2014/main" id="{D490D117-80DE-F8D9-C5F8-A6DC2CC9B38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81875" y="435058"/>
            <a:ext cx="2170798" cy="780131"/>
          </a:xfrm>
          <a:prstGeom prst="rect">
            <a:avLst/>
          </a:prstGeom>
        </p:spPr>
      </p:pic>
      <p:sp>
        <p:nvSpPr>
          <p:cNvPr id="4" name="Title 1">
            <a:extLst>
              <a:ext uri="{FF2B5EF4-FFF2-40B4-BE49-F238E27FC236}">
                <a16:creationId xmlns:a16="http://schemas.microsoft.com/office/drawing/2014/main" id="{04938783-B2A0-4C6A-99E7-1A3DB5DFD986}"/>
              </a:ext>
            </a:extLst>
          </p:cNvPr>
          <p:cNvSpPr txBox="1">
            <a:spLocks/>
          </p:cNvSpPr>
          <p:nvPr/>
        </p:nvSpPr>
        <p:spPr>
          <a:xfrm>
            <a:off x="190962" y="6106034"/>
            <a:ext cx="2952623" cy="75196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000" kern="1200" baseline="0">
                <a:solidFill>
                  <a:schemeClr val="tx1"/>
                </a:solidFill>
                <a:latin typeface="Inter ExtraBold" panose="02000503000000020004" pitchFamily="2"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Inter ExtraBold" panose="02000503000000020004" pitchFamily="2" charset="0"/>
                <a:ea typeface="+mj-ea"/>
                <a:cs typeface="+mj-cs"/>
              </a:rPr>
              <a:t>Investor </a:t>
            </a:r>
            <a:r>
              <a:rPr kumimoji="0" lang="en-US" sz="1600" b="0" i="0" u="none" strike="noStrike" kern="1200" cap="none" spc="0" normalizeH="0" baseline="0" noProof="0">
                <a:ln>
                  <a:noFill/>
                </a:ln>
                <a:solidFill>
                  <a:srgbClr val="FFFFFF"/>
                </a:solidFill>
                <a:effectLst/>
                <a:uLnTx/>
                <a:uFillTx/>
                <a:latin typeface="Inter ExtraBold" panose="02000503000000020004" pitchFamily="2" charset="0"/>
                <a:ea typeface="+mj-ea"/>
                <a:cs typeface="+mj-cs"/>
              </a:rPr>
              <a:t>Overview</a:t>
            </a:r>
          </a:p>
        </p:txBody>
      </p:sp>
    </p:spTree>
    <p:extLst>
      <p:ext uri="{BB962C8B-B14F-4D97-AF65-F5344CB8AC3E}">
        <p14:creationId xmlns:p14="http://schemas.microsoft.com/office/powerpoint/2010/main" val="4287042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3C6C5-AEAF-B3CC-C6E5-46B171374A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49EFA-BC81-7DFC-6062-8BB8694BBFFF}"/>
              </a:ext>
            </a:extLst>
          </p:cNvPr>
          <p:cNvSpPr>
            <a:spLocks noGrp="1"/>
          </p:cNvSpPr>
          <p:nvPr>
            <p:ph type="title"/>
          </p:nvPr>
        </p:nvSpPr>
        <p:spPr/>
        <p:txBody>
          <a:bodyPr/>
          <a:lstStyle/>
          <a:p>
            <a:r>
              <a:rPr lang="en-US"/>
              <a:t>CONFIDENTIAL – Important Disclaimer</a:t>
            </a:r>
          </a:p>
        </p:txBody>
      </p:sp>
      <p:sp>
        <p:nvSpPr>
          <p:cNvPr id="3" name="Content Placeholder 2">
            <a:extLst>
              <a:ext uri="{FF2B5EF4-FFF2-40B4-BE49-F238E27FC236}">
                <a16:creationId xmlns:a16="http://schemas.microsoft.com/office/drawing/2014/main" id="{444DAEFC-50F3-A2E2-7416-7D84929AB1B3}"/>
              </a:ext>
            </a:extLst>
          </p:cNvPr>
          <p:cNvSpPr>
            <a:spLocks noGrp="1"/>
          </p:cNvSpPr>
          <p:nvPr>
            <p:ph idx="1"/>
          </p:nvPr>
        </p:nvSpPr>
        <p:spPr>
          <a:xfrm>
            <a:off x="942561" y="1319515"/>
            <a:ext cx="10088112" cy="4386804"/>
          </a:xfrm>
        </p:spPr>
        <p:txBody>
          <a:bodyPr numCol="2" spcCol="457200">
            <a:normAutofit fontScale="85000" lnSpcReduction="20000"/>
          </a:bodyPr>
          <a:lstStyle/>
          <a:p>
            <a:pPr marL="0" indent="0">
              <a:lnSpc>
                <a:spcPct val="120000"/>
              </a:lnSpc>
              <a:buNone/>
            </a:pPr>
            <a:r>
              <a:rPr lang="en-US" sz="1200" b="1"/>
              <a:t>This presentation is confidential. </a:t>
            </a:r>
            <a:r>
              <a:rPr lang="en-US" sz="1200"/>
              <a:t>By reviewing this presentation, recipients acknowledge and agree that it shall not be reproduced or disclosed to third parties without the prior written consent of Catskill Partners LLC, and that it is being provided solely in connection with potential future investment opportunities that may be managed or sponsored by Catskill Partners LLC.</a:t>
            </a:r>
          </a:p>
          <a:p>
            <a:pPr marL="0" indent="0">
              <a:lnSpc>
                <a:spcPct val="120000"/>
              </a:lnSpc>
              <a:buNone/>
            </a:pPr>
            <a:r>
              <a:rPr lang="en-US" sz="1200" b="1"/>
              <a:t>No Offer or Solicitation. </a:t>
            </a:r>
            <a:r>
              <a:rPr lang="en-US" sz="1200"/>
              <a:t>This presentation does not constitute an offer to sell or the solicitation of an offer to buy any securities in any jurisdiction where such offer or solicitation would be unlawful. Any investment opportunity will be offered only through formal offering documents provided to qualified investors on a confidential basis. Such offering documents will include comprehensive risk disclosures, terms and conditions, and will supersede any information contained herein.</a:t>
            </a:r>
          </a:p>
          <a:p>
            <a:pPr marL="0" indent="0">
              <a:lnSpc>
                <a:spcPct val="120000"/>
              </a:lnSpc>
              <a:buNone/>
            </a:pPr>
            <a:r>
              <a:rPr lang="en-US" sz="1200" b="1"/>
              <a:t>Qualified Investors Only. </a:t>
            </a:r>
            <a:r>
              <a:rPr lang="en-US" sz="1200"/>
              <a:t>Any investment opportunity would be limited to "accredited investors," "qualified clients," and "qualified purchasers" as those terms are defined under applicable securities laws, including the Securities Act of 1933, the Investment Company Act of 1940, and the Investment Advisers Act of 1940, each as amended.</a:t>
            </a:r>
          </a:p>
          <a:p>
            <a:pPr marL="0" indent="0">
              <a:lnSpc>
                <a:spcPct val="120000"/>
              </a:lnSpc>
              <a:buNone/>
            </a:pPr>
            <a:r>
              <a:rPr lang="en-US" sz="1200" b="1"/>
              <a:t>Not Investment Advice. </a:t>
            </a:r>
            <a:r>
              <a:rPr lang="en-US" sz="1200"/>
              <a:t>Catskill Partners LLC is not acting as an investment adviser to recipients of this presentation. This presentation does not constitute investment, legal, or tax advice. Nothing herein should be relied upon as the basis for any investment decision, which should only be made based on formal offering documents and after consultation with independent advisors.</a:t>
            </a:r>
          </a:p>
          <a:p>
            <a:pPr marL="0" indent="0">
              <a:lnSpc>
                <a:spcPct val="120000"/>
              </a:lnSpc>
              <a:buNone/>
            </a:pPr>
            <a:r>
              <a:rPr lang="en-US" sz="1200" b="1"/>
              <a:t>Preliminary and Incomplete. </a:t>
            </a:r>
            <a:r>
              <a:rPr lang="en-US" sz="1200"/>
              <a:t>The information herein is preliminary, subject to change, and not intended to be comprehensive. Additional terms, conditions, and modifications may be introduced. This presentation is incomplete by its nature and subject to the terms and conditions in final offering and organizational documents. No person is authorized to provide information beyond what is contained herein.</a:t>
            </a:r>
          </a:p>
          <a:p>
            <a:pPr marL="0" indent="0">
              <a:lnSpc>
                <a:spcPct val="120000"/>
              </a:lnSpc>
              <a:buNone/>
            </a:pPr>
            <a:r>
              <a:rPr lang="en-US" sz="1200" b="1"/>
              <a:t>Forward-Looking Statements. </a:t>
            </a:r>
            <a:r>
              <a:rPr lang="en-US" sz="1200"/>
              <a:t>Certain information constitutes "forward-looking statements" that may be identified by terms such as "may," "will," "should," "expect," "anticipate," "estimate," "intend," "believe," or comparable terminology. Projections and estimates of returns or performance are forward-looking and based on assumptions that may change. Actual results may differ materially due to risks and uncertainties beyond Catskill Partners' control. No representation is made regarding the reasonableness of assumptions or that all assumptions have been disclosed. Actual results may vary significantly from any projections or estimates shown.</a:t>
            </a:r>
          </a:p>
          <a:p>
            <a:pPr marL="0" indent="0">
              <a:lnSpc>
                <a:spcPct val="120000"/>
              </a:lnSpc>
              <a:buNone/>
            </a:pPr>
            <a:r>
              <a:rPr lang="en-US" sz="1200" b="1"/>
              <a:t>Case Studies and Past Performance. </a:t>
            </a:r>
            <a:r>
              <a:rPr lang="en-US" sz="1200"/>
              <a:t>Case studies and examples are provided for illustrative purposes to demonstrate experience and approach. Past performance is not indicative of future results. There is no assurance that any investment objectives, strategies, or returns will be achieved.</a:t>
            </a:r>
          </a:p>
          <a:p>
            <a:pPr marL="0" indent="0">
              <a:lnSpc>
                <a:spcPct val="120000"/>
              </a:lnSpc>
              <a:buNone/>
            </a:pPr>
            <a:r>
              <a:rPr lang="en-US" sz="1200"/>
              <a:t>Risks Not Fully Disclosed. This presentation does not disclose all risks or significant issues related to potential investments. Prior to any investment, investors must review comprehensive offering documents and fully understand applicable risks.</a:t>
            </a:r>
          </a:p>
          <a:p>
            <a:pPr marL="0" indent="0">
              <a:lnSpc>
                <a:spcPct val="120000"/>
              </a:lnSpc>
              <a:buNone/>
            </a:pPr>
            <a:r>
              <a:rPr lang="en-US" sz="1200" b="1"/>
              <a:t>Third-Party Information. </a:t>
            </a:r>
            <a:r>
              <a:rPr lang="en-US" sz="1200"/>
              <a:t>Certain information has been obtained from third-party sources believed to be reliable but has not been independently verified by Catskill Partners LLC.</a:t>
            </a:r>
          </a:p>
          <a:p>
            <a:pPr marL="0" indent="0">
              <a:lnSpc>
                <a:spcPct val="120000"/>
              </a:lnSpc>
              <a:buNone/>
            </a:pPr>
            <a:r>
              <a:rPr lang="en-US" sz="1200"/>
              <a:t>Information current as of March 2026 unless otherwise noted.</a:t>
            </a:r>
          </a:p>
        </p:txBody>
      </p:sp>
    </p:spTree>
    <p:extLst>
      <p:ext uri="{BB962C8B-B14F-4D97-AF65-F5344CB8AC3E}">
        <p14:creationId xmlns:p14="http://schemas.microsoft.com/office/powerpoint/2010/main" val="4009941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F1078-7FB1-5C56-5BC1-C196F4099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B767F-6C92-E089-2A6A-70E4651C50B4}"/>
              </a:ext>
            </a:extLst>
          </p:cNvPr>
          <p:cNvSpPr>
            <a:spLocks noGrp="1"/>
          </p:cNvSpPr>
          <p:nvPr>
            <p:ph type="title"/>
          </p:nvPr>
        </p:nvSpPr>
        <p:spPr>
          <a:xfrm>
            <a:off x="839788" y="699227"/>
            <a:ext cx="2355899" cy="912757"/>
          </a:xfrm>
        </p:spPr>
        <p:txBody>
          <a:bodyPr>
            <a:normAutofit fontScale="90000"/>
          </a:bodyPr>
          <a:lstStyle/>
          <a:p>
            <a:br>
              <a:rPr lang="en-US">
                <a:solidFill>
                  <a:schemeClr val="accent1"/>
                </a:solidFill>
              </a:rPr>
            </a:br>
            <a:br>
              <a:rPr lang="en-US">
                <a:solidFill>
                  <a:schemeClr val="accent1"/>
                </a:solidFill>
              </a:rPr>
            </a:br>
            <a:br>
              <a:rPr lang="en-US">
                <a:solidFill>
                  <a:schemeClr val="accent1"/>
                </a:solidFill>
              </a:rPr>
            </a:br>
            <a:br>
              <a:rPr lang="en-US">
                <a:solidFill>
                  <a:schemeClr val="accent1"/>
                </a:solidFill>
              </a:rPr>
            </a:br>
            <a:br>
              <a:rPr lang="en-US">
                <a:solidFill>
                  <a:schemeClr val="accent1"/>
                </a:solidFill>
              </a:rPr>
            </a:br>
            <a:r>
              <a:rPr lang="en-US">
                <a:solidFill>
                  <a:schemeClr val="accent1"/>
                </a:solidFill>
              </a:rPr>
              <a:t>Table of Contents</a:t>
            </a:r>
            <a:endParaRPr lang="en-US"/>
          </a:p>
        </p:txBody>
      </p:sp>
      <p:sp>
        <p:nvSpPr>
          <p:cNvPr id="3" name="Content Placeholder 2">
            <a:extLst>
              <a:ext uri="{FF2B5EF4-FFF2-40B4-BE49-F238E27FC236}">
                <a16:creationId xmlns:a16="http://schemas.microsoft.com/office/drawing/2014/main" id="{1667BDB8-EA3C-FA34-5754-ECC23DDF68EF}"/>
              </a:ext>
            </a:extLst>
          </p:cNvPr>
          <p:cNvSpPr>
            <a:spLocks noGrp="1"/>
          </p:cNvSpPr>
          <p:nvPr>
            <p:ph idx="1"/>
          </p:nvPr>
        </p:nvSpPr>
        <p:spPr>
          <a:xfrm>
            <a:off x="4628561" y="1611984"/>
            <a:ext cx="6723651" cy="4712599"/>
          </a:xfrm>
        </p:spPr>
        <p:txBody>
          <a:bodyPr>
            <a:normAutofit/>
          </a:bodyPr>
          <a:lstStyle/>
          <a:p>
            <a:pPr marL="347472" indent="0">
              <a:buNone/>
            </a:pPr>
            <a:r>
              <a:rPr lang="en-US" sz="1600" b="1">
                <a:ea typeface="Inter" panose="02000503000000020004" pitchFamily="2" charset="0"/>
                <a:cs typeface="Inter" panose="02000503000000020004" pitchFamily="2" charset="0"/>
              </a:rPr>
              <a:t>Catskill Partners Overview</a:t>
            </a:r>
          </a:p>
          <a:p>
            <a:pPr marL="347472" indent="0">
              <a:buNone/>
            </a:pPr>
            <a:r>
              <a:rPr lang="en-US" sz="1600" b="1">
                <a:ea typeface="Inter" panose="02000503000000020004" pitchFamily="2" charset="0"/>
                <a:cs typeface="Inter" panose="02000503000000020004" pitchFamily="2" charset="0"/>
              </a:rPr>
              <a:t>Differentiated Investment Strategy</a:t>
            </a:r>
          </a:p>
          <a:p>
            <a:pPr marL="347472" indent="0">
              <a:buNone/>
            </a:pPr>
            <a:r>
              <a:rPr lang="en-US" sz="1600" b="1">
                <a:ea typeface="Inter" panose="02000503000000020004" pitchFamily="2" charset="0"/>
                <a:cs typeface="Inter" panose="02000503000000020004" pitchFamily="2" charset="0"/>
              </a:rPr>
              <a:t>The Market Opportunity</a:t>
            </a:r>
          </a:p>
          <a:p>
            <a:pPr marL="347472" indent="0">
              <a:buNone/>
            </a:pPr>
            <a:r>
              <a:rPr lang="en-US" sz="1600" b="1">
                <a:ea typeface="Inter" panose="02000503000000020004" pitchFamily="2" charset="0"/>
                <a:cs typeface="Inter" panose="02000503000000020004" pitchFamily="2" charset="0"/>
              </a:rPr>
              <a:t>Sourcing Strategy</a:t>
            </a:r>
          </a:p>
          <a:p>
            <a:pPr marL="347472" indent="0">
              <a:buNone/>
            </a:pPr>
            <a:r>
              <a:rPr lang="en-US" sz="1600" b="1">
                <a:ea typeface="Inter" panose="02000503000000020004" pitchFamily="2" charset="0"/>
                <a:cs typeface="Inter" panose="02000503000000020004" pitchFamily="2" charset="0"/>
              </a:rPr>
              <a:t>Underwriting Discipline</a:t>
            </a:r>
          </a:p>
          <a:p>
            <a:pPr marL="347472" indent="0">
              <a:buNone/>
            </a:pPr>
            <a:r>
              <a:rPr lang="en-US" sz="1600" b="1">
                <a:ea typeface="Inter" panose="02000503000000020004" pitchFamily="2" charset="0"/>
                <a:cs typeface="Inter" panose="02000503000000020004" pitchFamily="2" charset="0"/>
              </a:rPr>
              <a:t>Value Creation Playbook</a:t>
            </a:r>
          </a:p>
          <a:p>
            <a:pPr marL="347472" indent="0">
              <a:buNone/>
            </a:pPr>
            <a:r>
              <a:rPr lang="en-US" sz="1600" b="1">
                <a:ea typeface="Inter" panose="02000503000000020004" pitchFamily="2" charset="0"/>
                <a:cs typeface="Inter" panose="02000503000000020004" pitchFamily="2" charset="0"/>
              </a:rPr>
              <a:t>Catskill Partners – Why Now?</a:t>
            </a:r>
            <a:endParaRPr lang="en-US" sz="1600">
              <a:ea typeface="Inter" panose="02000503000000020004" pitchFamily="2" charset="0"/>
              <a:cs typeface="Inter" panose="02000503000000020004" pitchFamily="2" charset="0"/>
            </a:endParaRPr>
          </a:p>
          <a:p>
            <a:pPr marL="347472" indent="0">
              <a:buNone/>
            </a:pPr>
            <a:endParaRPr lang="en-US" sz="1600">
              <a:ea typeface="Inter" panose="02000503000000020004" pitchFamily="2" charset="0"/>
              <a:cs typeface="Inter" panose="02000503000000020004" pitchFamily="2" charset="0"/>
            </a:endParaRPr>
          </a:p>
        </p:txBody>
      </p:sp>
    </p:spTree>
    <p:extLst>
      <p:ext uri="{BB962C8B-B14F-4D97-AF65-F5344CB8AC3E}">
        <p14:creationId xmlns:p14="http://schemas.microsoft.com/office/powerpoint/2010/main" val="199951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Shape 18">
            <a:extLst>
              <a:ext uri="{FF2B5EF4-FFF2-40B4-BE49-F238E27FC236}">
                <a16:creationId xmlns:a16="http://schemas.microsoft.com/office/drawing/2014/main" id="{CF813013-1410-91EC-7D2E-432C49B8E8C1}"/>
              </a:ext>
            </a:extLst>
          </p:cNvPr>
          <p:cNvSpPr/>
          <p:nvPr/>
        </p:nvSpPr>
        <p:spPr>
          <a:xfrm>
            <a:off x="410335" y="1819606"/>
            <a:ext cx="5564505" cy="4121277"/>
          </a:xfrm>
          <a:prstGeom prst="rect">
            <a:avLst/>
          </a:prstGeom>
          <a:solidFill>
            <a:schemeClr val="accent3">
              <a:lumMod val="20000"/>
              <a:lumOff val="80000"/>
            </a:schemeClr>
          </a:solidFill>
          <a:ln w="12700">
            <a:solidFill>
              <a:schemeClr val="tx2"/>
            </a:solidFill>
            <a:prstDash val="solid"/>
          </a:ln>
          <a:effectLst>
            <a:outerShdw blurRad="127000" dist="25400" dir="8100000" algn="bl" rotWithShape="0">
              <a:srgbClr val="000000">
                <a:alpha val="6000"/>
              </a:srgbClr>
            </a:outerShdw>
          </a:effectLst>
        </p:spPr>
        <p:txBody>
          <a:bodyPr/>
          <a:lstStyle/>
          <a:p>
            <a:endParaRPr lang="en-US" sz="2400">
              <a:latin typeface="Inter" panose="02000503000000020004" pitchFamily="2" charset="0"/>
              <a:ea typeface="Inter" panose="02000503000000020004" pitchFamily="2" charset="0"/>
              <a:cs typeface="Inter" panose="02000503000000020004" pitchFamily="2" charset="0"/>
            </a:endParaRPr>
          </a:p>
        </p:txBody>
      </p:sp>
      <p:sp>
        <p:nvSpPr>
          <p:cNvPr id="7" name="Text 5"/>
          <p:cNvSpPr/>
          <p:nvPr/>
        </p:nvSpPr>
        <p:spPr>
          <a:xfrm>
            <a:off x="636269" y="1859280"/>
            <a:ext cx="5112639" cy="335456"/>
          </a:xfrm>
          <a:prstGeom prst="rect">
            <a:avLst/>
          </a:prstGeom>
          <a:noFill/>
          <a:ln/>
        </p:spPr>
        <p:txBody>
          <a:bodyPr wrap="square" lIns="0" tIns="0" rIns="0" bIns="0" rtlCol="0" anchor="ctr"/>
          <a:lstStyle/>
          <a:p>
            <a:r>
              <a:rPr lang="en-US" sz="1400" b="1" kern="0" spc="400">
                <a:solidFill>
                  <a:schemeClr val="tx2"/>
                </a:solidFill>
                <a:latin typeface="Inter" panose="02000503000000020004" pitchFamily="2" charset="0"/>
                <a:ea typeface="Inter" panose="02000503000000020004" pitchFamily="2" charset="0"/>
                <a:cs typeface="Inter" panose="02000503000000020004" pitchFamily="2" charset="0"/>
              </a:rPr>
              <a:t>WHO WE ARE</a:t>
            </a:r>
            <a:endParaRPr lang="en-US" sz="1400">
              <a:solidFill>
                <a:schemeClr val="tx2"/>
              </a:solidFill>
              <a:latin typeface="Inter" panose="02000503000000020004" pitchFamily="2" charset="0"/>
              <a:ea typeface="Inter" panose="02000503000000020004" pitchFamily="2" charset="0"/>
              <a:cs typeface="Inter" panose="02000503000000020004" pitchFamily="2" charset="0"/>
            </a:endParaRPr>
          </a:p>
        </p:txBody>
      </p:sp>
      <p:sp>
        <p:nvSpPr>
          <p:cNvPr id="8" name="Text 6"/>
          <p:cNvSpPr/>
          <p:nvPr/>
        </p:nvSpPr>
        <p:spPr>
          <a:xfrm>
            <a:off x="636269" y="2255518"/>
            <a:ext cx="5112639" cy="1230632"/>
          </a:xfrm>
          <a:prstGeom prst="rect">
            <a:avLst/>
          </a:prstGeom>
          <a:noFill/>
          <a:ln/>
        </p:spPr>
        <p:txBody>
          <a:bodyPr wrap="square" lIns="0" tIns="0" rIns="0" bIns="0" rtlCol="0" anchor="t"/>
          <a:lstStyle/>
          <a:p>
            <a:r>
              <a:rPr lang="en-US" sz="1500" b="1">
                <a:solidFill>
                  <a:schemeClr val="tx2"/>
                </a:solidFill>
                <a:latin typeface="Inter" panose="02000503000000020004" pitchFamily="2" charset="0"/>
                <a:ea typeface="Inter" panose="02000503000000020004" pitchFamily="2" charset="0"/>
                <a:cs typeface="Inter" panose="02000503000000020004" pitchFamily="2" charset="0"/>
              </a:rPr>
              <a:t>An operator-first private equity firm acquiring founder / management-led industrial manufacturers in the flow of long-term industrial and technological shifts, where disciplined execution, engineering rigor, and aligned partnership create enduring value.</a:t>
            </a:r>
          </a:p>
        </p:txBody>
      </p:sp>
      <p:sp>
        <p:nvSpPr>
          <p:cNvPr id="9" name="Shape 7"/>
          <p:cNvSpPr/>
          <p:nvPr/>
        </p:nvSpPr>
        <p:spPr>
          <a:xfrm>
            <a:off x="636269" y="3577971"/>
            <a:ext cx="5112639" cy="45719"/>
          </a:xfrm>
          <a:prstGeom prst="rect">
            <a:avLst/>
          </a:prstGeom>
          <a:solidFill>
            <a:schemeClr val="tx2"/>
          </a:solidFill>
          <a:ln w="12700">
            <a:solidFill>
              <a:schemeClr val="tx2"/>
            </a:solidFill>
            <a:prstDash val="solid"/>
          </a:ln>
        </p:spPr>
        <p:txBody>
          <a:bodyPr/>
          <a:lstStyle/>
          <a:p>
            <a:endParaRPr lang="en-US" sz="2400">
              <a:solidFill>
                <a:schemeClr val="bg1"/>
              </a:solidFill>
            </a:endParaRPr>
          </a:p>
        </p:txBody>
      </p:sp>
      <p:sp>
        <p:nvSpPr>
          <p:cNvPr id="10" name="Text 8"/>
          <p:cNvSpPr/>
          <p:nvPr/>
        </p:nvSpPr>
        <p:spPr>
          <a:xfrm>
            <a:off x="636269" y="3686175"/>
            <a:ext cx="1745779" cy="424911"/>
          </a:xfrm>
          <a:prstGeom prst="rect">
            <a:avLst/>
          </a:prstGeom>
          <a:noFill/>
          <a:ln/>
        </p:spPr>
        <p:txBody>
          <a:bodyPr wrap="square" lIns="0" tIns="0" rIns="0" bIns="0" rtlCol="0" anchor="ctr"/>
          <a:lstStyle/>
          <a:p>
            <a:r>
              <a:rPr lang="en-US" sz="1200" b="1">
                <a:solidFill>
                  <a:schemeClr val="tx2"/>
                </a:solidFill>
                <a:latin typeface="Inter" panose="02000503000000020004" pitchFamily="2" charset="0"/>
                <a:ea typeface="Inter" panose="02000503000000020004" pitchFamily="2" charset="0"/>
                <a:cs typeface="Inter" panose="02000503000000020004" pitchFamily="2" charset="0"/>
              </a:rPr>
              <a:t>Structure:</a:t>
            </a:r>
            <a:endParaRPr lang="en-US" sz="1200">
              <a:solidFill>
                <a:schemeClr val="tx2"/>
              </a:solidFill>
              <a:latin typeface="Inter" panose="02000503000000020004" pitchFamily="2" charset="0"/>
              <a:ea typeface="Inter" panose="02000503000000020004" pitchFamily="2" charset="0"/>
              <a:cs typeface="Inter" panose="02000503000000020004" pitchFamily="2" charset="0"/>
            </a:endParaRPr>
          </a:p>
        </p:txBody>
      </p:sp>
      <p:sp>
        <p:nvSpPr>
          <p:cNvPr id="11" name="Text 9"/>
          <p:cNvSpPr/>
          <p:nvPr/>
        </p:nvSpPr>
        <p:spPr>
          <a:xfrm>
            <a:off x="2491775" y="3686175"/>
            <a:ext cx="3206842" cy="424911"/>
          </a:xfrm>
          <a:prstGeom prst="rect">
            <a:avLst/>
          </a:prstGeom>
          <a:noFill/>
          <a:ln/>
        </p:spPr>
        <p:txBody>
          <a:bodyPr wrap="square" lIns="0" tIns="0" rIns="0" bIns="0" rtlCol="0" anchor="ctr"/>
          <a:lstStyle/>
          <a:p>
            <a:r>
              <a:rPr lang="en-US" sz="1200">
                <a:solidFill>
                  <a:schemeClr val="tx2"/>
                </a:solidFill>
                <a:latin typeface="Inter" panose="02000503000000020004" pitchFamily="2" charset="0"/>
                <a:ea typeface="Inter" panose="02000503000000020004" pitchFamily="2" charset="0"/>
                <a:cs typeface="Inter" panose="02000503000000020004" pitchFamily="2" charset="0"/>
              </a:rPr>
              <a:t>Independent Sponsor (current) → Fund I ($250M target in 18-24 months)</a:t>
            </a:r>
          </a:p>
        </p:txBody>
      </p:sp>
      <p:sp>
        <p:nvSpPr>
          <p:cNvPr id="12" name="Text 10"/>
          <p:cNvSpPr/>
          <p:nvPr/>
        </p:nvSpPr>
        <p:spPr>
          <a:xfrm>
            <a:off x="636269" y="4078224"/>
            <a:ext cx="2057525" cy="424911"/>
          </a:xfrm>
          <a:prstGeom prst="rect">
            <a:avLst/>
          </a:prstGeom>
          <a:noFill/>
          <a:ln/>
        </p:spPr>
        <p:txBody>
          <a:bodyPr wrap="square" lIns="0" tIns="0" rIns="0" bIns="0" rtlCol="0" anchor="ctr"/>
          <a:lstStyle/>
          <a:p>
            <a:r>
              <a:rPr lang="en-US" sz="1200" b="1">
                <a:solidFill>
                  <a:schemeClr val="tx2"/>
                </a:solidFill>
                <a:latin typeface="Inter" panose="02000503000000020004" pitchFamily="2" charset="0"/>
                <a:ea typeface="Inter" panose="02000503000000020004" pitchFamily="2" charset="0"/>
                <a:cs typeface="Inter" panose="02000503000000020004" pitchFamily="2" charset="0"/>
              </a:rPr>
              <a:t>Investment Characteristics:</a:t>
            </a:r>
            <a:endParaRPr lang="en-US" sz="1200">
              <a:solidFill>
                <a:schemeClr val="tx2"/>
              </a:solidFill>
              <a:latin typeface="Inter" panose="02000503000000020004" pitchFamily="2" charset="0"/>
              <a:ea typeface="Inter" panose="02000503000000020004" pitchFamily="2" charset="0"/>
              <a:cs typeface="Inter" panose="02000503000000020004" pitchFamily="2" charset="0"/>
            </a:endParaRPr>
          </a:p>
        </p:txBody>
      </p:sp>
      <p:sp>
        <p:nvSpPr>
          <p:cNvPr id="13" name="Text 11"/>
          <p:cNvSpPr/>
          <p:nvPr/>
        </p:nvSpPr>
        <p:spPr>
          <a:xfrm>
            <a:off x="2491775" y="4080271"/>
            <a:ext cx="3381340" cy="424911"/>
          </a:xfrm>
          <a:prstGeom prst="rect">
            <a:avLst/>
          </a:prstGeom>
          <a:noFill/>
          <a:ln/>
        </p:spPr>
        <p:txBody>
          <a:bodyPr wrap="square" lIns="0" tIns="0" rIns="0" bIns="0" rtlCol="0" anchor="ctr"/>
          <a:lstStyle/>
          <a:p>
            <a:r>
              <a:rPr lang="en-US" sz="1200">
                <a:solidFill>
                  <a:schemeClr val="tx2"/>
                </a:solidFill>
                <a:latin typeface="Inter" panose="02000503000000020004" pitchFamily="2" charset="0"/>
                <a:ea typeface="Inter" panose="02000503000000020004" pitchFamily="2" charset="0"/>
                <a:cs typeface="Inter" panose="02000503000000020004" pitchFamily="2" charset="0"/>
              </a:rPr>
              <a:t>Control investments · $2–20M EBITDA · $25–150M EV</a:t>
            </a:r>
          </a:p>
        </p:txBody>
      </p:sp>
      <p:sp>
        <p:nvSpPr>
          <p:cNvPr id="14" name="Text 12"/>
          <p:cNvSpPr/>
          <p:nvPr/>
        </p:nvSpPr>
        <p:spPr>
          <a:xfrm>
            <a:off x="636269" y="4813173"/>
            <a:ext cx="1745779" cy="424911"/>
          </a:xfrm>
          <a:prstGeom prst="rect">
            <a:avLst/>
          </a:prstGeom>
          <a:noFill/>
          <a:ln/>
        </p:spPr>
        <p:txBody>
          <a:bodyPr wrap="square" lIns="0" tIns="0" rIns="0" bIns="0" rtlCol="0" anchor="ctr"/>
          <a:lstStyle/>
          <a:p>
            <a:r>
              <a:rPr lang="en-US" sz="1200" b="1">
                <a:solidFill>
                  <a:schemeClr val="tx2"/>
                </a:solidFill>
                <a:latin typeface="Inter" panose="02000503000000020004" pitchFamily="2" charset="0"/>
                <a:ea typeface="Inter" panose="02000503000000020004" pitchFamily="2" charset="0"/>
                <a:cs typeface="Inter" panose="02000503000000020004" pitchFamily="2" charset="0"/>
              </a:rPr>
              <a:t>Target Hold:</a:t>
            </a:r>
            <a:endParaRPr lang="en-US" sz="1200">
              <a:solidFill>
                <a:schemeClr val="tx2"/>
              </a:solidFill>
              <a:latin typeface="Inter" panose="02000503000000020004" pitchFamily="2" charset="0"/>
              <a:ea typeface="Inter" panose="02000503000000020004" pitchFamily="2" charset="0"/>
              <a:cs typeface="Inter" panose="02000503000000020004" pitchFamily="2" charset="0"/>
            </a:endParaRPr>
          </a:p>
        </p:txBody>
      </p:sp>
      <p:sp>
        <p:nvSpPr>
          <p:cNvPr id="15" name="Text 13"/>
          <p:cNvSpPr/>
          <p:nvPr/>
        </p:nvSpPr>
        <p:spPr>
          <a:xfrm>
            <a:off x="2491771" y="4807689"/>
            <a:ext cx="3247992" cy="424911"/>
          </a:xfrm>
          <a:prstGeom prst="rect">
            <a:avLst/>
          </a:prstGeom>
          <a:noFill/>
          <a:ln/>
        </p:spPr>
        <p:txBody>
          <a:bodyPr wrap="square" lIns="0" tIns="0" rIns="0" bIns="0" rtlCol="0" anchor="ctr"/>
          <a:lstStyle/>
          <a:p>
            <a:r>
              <a:rPr lang="en-US" sz="1200">
                <a:solidFill>
                  <a:schemeClr val="tx2"/>
                </a:solidFill>
                <a:latin typeface="Inter" panose="02000503000000020004" pitchFamily="2" charset="0"/>
                <a:ea typeface="Inter" panose="02000503000000020004" pitchFamily="2" charset="0"/>
                <a:cs typeface="Inter" panose="02000503000000020004" pitchFamily="2" charset="0"/>
              </a:rPr>
              <a:t>4–6 years</a:t>
            </a:r>
          </a:p>
        </p:txBody>
      </p:sp>
      <p:sp>
        <p:nvSpPr>
          <p:cNvPr id="16" name="Text 14"/>
          <p:cNvSpPr/>
          <p:nvPr/>
        </p:nvSpPr>
        <p:spPr>
          <a:xfrm>
            <a:off x="636269" y="5176647"/>
            <a:ext cx="1745779" cy="424911"/>
          </a:xfrm>
          <a:prstGeom prst="rect">
            <a:avLst/>
          </a:prstGeom>
          <a:noFill/>
          <a:ln/>
        </p:spPr>
        <p:txBody>
          <a:bodyPr wrap="square" lIns="0" tIns="0" rIns="0" bIns="0" rtlCol="0" anchor="ctr"/>
          <a:lstStyle/>
          <a:p>
            <a:r>
              <a:rPr lang="en-US" sz="1200" b="1">
                <a:solidFill>
                  <a:schemeClr val="tx2"/>
                </a:solidFill>
                <a:latin typeface="Inter" panose="02000503000000020004" pitchFamily="2" charset="0"/>
                <a:ea typeface="Inter" panose="02000503000000020004" pitchFamily="2" charset="0"/>
                <a:cs typeface="Inter" panose="02000503000000020004" pitchFamily="2" charset="0"/>
              </a:rPr>
              <a:t>Sectors:</a:t>
            </a:r>
            <a:endParaRPr lang="en-US" sz="1200">
              <a:solidFill>
                <a:schemeClr val="tx2"/>
              </a:solidFill>
              <a:latin typeface="Inter" panose="02000503000000020004" pitchFamily="2" charset="0"/>
              <a:ea typeface="Inter" panose="02000503000000020004" pitchFamily="2" charset="0"/>
              <a:cs typeface="Inter" panose="02000503000000020004" pitchFamily="2" charset="0"/>
            </a:endParaRPr>
          </a:p>
        </p:txBody>
      </p:sp>
      <p:sp>
        <p:nvSpPr>
          <p:cNvPr id="17" name="Text 15"/>
          <p:cNvSpPr/>
          <p:nvPr/>
        </p:nvSpPr>
        <p:spPr>
          <a:xfrm>
            <a:off x="2491773" y="5176647"/>
            <a:ext cx="3308952" cy="424911"/>
          </a:xfrm>
          <a:prstGeom prst="rect">
            <a:avLst/>
          </a:prstGeom>
          <a:noFill/>
          <a:ln/>
        </p:spPr>
        <p:txBody>
          <a:bodyPr wrap="square" lIns="0" tIns="0" rIns="0" bIns="0" rtlCol="0" anchor="ctr"/>
          <a:lstStyle/>
          <a:p>
            <a:r>
              <a:rPr lang="en-US" sz="1200">
                <a:solidFill>
                  <a:schemeClr val="tx2"/>
                </a:solidFill>
                <a:latin typeface="Inter" panose="02000503000000020004" pitchFamily="2" charset="0"/>
                <a:ea typeface="Inter" panose="02000503000000020004" pitchFamily="2" charset="0"/>
                <a:cs typeface="Inter" panose="02000503000000020004" pitchFamily="2" charset="0"/>
              </a:rPr>
              <a:t>Advanced Mfg · Engineered Materials · Precision Components</a:t>
            </a:r>
          </a:p>
        </p:txBody>
      </p:sp>
      <p:sp>
        <p:nvSpPr>
          <p:cNvPr id="18" name="Text 16"/>
          <p:cNvSpPr/>
          <p:nvPr/>
        </p:nvSpPr>
        <p:spPr>
          <a:xfrm>
            <a:off x="636269" y="5482971"/>
            <a:ext cx="1745779" cy="463296"/>
          </a:xfrm>
          <a:prstGeom prst="rect">
            <a:avLst/>
          </a:prstGeom>
          <a:noFill/>
          <a:ln/>
        </p:spPr>
        <p:txBody>
          <a:bodyPr wrap="square" lIns="0" tIns="0" rIns="0" bIns="0" rtlCol="0" anchor="ctr"/>
          <a:lstStyle/>
          <a:p>
            <a:r>
              <a:rPr lang="en-US" sz="1200" b="1">
                <a:solidFill>
                  <a:schemeClr val="tx2"/>
                </a:solidFill>
                <a:latin typeface="Inter" panose="02000503000000020004" pitchFamily="2" charset="0"/>
                <a:ea typeface="Inter" panose="02000503000000020004" pitchFamily="2" charset="0"/>
                <a:cs typeface="Inter" panose="02000503000000020004" pitchFamily="2" charset="0"/>
              </a:rPr>
              <a:t>Geography:</a:t>
            </a:r>
            <a:endParaRPr lang="en-US" sz="1200">
              <a:solidFill>
                <a:schemeClr val="tx2"/>
              </a:solidFill>
              <a:latin typeface="Inter" panose="02000503000000020004" pitchFamily="2" charset="0"/>
              <a:ea typeface="Inter" panose="02000503000000020004" pitchFamily="2" charset="0"/>
              <a:cs typeface="Inter" panose="02000503000000020004" pitchFamily="2" charset="0"/>
            </a:endParaRPr>
          </a:p>
        </p:txBody>
      </p:sp>
      <p:sp>
        <p:nvSpPr>
          <p:cNvPr id="19" name="Text 17"/>
          <p:cNvSpPr/>
          <p:nvPr/>
        </p:nvSpPr>
        <p:spPr>
          <a:xfrm>
            <a:off x="2491773" y="5499087"/>
            <a:ext cx="3257136" cy="463296"/>
          </a:xfrm>
          <a:prstGeom prst="rect">
            <a:avLst/>
          </a:prstGeom>
          <a:noFill/>
          <a:ln/>
        </p:spPr>
        <p:txBody>
          <a:bodyPr wrap="square" lIns="0" tIns="0" rIns="0" bIns="0" rtlCol="0" anchor="ctr"/>
          <a:lstStyle/>
          <a:p>
            <a:r>
              <a:rPr lang="en-US" sz="1200">
                <a:solidFill>
                  <a:schemeClr val="tx2"/>
                </a:solidFill>
                <a:latin typeface="Inter" panose="02000503000000020004" pitchFamily="2" charset="0"/>
                <a:ea typeface="Inter" panose="02000503000000020004" pitchFamily="2" charset="0"/>
                <a:cs typeface="Inter" panose="02000503000000020004" pitchFamily="2" charset="0"/>
              </a:rPr>
              <a:t>North America</a:t>
            </a:r>
          </a:p>
        </p:txBody>
      </p:sp>
      <p:sp>
        <p:nvSpPr>
          <p:cNvPr id="20" name="Shape 18"/>
          <p:cNvSpPr/>
          <p:nvPr/>
        </p:nvSpPr>
        <p:spPr>
          <a:xfrm>
            <a:off x="6234303" y="1819607"/>
            <a:ext cx="5568696" cy="4121277"/>
          </a:xfrm>
          <a:prstGeom prst="rect">
            <a:avLst/>
          </a:prstGeom>
          <a:solidFill>
            <a:schemeClr val="accent3">
              <a:lumMod val="20000"/>
              <a:lumOff val="80000"/>
            </a:schemeClr>
          </a:solidFill>
          <a:ln w="12700">
            <a:solidFill>
              <a:schemeClr val="tx2"/>
            </a:solidFill>
            <a:prstDash val="solid"/>
          </a:ln>
          <a:effectLst>
            <a:outerShdw blurRad="127000" dist="25400" dir="8100000" algn="bl" rotWithShape="0">
              <a:srgbClr val="000000">
                <a:alpha val="6000"/>
              </a:srgbClr>
            </a:outerShdw>
          </a:effectLst>
        </p:spPr>
        <p:txBody>
          <a:bodyPr/>
          <a:lstStyle/>
          <a:p>
            <a:endParaRPr lang="en-US" sz="2400">
              <a:latin typeface="Inter" panose="02000503000000020004" pitchFamily="2" charset="0"/>
              <a:ea typeface="Inter" panose="02000503000000020004" pitchFamily="2" charset="0"/>
              <a:cs typeface="Inter" panose="02000503000000020004" pitchFamily="2" charset="0"/>
            </a:endParaRPr>
          </a:p>
        </p:txBody>
      </p:sp>
      <p:sp>
        <p:nvSpPr>
          <p:cNvPr id="21" name="Text 19"/>
          <p:cNvSpPr/>
          <p:nvPr/>
        </p:nvSpPr>
        <p:spPr>
          <a:xfrm>
            <a:off x="6454521" y="1832124"/>
            <a:ext cx="49987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400" normalizeH="0" baseline="0" noProof="0">
                <a:ln>
                  <a:noFill/>
                </a:ln>
                <a:solidFill>
                  <a:srgbClr val="1A4C3D"/>
                </a:solidFill>
                <a:effectLst/>
                <a:uLnTx/>
                <a:uFillTx/>
                <a:latin typeface="Inter" panose="02000503000000020004" pitchFamily="2" charset="0"/>
                <a:ea typeface="Inter" panose="02000503000000020004" pitchFamily="2" charset="0"/>
                <a:cs typeface="Inter" panose="02000503000000020004" pitchFamily="2" charset="0"/>
              </a:rPr>
              <a:t>WHY WE WIN</a:t>
            </a:r>
            <a:endParaRPr kumimoji="0" lang="en-US" sz="1400" b="0" i="0" u="none" strike="noStrike" kern="1200" cap="none" spc="0" normalizeH="0" baseline="0" noProof="0">
              <a:ln>
                <a:noFill/>
              </a:ln>
              <a:solidFill>
                <a:srgbClr val="1A4C3D"/>
              </a:solidFill>
              <a:effectLst/>
              <a:uLnTx/>
              <a:uFillTx/>
              <a:latin typeface="Inter" panose="02000503000000020004" pitchFamily="2" charset="0"/>
              <a:ea typeface="Inter" panose="02000503000000020004" pitchFamily="2" charset="0"/>
              <a:cs typeface="Inter" panose="02000503000000020004" pitchFamily="2" charset="0"/>
            </a:endParaRPr>
          </a:p>
        </p:txBody>
      </p:sp>
      <p:sp>
        <p:nvSpPr>
          <p:cNvPr id="22" name="Shape 20"/>
          <p:cNvSpPr/>
          <p:nvPr/>
        </p:nvSpPr>
        <p:spPr>
          <a:xfrm>
            <a:off x="6417945" y="2606229"/>
            <a:ext cx="73152" cy="654942"/>
          </a:xfrm>
          <a:prstGeom prst="rect">
            <a:avLst/>
          </a:prstGeom>
          <a:solidFill>
            <a:srgbClr val="2D6A4F"/>
          </a:solidFill>
          <a:ln w="12700">
            <a:solidFill>
              <a:srgbClr val="2D6A4F"/>
            </a:solidFill>
            <a:prstDash val="solid"/>
          </a:ln>
        </p:spPr>
        <p:txBody>
          <a:bodyPr/>
          <a:lstStyle/>
          <a:p>
            <a:endParaRPr lang="en-US" sz="2400"/>
          </a:p>
        </p:txBody>
      </p:sp>
      <p:sp>
        <p:nvSpPr>
          <p:cNvPr id="23" name="Text 21"/>
          <p:cNvSpPr/>
          <p:nvPr/>
        </p:nvSpPr>
        <p:spPr>
          <a:xfrm>
            <a:off x="6600825" y="2537460"/>
            <a:ext cx="4998720" cy="365760"/>
          </a:xfrm>
          <a:prstGeom prst="rect">
            <a:avLst/>
          </a:prstGeom>
          <a:noFill/>
          <a:ln/>
        </p:spPr>
        <p:txBody>
          <a:bodyPr wrap="square" lIns="0" tIns="0" rIns="0" bIns="0" rtlCol="0" anchor="ctr"/>
          <a:lstStyle/>
          <a:p>
            <a:r>
              <a:rPr lang="en-US" sz="1333" b="1">
                <a:solidFill>
                  <a:srgbClr val="132240"/>
                </a:solidFill>
                <a:latin typeface="Inter" panose="02000503000000020004" pitchFamily="2" charset="0"/>
                <a:ea typeface="Inter" panose="02000503000000020004" pitchFamily="2" charset="0"/>
                <a:cs typeface="Inter" panose="02000503000000020004" pitchFamily="2" charset="0"/>
              </a:rPr>
              <a:t>Operator Credibility</a:t>
            </a:r>
            <a:endParaRPr lang="en-US" sz="1333">
              <a:latin typeface="Inter" panose="02000503000000020004" pitchFamily="2" charset="0"/>
              <a:ea typeface="Inter" panose="02000503000000020004" pitchFamily="2" charset="0"/>
              <a:cs typeface="Inter" panose="02000503000000020004" pitchFamily="2" charset="0"/>
            </a:endParaRPr>
          </a:p>
        </p:txBody>
      </p:sp>
      <p:sp>
        <p:nvSpPr>
          <p:cNvPr id="24" name="Text 22"/>
          <p:cNvSpPr/>
          <p:nvPr/>
        </p:nvSpPr>
        <p:spPr>
          <a:xfrm>
            <a:off x="6600825" y="2712720"/>
            <a:ext cx="4998720" cy="609600"/>
          </a:xfrm>
          <a:prstGeom prst="rect">
            <a:avLst/>
          </a:prstGeom>
          <a:noFill/>
          <a:ln/>
        </p:spPr>
        <p:txBody>
          <a:bodyPr wrap="square" lIns="0" tIns="0" rIns="0" bIns="0" rtlCol="0" anchor="ctr"/>
          <a:lstStyle/>
          <a:p>
            <a:r>
              <a:rPr lang="en-US" sz="1200">
                <a:solidFill>
                  <a:srgbClr val="2D3A4E"/>
                </a:solidFill>
                <a:latin typeface="Inter" panose="02000503000000020004" pitchFamily="2" charset="0"/>
                <a:ea typeface="Inter" panose="02000503000000020004" pitchFamily="2" charset="0"/>
                <a:cs typeface="Inter" panose="02000503000000020004" pitchFamily="2" charset="0"/>
              </a:rPr>
              <a:t>Founders engage with operators, creating pre-auction access and relationship-driven opportunities outside competitive processes.</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25" name="Shape 23"/>
          <p:cNvSpPr/>
          <p:nvPr/>
        </p:nvSpPr>
        <p:spPr>
          <a:xfrm>
            <a:off x="6417945" y="3479100"/>
            <a:ext cx="73152" cy="654942"/>
          </a:xfrm>
          <a:prstGeom prst="rect">
            <a:avLst/>
          </a:prstGeom>
          <a:solidFill>
            <a:srgbClr val="2D6A4F"/>
          </a:solidFill>
          <a:ln w="12700">
            <a:solidFill>
              <a:srgbClr val="2D6A4F"/>
            </a:solidFill>
            <a:prstDash val="solid"/>
          </a:ln>
        </p:spPr>
        <p:txBody>
          <a:bodyPr/>
          <a:lstStyle/>
          <a:p>
            <a:endParaRPr lang="en-US" sz="2400"/>
          </a:p>
        </p:txBody>
      </p:sp>
      <p:sp>
        <p:nvSpPr>
          <p:cNvPr id="26" name="Text 24"/>
          <p:cNvSpPr/>
          <p:nvPr/>
        </p:nvSpPr>
        <p:spPr>
          <a:xfrm>
            <a:off x="6600825" y="3410331"/>
            <a:ext cx="4998720" cy="365760"/>
          </a:xfrm>
          <a:prstGeom prst="rect">
            <a:avLst/>
          </a:prstGeom>
          <a:noFill/>
          <a:ln/>
        </p:spPr>
        <p:txBody>
          <a:bodyPr wrap="square" lIns="0" tIns="0" rIns="0" bIns="0" rtlCol="0" anchor="ctr"/>
          <a:lstStyle/>
          <a:p>
            <a:r>
              <a:rPr lang="en-US" sz="1333" b="1">
                <a:solidFill>
                  <a:srgbClr val="132240"/>
                </a:solidFill>
                <a:latin typeface="Inter" panose="02000503000000020004" pitchFamily="2" charset="0"/>
                <a:ea typeface="Inter" panose="02000503000000020004" pitchFamily="2" charset="0"/>
                <a:cs typeface="Inter" panose="02000503000000020004" pitchFamily="2" charset="0"/>
              </a:rPr>
              <a:t>Hyperscale Infrastructure Expertise &amp; Experience</a:t>
            </a:r>
            <a:endParaRPr lang="en-US" sz="1333">
              <a:latin typeface="Inter" panose="02000503000000020004" pitchFamily="2" charset="0"/>
              <a:ea typeface="Inter" panose="02000503000000020004" pitchFamily="2" charset="0"/>
              <a:cs typeface="Inter" panose="02000503000000020004" pitchFamily="2" charset="0"/>
            </a:endParaRPr>
          </a:p>
        </p:txBody>
      </p:sp>
      <p:sp>
        <p:nvSpPr>
          <p:cNvPr id="27" name="Text 25"/>
          <p:cNvSpPr/>
          <p:nvPr/>
        </p:nvSpPr>
        <p:spPr>
          <a:xfrm>
            <a:off x="6600825" y="3637734"/>
            <a:ext cx="4998720" cy="609600"/>
          </a:xfrm>
          <a:prstGeom prst="rect">
            <a:avLst/>
          </a:prstGeom>
          <a:noFill/>
          <a:ln/>
        </p:spPr>
        <p:txBody>
          <a:bodyPr wrap="square" lIns="0" tIns="0" rIns="0" bIns="0" rtlCol="0" anchor="ctr"/>
          <a:lstStyle/>
          <a:p>
            <a:r>
              <a:rPr lang="en-US" sz="1200">
                <a:solidFill>
                  <a:srgbClr val="2D3A4E"/>
                </a:solidFill>
                <a:latin typeface="Inter" panose="02000503000000020004" pitchFamily="2" charset="0"/>
                <a:ea typeface="Inter" panose="02000503000000020004" pitchFamily="2" charset="0"/>
                <a:cs typeface="Inter" panose="02000503000000020004" pitchFamily="2" charset="0"/>
              </a:rPr>
              <a:t>25+ years inside </a:t>
            </a:r>
            <a:r>
              <a:rPr lang="en-US" sz="1200" err="1">
                <a:solidFill>
                  <a:srgbClr val="2D3A4E"/>
                </a:solidFill>
                <a:latin typeface="Inter" panose="02000503000000020004" pitchFamily="2" charset="0"/>
                <a:ea typeface="Inter" panose="02000503000000020004" pitchFamily="2" charset="0"/>
                <a:cs typeface="Inter" panose="02000503000000020004" pitchFamily="2" charset="0"/>
              </a:rPr>
              <a:t>hyperscalers</a:t>
            </a:r>
            <a:r>
              <a:rPr lang="en-US" sz="1200">
                <a:solidFill>
                  <a:srgbClr val="2D3A4E"/>
                </a:solidFill>
                <a:latin typeface="Inter" panose="02000503000000020004" pitchFamily="2" charset="0"/>
                <a:ea typeface="Inter" panose="02000503000000020004" pitchFamily="2" charset="0"/>
                <a:cs typeface="Inter" panose="02000503000000020004" pitchFamily="2" charset="0"/>
              </a:rPr>
              <a:t>, data center OEMs, and AI infrastructure. We see technology and supply chain trends before most of the market does.</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28" name="Shape 26"/>
          <p:cNvSpPr/>
          <p:nvPr/>
        </p:nvSpPr>
        <p:spPr>
          <a:xfrm>
            <a:off x="6417945" y="4371021"/>
            <a:ext cx="73152" cy="654942"/>
          </a:xfrm>
          <a:prstGeom prst="rect">
            <a:avLst/>
          </a:prstGeom>
          <a:solidFill>
            <a:srgbClr val="2D6A4F"/>
          </a:solidFill>
          <a:ln w="12700">
            <a:solidFill>
              <a:srgbClr val="2D6A4F"/>
            </a:solidFill>
            <a:prstDash val="solid"/>
          </a:ln>
        </p:spPr>
        <p:txBody>
          <a:bodyPr/>
          <a:lstStyle/>
          <a:p>
            <a:endParaRPr lang="en-US" sz="2400"/>
          </a:p>
        </p:txBody>
      </p:sp>
      <p:sp>
        <p:nvSpPr>
          <p:cNvPr id="29" name="Text 27"/>
          <p:cNvSpPr/>
          <p:nvPr/>
        </p:nvSpPr>
        <p:spPr>
          <a:xfrm>
            <a:off x="6600825" y="4302252"/>
            <a:ext cx="4998720" cy="365760"/>
          </a:xfrm>
          <a:prstGeom prst="rect">
            <a:avLst/>
          </a:prstGeom>
          <a:noFill/>
          <a:ln/>
        </p:spPr>
        <p:txBody>
          <a:bodyPr wrap="square" lIns="0" tIns="0" rIns="0" bIns="0" rtlCol="0" anchor="ctr"/>
          <a:lstStyle/>
          <a:p>
            <a:r>
              <a:rPr lang="en-US" sz="1333" b="1">
                <a:solidFill>
                  <a:srgbClr val="132240"/>
                </a:solidFill>
                <a:latin typeface="Inter" panose="02000503000000020004" pitchFamily="2" charset="0"/>
                <a:ea typeface="Inter" panose="02000503000000020004" pitchFamily="2" charset="0"/>
                <a:cs typeface="Inter" panose="02000503000000020004" pitchFamily="2" charset="0"/>
              </a:rPr>
              <a:t>Proven Results</a:t>
            </a:r>
            <a:endParaRPr lang="en-US" sz="1333">
              <a:latin typeface="Inter" panose="02000503000000020004" pitchFamily="2" charset="0"/>
              <a:ea typeface="Inter" panose="02000503000000020004" pitchFamily="2" charset="0"/>
              <a:cs typeface="Inter" panose="02000503000000020004" pitchFamily="2" charset="0"/>
            </a:endParaRPr>
          </a:p>
        </p:txBody>
      </p:sp>
      <p:sp>
        <p:nvSpPr>
          <p:cNvPr id="30" name="Text 28"/>
          <p:cNvSpPr/>
          <p:nvPr/>
        </p:nvSpPr>
        <p:spPr>
          <a:xfrm>
            <a:off x="6600825" y="4467987"/>
            <a:ext cx="4998720" cy="609600"/>
          </a:xfrm>
          <a:prstGeom prst="rect">
            <a:avLst/>
          </a:prstGeom>
          <a:noFill/>
          <a:ln/>
        </p:spPr>
        <p:txBody>
          <a:bodyPr wrap="square" lIns="0" tIns="0" rIns="0" bIns="0" rtlCol="0" anchor="ctr"/>
          <a:lstStyle/>
          <a:p>
            <a:r>
              <a:rPr lang="en-US" sz="1200">
                <a:solidFill>
                  <a:srgbClr val="2D3A4E"/>
                </a:solidFill>
                <a:latin typeface="Inter" panose="02000503000000020004" pitchFamily="2" charset="0"/>
                <a:ea typeface="Inter" panose="02000503000000020004" pitchFamily="2" charset="0"/>
                <a:cs typeface="Inter" panose="02000503000000020004" pitchFamily="2" charset="0"/>
              </a:rPr>
              <a:t>11x MOIC / 30% IRR realized exit. 11 acquisitions integrated in 18 months. $500M+ platform built across 23 facilities.</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31" name="Shape 29"/>
          <p:cNvSpPr/>
          <p:nvPr/>
        </p:nvSpPr>
        <p:spPr>
          <a:xfrm>
            <a:off x="6417945" y="5234367"/>
            <a:ext cx="73152" cy="654942"/>
          </a:xfrm>
          <a:prstGeom prst="rect">
            <a:avLst/>
          </a:prstGeom>
          <a:solidFill>
            <a:srgbClr val="2D6A4F"/>
          </a:solidFill>
          <a:ln w="12700">
            <a:solidFill>
              <a:srgbClr val="2D6A4F"/>
            </a:solidFill>
            <a:prstDash val="solid"/>
          </a:ln>
        </p:spPr>
        <p:txBody>
          <a:bodyPr/>
          <a:lstStyle/>
          <a:p>
            <a:endParaRPr lang="en-US" sz="2400"/>
          </a:p>
        </p:txBody>
      </p:sp>
      <p:sp>
        <p:nvSpPr>
          <p:cNvPr id="32" name="Text 30"/>
          <p:cNvSpPr/>
          <p:nvPr/>
        </p:nvSpPr>
        <p:spPr>
          <a:xfrm>
            <a:off x="6600825" y="5165598"/>
            <a:ext cx="4998720" cy="365760"/>
          </a:xfrm>
          <a:prstGeom prst="rect">
            <a:avLst/>
          </a:prstGeom>
          <a:noFill/>
          <a:ln/>
        </p:spPr>
        <p:txBody>
          <a:bodyPr wrap="square" lIns="0" tIns="0" rIns="0" bIns="0" rtlCol="0" anchor="ctr"/>
          <a:lstStyle/>
          <a:p>
            <a:r>
              <a:rPr lang="en-US" sz="1333" b="1">
                <a:solidFill>
                  <a:srgbClr val="132240"/>
                </a:solidFill>
                <a:latin typeface="Inter" panose="02000503000000020004" pitchFamily="2" charset="0"/>
                <a:ea typeface="Inter" panose="02000503000000020004" pitchFamily="2" charset="0"/>
                <a:cs typeface="Inter" panose="02000503000000020004" pitchFamily="2" charset="0"/>
              </a:rPr>
              <a:t>Disciplined Underwriting</a:t>
            </a:r>
            <a:endParaRPr lang="en-US" sz="1333">
              <a:latin typeface="Inter" panose="02000503000000020004" pitchFamily="2" charset="0"/>
              <a:ea typeface="Inter" panose="02000503000000020004" pitchFamily="2" charset="0"/>
              <a:cs typeface="Inter" panose="02000503000000020004" pitchFamily="2" charset="0"/>
            </a:endParaRPr>
          </a:p>
        </p:txBody>
      </p:sp>
      <p:sp>
        <p:nvSpPr>
          <p:cNvPr id="33" name="Text 31"/>
          <p:cNvSpPr/>
          <p:nvPr/>
        </p:nvSpPr>
        <p:spPr>
          <a:xfrm>
            <a:off x="6600825" y="5331333"/>
            <a:ext cx="4998720" cy="609600"/>
          </a:xfrm>
          <a:prstGeom prst="rect">
            <a:avLst/>
          </a:prstGeom>
          <a:noFill/>
          <a:ln/>
        </p:spPr>
        <p:txBody>
          <a:bodyPr wrap="square" lIns="0" tIns="0" rIns="0" bIns="0" rtlCol="0" anchor="ctr"/>
          <a:lstStyle/>
          <a:p>
            <a:r>
              <a:rPr lang="en-US" sz="1200">
                <a:solidFill>
                  <a:srgbClr val="2D3A4E"/>
                </a:solidFill>
                <a:latin typeface="Inter" panose="02000503000000020004" pitchFamily="2" charset="0"/>
                <a:ea typeface="Inter" panose="02000503000000020004" pitchFamily="2" charset="0"/>
                <a:cs typeface="Inter" panose="02000503000000020004" pitchFamily="2" charset="0"/>
              </a:rPr>
              <a:t>We underwrite operational risk explicitly and invest where earnings power is driven by controllable execution.</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2" name="Shape 2">
            <a:extLst>
              <a:ext uri="{FF2B5EF4-FFF2-40B4-BE49-F238E27FC236}">
                <a16:creationId xmlns:a16="http://schemas.microsoft.com/office/drawing/2014/main" id="{C24E69A8-AC31-59C1-6CE0-F979C213FA4E}"/>
              </a:ext>
            </a:extLst>
          </p:cNvPr>
          <p:cNvSpPr/>
          <p:nvPr/>
        </p:nvSpPr>
        <p:spPr>
          <a:xfrm>
            <a:off x="415480" y="1216682"/>
            <a:ext cx="2684840" cy="465527"/>
          </a:xfrm>
          <a:prstGeom prst="rect">
            <a:avLst/>
          </a:prstGeom>
          <a:solidFill>
            <a:schemeClr val="tx2"/>
          </a:solidFill>
          <a:ln w="12700">
            <a:solidFill>
              <a:srgbClr val="1E3A5F"/>
            </a:solidFill>
            <a:prstDash val="solid"/>
          </a:ln>
        </p:spPr>
        <p:txBody>
          <a:bodyPr/>
          <a:lstStyle/>
          <a:p>
            <a:pPr algn="ctr"/>
            <a:r>
              <a:rPr lang="en-US" sz="1400" b="1">
                <a:solidFill>
                  <a:schemeClr val="bg1"/>
                </a:solidFill>
              </a:rPr>
              <a:t>50+ Years</a:t>
            </a:r>
          </a:p>
          <a:p>
            <a:pPr algn="ctr"/>
            <a:r>
              <a:rPr lang="en-US" sz="1400">
                <a:solidFill>
                  <a:schemeClr val="bg1"/>
                </a:solidFill>
              </a:rPr>
              <a:t>Senior operating leadership</a:t>
            </a:r>
            <a:r>
              <a:rPr lang="en-US" sz="1400" b="1">
                <a:solidFill>
                  <a:schemeClr val="bg1"/>
                </a:solidFill>
              </a:rPr>
              <a:t> </a:t>
            </a:r>
          </a:p>
        </p:txBody>
      </p:sp>
      <p:sp>
        <p:nvSpPr>
          <p:cNvPr id="35" name="Shape 6">
            <a:extLst>
              <a:ext uri="{FF2B5EF4-FFF2-40B4-BE49-F238E27FC236}">
                <a16:creationId xmlns:a16="http://schemas.microsoft.com/office/drawing/2014/main" id="{3D95AC2B-C3C2-0B9A-C38C-C4AC2D301FE0}"/>
              </a:ext>
            </a:extLst>
          </p:cNvPr>
          <p:cNvSpPr/>
          <p:nvPr/>
        </p:nvSpPr>
        <p:spPr>
          <a:xfrm>
            <a:off x="3298765" y="1216682"/>
            <a:ext cx="2684840" cy="465527"/>
          </a:xfrm>
          <a:prstGeom prst="rect">
            <a:avLst/>
          </a:prstGeom>
          <a:solidFill>
            <a:schemeClr val="tx2"/>
          </a:solidFill>
          <a:ln w="12700">
            <a:solidFill>
              <a:srgbClr val="1E3A5F"/>
            </a:solidFill>
            <a:prstDash val="solid"/>
          </a:ln>
        </p:spPr>
        <p:txBody>
          <a:bodyPr/>
          <a:lstStyle/>
          <a:p>
            <a:pPr algn="ctr"/>
            <a:r>
              <a:rPr lang="en-US" sz="1400" b="1">
                <a:solidFill>
                  <a:schemeClr val="bg1"/>
                </a:solidFill>
              </a:rPr>
              <a:t>25+ Years</a:t>
            </a:r>
          </a:p>
          <a:p>
            <a:pPr algn="ctr"/>
            <a:r>
              <a:rPr lang="en-US" sz="1400">
                <a:solidFill>
                  <a:schemeClr val="bg1"/>
                </a:solidFill>
              </a:rPr>
              <a:t>ICT / Data Center Experience</a:t>
            </a:r>
          </a:p>
        </p:txBody>
      </p:sp>
      <p:sp>
        <p:nvSpPr>
          <p:cNvPr id="39" name="Shape 10">
            <a:extLst>
              <a:ext uri="{FF2B5EF4-FFF2-40B4-BE49-F238E27FC236}">
                <a16:creationId xmlns:a16="http://schemas.microsoft.com/office/drawing/2014/main" id="{33C0F9F9-8E03-3ACD-9321-30F5B38F86AB}"/>
              </a:ext>
            </a:extLst>
          </p:cNvPr>
          <p:cNvSpPr/>
          <p:nvPr/>
        </p:nvSpPr>
        <p:spPr>
          <a:xfrm>
            <a:off x="6234303" y="1206401"/>
            <a:ext cx="2684840" cy="465527"/>
          </a:xfrm>
          <a:prstGeom prst="rect">
            <a:avLst/>
          </a:prstGeom>
          <a:solidFill>
            <a:schemeClr val="tx2"/>
          </a:solidFill>
          <a:ln w="12700">
            <a:solidFill>
              <a:srgbClr val="1E3A5F"/>
            </a:solidFill>
            <a:prstDash val="solid"/>
          </a:ln>
        </p:spPr>
        <p:txBody>
          <a:bodyPr/>
          <a:lstStyle/>
          <a:p>
            <a:pPr algn="ctr"/>
            <a:r>
              <a:rPr lang="en-US" sz="1400" b="1">
                <a:solidFill>
                  <a:schemeClr val="bg1"/>
                </a:solidFill>
              </a:rPr>
              <a:t>20+ Years </a:t>
            </a:r>
          </a:p>
          <a:p>
            <a:pPr algn="ctr"/>
            <a:r>
              <a:rPr lang="en-US" sz="1400">
                <a:solidFill>
                  <a:schemeClr val="bg1"/>
                </a:solidFill>
              </a:rPr>
              <a:t>PE Experience</a:t>
            </a:r>
          </a:p>
        </p:txBody>
      </p:sp>
      <p:sp>
        <p:nvSpPr>
          <p:cNvPr id="43" name="Shape 14">
            <a:extLst>
              <a:ext uri="{FF2B5EF4-FFF2-40B4-BE49-F238E27FC236}">
                <a16:creationId xmlns:a16="http://schemas.microsoft.com/office/drawing/2014/main" id="{6896D1CA-DD9B-E698-E709-B8D6F14B112C}"/>
              </a:ext>
            </a:extLst>
          </p:cNvPr>
          <p:cNvSpPr/>
          <p:nvPr/>
        </p:nvSpPr>
        <p:spPr>
          <a:xfrm>
            <a:off x="9118159" y="1206401"/>
            <a:ext cx="2684840" cy="465527"/>
          </a:xfrm>
          <a:prstGeom prst="rect">
            <a:avLst/>
          </a:prstGeom>
          <a:solidFill>
            <a:schemeClr val="tx2"/>
          </a:solidFill>
          <a:ln w="12700">
            <a:solidFill>
              <a:srgbClr val="1E3A5F"/>
            </a:solidFill>
            <a:prstDash val="solid"/>
          </a:ln>
        </p:spPr>
        <p:txBody>
          <a:bodyPr/>
          <a:lstStyle/>
          <a:p>
            <a:pPr algn="ctr"/>
            <a:r>
              <a:rPr lang="en-US" sz="1400" b="1">
                <a:solidFill>
                  <a:schemeClr val="bg1"/>
                </a:solidFill>
              </a:rPr>
              <a:t>10+ Years</a:t>
            </a:r>
          </a:p>
          <a:p>
            <a:pPr algn="ctr"/>
            <a:r>
              <a:rPr lang="en-US" sz="1400">
                <a:solidFill>
                  <a:schemeClr val="bg1"/>
                </a:solidFill>
              </a:rPr>
              <a:t>CEO/CFO Partnership</a:t>
            </a:r>
          </a:p>
        </p:txBody>
      </p:sp>
      <p:sp>
        <p:nvSpPr>
          <p:cNvPr id="56" name="Text 12">
            <a:extLst>
              <a:ext uri="{FF2B5EF4-FFF2-40B4-BE49-F238E27FC236}">
                <a16:creationId xmlns:a16="http://schemas.microsoft.com/office/drawing/2014/main" id="{A8777CC8-CB7B-2C99-5D88-4A038C4BC26A}"/>
              </a:ext>
            </a:extLst>
          </p:cNvPr>
          <p:cNvSpPr/>
          <p:nvPr/>
        </p:nvSpPr>
        <p:spPr>
          <a:xfrm>
            <a:off x="636268" y="4454767"/>
            <a:ext cx="1745779" cy="424911"/>
          </a:xfrm>
          <a:prstGeom prst="rect">
            <a:avLst/>
          </a:prstGeom>
          <a:noFill/>
          <a:ln/>
        </p:spPr>
        <p:txBody>
          <a:bodyPr wrap="square" lIns="0" tIns="0" rIns="0" bIns="0" rtlCol="0" anchor="ctr"/>
          <a:lstStyle/>
          <a:p>
            <a:r>
              <a:rPr lang="en-US" sz="1200" b="1">
                <a:solidFill>
                  <a:schemeClr val="tx2"/>
                </a:solidFill>
                <a:latin typeface="Inter" panose="02000503000000020004" pitchFamily="2" charset="0"/>
                <a:ea typeface="Inter" panose="02000503000000020004" pitchFamily="2" charset="0"/>
                <a:cs typeface="Inter" panose="02000503000000020004" pitchFamily="2" charset="0"/>
              </a:rPr>
              <a:t>Underwriting Target:</a:t>
            </a:r>
            <a:endParaRPr lang="en-US" sz="1200">
              <a:solidFill>
                <a:schemeClr val="tx2"/>
              </a:solidFill>
              <a:latin typeface="Inter" panose="02000503000000020004" pitchFamily="2" charset="0"/>
              <a:ea typeface="Inter" panose="02000503000000020004" pitchFamily="2" charset="0"/>
              <a:cs typeface="Inter" panose="02000503000000020004" pitchFamily="2" charset="0"/>
            </a:endParaRPr>
          </a:p>
        </p:txBody>
      </p:sp>
      <p:sp>
        <p:nvSpPr>
          <p:cNvPr id="57" name="Text 13">
            <a:extLst>
              <a:ext uri="{FF2B5EF4-FFF2-40B4-BE49-F238E27FC236}">
                <a16:creationId xmlns:a16="http://schemas.microsoft.com/office/drawing/2014/main" id="{680EBC6E-8DD7-142F-FBC7-AEA39BF90882}"/>
              </a:ext>
            </a:extLst>
          </p:cNvPr>
          <p:cNvSpPr/>
          <p:nvPr/>
        </p:nvSpPr>
        <p:spPr>
          <a:xfrm>
            <a:off x="2491770" y="4454766"/>
            <a:ext cx="3247991" cy="424911"/>
          </a:xfrm>
          <a:prstGeom prst="rect">
            <a:avLst/>
          </a:prstGeom>
          <a:noFill/>
          <a:ln/>
        </p:spPr>
        <p:txBody>
          <a:bodyPr wrap="square" lIns="0" tIns="0" rIns="0" bIns="0" rtlCol="0" anchor="ctr"/>
          <a:lstStyle/>
          <a:p>
            <a:r>
              <a:rPr lang="en-US" sz="1200">
                <a:solidFill>
                  <a:schemeClr val="tx2"/>
                </a:solidFill>
                <a:latin typeface="Inter" panose="02000503000000020004" pitchFamily="2" charset="0"/>
                <a:ea typeface="Inter" panose="02000503000000020004" pitchFamily="2" charset="0"/>
                <a:cs typeface="Inter" panose="02000503000000020004" pitchFamily="2" charset="0"/>
              </a:rPr>
              <a:t>25–30% IRR · 3–4x MOIC</a:t>
            </a:r>
          </a:p>
        </p:txBody>
      </p:sp>
      <p:sp>
        <p:nvSpPr>
          <p:cNvPr id="3" name="Title 1">
            <a:extLst>
              <a:ext uri="{FF2B5EF4-FFF2-40B4-BE49-F238E27FC236}">
                <a16:creationId xmlns:a16="http://schemas.microsoft.com/office/drawing/2014/main" id="{6E045CB0-C658-5D48-AEC3-6E934DD4C5F8}"/>
              </a:ext>
            </a:extLst>
          </p:cNvPr>
          <p:cNvSpPr txBox="1">
            <a:spLocks/>
          </p:cNvSpPr>
          <p:nvPr/>
        </p:nvSpPr>
        <p:spPr>
          <a:xfrm>
            <a:off x="942561" y="509286"/>
            <a:ext cx="10515600" cy="496260"/>
          </a:xfrm>
          <a:prstGeom prst="rect">
            <a:avLst/>
          </a:prstGeom>
        </p:spPr>
        <p:txBody>
          <a:bodyPr>
            <a:noAutofit/>
          </a:bodyPr>
          <a:lstStyle>
            <a:lvl1pPr algn="l" defTabSz="914400" rtl="0" eaLnBrk="1" latinLnBrk="0" hangingPunct="1">
              <a:lnSpc>
                <a:spcPct val="90000"/>
              </a:lnSpc>
              <a:spcBef>
                <a:spcPct val="0"/>
              </a:spcBef>
              <a:buNone/>
              <a:defRPr sz="3000" kern="1200" baseline="0">
                <a:solidFill>
                  <a:schemeClr val="tx1"/>
                </a:solidFill>
                <a:latin typeface="Inter ExtraBold" panose="02000503000000020004" pitchFamily="2" charset="0"/>
                <a:ea typeface="+mj-ea"/>
                <a:cs typeface="+mj-cs"/>
              </a:defRPr>
            </a:lvl1pPr>
          </a:lstStyle>
          <a:p>
            <a:r>
              <a:rPr lang="en-US">
                <a:latin typeface="Inter" panose="02000503000000020004" pitchFamily="2" charset="0"/>
                <a:ea typeface="Inter" panose="02000503000000020004" pitchFamily="2" charset="0"/>
                <a:cs typeface="Inter" panose="02000503000000020004" pitchFamily="2" charset="0"/>
              </a:rPr>
              <a:t>Catskill Partners at a glance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5723F-18CD-B8A9-B3A4-95483E9AC8A4}"/>
            </a:ext>
          </a:extLst>
        </p:cNvPr>
        <p:cNvGrpSpPr/>
        <p:nvPr/>
      </p:nvGrpSpPr>
      <p:grpSpPr>
        <a:xfrm>
          <a:off x="0" y="0"/>
          <a:ext cx="0" cy="0"/>
          <a:chOff x="0" y="0"/>
          <a:chExt cx="0" cy="0"/>
        </a:xfrm>
      </p:grpSpPr>
      <p:sp>
        <p:nvSpPr>
          <p:cNvPr id="3" name="Text 1"/>
          <p:cNvSpPr/>
          <p:nvPr/>
        </p:nvSpPr>
        <p:spPr>
          <a:xfrm>
            <a:off x="1056611" y="1043012"/>
            <a:ext cx="11126419" cy="292608"/>
          </a:xfrm>
          <a:prstGeom prst="rect">
            <a:avLst/>
          </a:prstGeom>
          <a:noFill/>
          <a:ln/>
        </p:spPr>
        <p:txBody>
          <a:bodyPr wrap="square" lIns="0" tIns="0" rIns="0" bIns="0" rtlCol="0" anchor="ctr"/>
          <a:lstStyle/>
          <a:p>
            <a:r>
              <a:rPr lang="en-US" sz="1533">
                <a:solidFill>
                  <a:schemeClr val="tx2">
                    <a:lumMod val="50000"/>
                  </a:schemeClr>
                </a:solidFill>
                <a:latin typeface="Inter" pitchFamily="34" charset="0"/>
                <a:ea typeface="Inter" pitchFamily="34" charset="-122"/>
                <a:cs typeface="Inter" pitchFamily="34" charset="-120"/>
              </a:rPr>
              <a:t>How Catskill Partners identifies, acquires, and transforms founder-led technical manufacturers</a:t>
            </a:r>
            <a:endParaRPr lang="en-US" sz="1533">
              <a:solidFill>
                <a:schemeClr val="tx2">
                  <a:lumMod val="50000"/>
                </a:schemeClr>
              </a:solidFill>
            </a:endParaRPr>
          </a:p>
        </p:txBody>
      </p:sp>
      <p:sp>
        <p:nvSpPr>
          <p:cNvPr id="4" name="Shape 2"/>
          <p:cNvSpPr/>
          <p:nvPr/>
        </p:nvSpPr>
        <p:spPr>
          <a:xfrm flipV="1">
            <a:off x="525040" y="1459397"/>
            <a:ext cx="11126419" cy="45719"/>
          </a:xfrm>
          <a:prstGeom prst="rect">
            <a:avLst/>
          </a:prstGeom>
          <a:solidFill>
            <a:srgbClr val="D0DDD0"/>
          </a:solidFill>
          <a:ln w="12700">
            <a:solidFill>
              <a:srgbClr val="D0DDD0"/>
            </a:solidFill>
            <a:prstDash val="solid"/>
          </a:ln>
        </p:spPr>
        <p:txBody>
          <a:bodyPr/>
          <a:lstStyle/>
          <a:p>
            <a:endParaRPr lang="en-US" sz="2400"/>
          </a:p>
        </p:txBody>
      </p:sp>
      <p:sp>
        <p:nvSpPr>
          <p:cNvPr id="5" name="Shape 3"/>
          <p:cNvSpPr/>
          <p:nvPr/>
        </p:nvSpPr>
        <p:spPr>
          <a:xfrm>
            <a:off x="531136" y="1602652"/>
            <a:ext cx="2682240" cy="4066032"/>
          </a:xfrm>
          <a:prstGeom prst="rect">
            <a:avLst/>
          </a:prstGeom>
          <a:solidFill>
            <a:schemeClr val="accent3">
              <a:lumMod val="20000"/>
              <a:lumOff val="80000"/>
            </a:schemeClr>
          </a:solidFill>
          <a:ln w="9525">
            <a:solidFill>
              <a:srgbClr val="D0DDD0"/>
            </a:solidFill>
            <a:prstDash val="solid"/>
          </a:ln>
          <a:effectLst>
            <a:outerShdw blurRad="63500" dist="25400" dir="8100000" algn="bl" rotWithShape="0">
              <a:srgbClr val="999999">
                <a:alpha val="13000"/>
              </a:srgbClr>
            </a:outerShdw>
          </a:effectLst>
        </p:spPr>
        <p:txBody>
          <a:bodyPr/>
          <a:lstStyle/>
          <a:p>
            <a:endParaRPr lang="en-US" sz="2400"/>
          </a:p>
        </p:txBody>
      </p:sp>
      <p:sp>
        <p:nvSpPr>
          <p:cNvPr id="6" name="Shape 4"/>
          <p:cNvSpPr/>
          <p:nvPr/>
        </p:nvSpPr>
        <p:spPr>
          <a:xfrm>
            <a:off x="531136" y="1602652"/>
            <a:ext cx="2682240" cy="79248"/>
          </a:xfrm>
          <a:prstGeom prst="rect">
            <a:avLst/>
          </a:prstGeom>
          <a:solidFill>
            <a:srgbClr val="1B4D3E"/>
          </a:solidFill>
          <a:ln w="12700">
            <a:solidFill>
              <a:srgbClr val="1B4D3E"/>
            </a:solidFill>
            <a:prstDash val="solid"/>
          </a:ln>
        </p:spPr>
        <p:txBody>
          <a:bodyPr/>
          <a:lstStyle/>
          <a:p>
            <a:endParaRPr lang="en-US" sz="2400"/>
          </a:p>
        </p:txBody>
      </p:sp>
      <p:sp>
        <p:nvSpPr>
          <p:cNvPr id="36" name="Text 5"/>
          <p:cNvSpPr/>
          <p:nvPr/>
        </p:nvSpPr>
        <p:spPr>
          <a:xfrm>
            <a:off x="689632" y="1712380"/>
            <a:ext cx="316992" cy="292608"/>
          </a:xfrm>
          <a:prstGeom prst="rect">
            <a:avLst/>
          </a:prstGeom>
          <a:noFill/>
          <a:ln/>
        </p:spPr>
        <p:txBody>
          <a:bodyPr wrap="square" lIns="0" tIns="0" rIns="0" bIns="0" rtlCol="0" anchor="ctr"/>
          <a:lstStyle/>
          <a:p>
            <a:r>
              <a:rPr lang="en-US" sz="1200" b="1">
                <a:solidFill>
                  <a:srgbClr val="1B4D3E"/>
                </a:solidFill>
                <a:latin typeface="Inter" pitchFamily="34" charset="0"/>
                <a:ea typeface="Inter" pitchFamily="34" charset="-122"/>
                <a:cs typeface="Inter" pitchFamily="34" charset="-120"/>
              </a:rPr>
              <a:t>01</a:t>
            </a:r>
            <a:endParaRPr lang="en-US" sz="1200"/>
          </a:p>
        </p:txBody>
      </p:sp>
      <p:sp>
        <p:nvSpPr>
          <p:cNvPr id="37" name="Text 6"/>
          <p:cNvSpPr/>
          <p:nvPr/>
        </p:nvSpPr>
        <p:spPr>
          <a:xfrm>
            <a:off x="970048" y="1712380"/>
            <a:ext cx="2084832" cy="292608"/>
          </a:xfrm>
          <a:prstGeom prst="rect">
            <a:avLst/>
          </a:prstGeom>
          <a:noFill/>
          <a:ln/>
        </p:spPr>
        <p:txBody>
          <a:bodyPr wrap="square" lIns="0" tIns="0" rIns="0" bIns="0" rtlCol="0" anchor="ctr"/>
          <a:lstStyle/>
          <a:p>
            <a:r>
              <a:rPr lang="en-US" sz="1600" b="1">
                <a:solidFill>
                  <a:srgbClr val="1B4D3E"/>
                </a:solidFill>
                <a:latin typeface="Inter" pitchFamily="34" charset="0"/>
                <a:ea typeface="Inter" pitchFamily="34" charset="-122"/>
                <a:cs typeface="Inter" pitchFamily="34" charset="-120"/>
              </a:rPr>
              <a:t>SOURCING</a:t>
            </a:r>
            <a:endParaRPr lang="en-US" sz="1600"/>
          </a:p>
        </p:txBody>
      </p:sp>
      <p:sp>
        <p:nvSpPr>
          <p:cNvPr id="38" name="Text 7"/>
          <p:cNvSpPr/>
          <p:nvPr/>
        </p:nvSpPr>
        <p:spPr>
          <a:xfrm>
            <a:off x="689632" y="2041564"/>
            <a:ext cx="2365248" cy="390144"/>
          </a:xfrm>
          <a:prstGeom prst="rect">
            <a:avLst/>
          </a:prstGeom>
          <a:noFill/>
          <a:ln/>
        </p:spPr>
        <p:txBody>
          <a:bodyPr wrap="square" lIns="0" tIns="0" rIns="0" bIns="0" rtlCol="0" anchor="t"/>
          <a:lstStyle/>
          <a:p>
            <a:r>
              <a:rPr lang="en-US" sz="1200" i="1">
                <a:solidFill>
                  <a:srgbClr val="555555"/>
                </a:solidFill>
                <a:latin typeface="Inter" pitchFamily="34" charset="0"/>
                <a:ea typeface="Inter" pitchFamily="34" charset="-122"/>
                <a:cs typeface="Inter" pitchFamily="34" charset="-120"/>
              </a:rPr>
              <a:t>Market pattern recognition</a:t>
            </a:r>
            <a:endParaRPr lang="en-US" sz="1200"/>
          </a:p>
          <a:p>
            <a:r>
              <a:rPr lang="en-US" sz="1200" i="1">
                <a:solidFill>
                  <a:srgbClr val="555555"/>
                </a:solidFill>
                <a:latin typeface="Inter" pitchFamily="34" charset="0"/>
                <a:ea typeface="Inter" pitchFamily="34" charset="-122"/>
                <a:cs typeface="Inter" pitchFamily="34" charset="-120"/>
              </a:rPr>
              <a:t>inside ICT infrastructure</a:t>
            </a:r>
            <a:endParaRPr lang="en-US" sz="1200"/>
          </a:p>
        </p:txBody>
      </p:sp>
      <p:sp>
        <p:nvSpPr>
          <p:cNvPr id="40" name="Shape 8"/>
          <p:cNvSpPr/>
          <p:nvPr/>
        </p:nvSpPr>
        <p:spPr>
          <a:xfrm>
            <a:off x="689632" y="2623241"/>
            <a:ext cx="2365248" cy="18288"/>
          </a:xfrm>
          <a:prstGeom prst="rect">
            <a:avLst/>
          </a:prstGeom>
          <a:solidFill>
            <a:srgbClr val="D0DDD0"/>
          </a:solidFill>
          <a:ln w="12700">
            <a:solidFill>
              <a:srgbClr val="D0DDD0"/>
            </a:solidFill>
            <a:prstDash val="solid"/>
          </a:ln>
        </p:spPr>
        <p:txBody>
          <a:bodyPr/>
          <a:lstStyle/>
          <a:p>
            <a:endParaRPr lang="en-US" sz="2400"/>
          </a:p>
        </p:txBody>
      </p:sp>
      <p:sp>
        <p:nvSpPr>
          <p:cNvPr id="41" name="Shape 9"/>
          <p:cNvSpPr/>
          <p:nvPr/>
        </p:nvSpPr>
        <p:spPr>
          <a:xfrm>
            <a:off x="689632" y="2659817"/>
            <a:ext cx="2365248" cy="878016"/>
          </a:xfrm>
          <a:prstGeom prst="rect">
            <a:avLst/>
          </a:prstGeom>
          <a:solidFill>
            <a:srgbClr val="E4EFE6"/>
          </a:solidFill>
          <a:ln w="9525">
            <a:solidFill>
              <a:srgbClr val="C8DEC9"/>
            </a:solidFill>
            <a:prstDash val="solid"/>
          </a:ln>
        </p:spPr>
        <p:txBody>
          <a:bodyPr/>
          <a:lstStyle/>
          <a:p>
            <a:endParaRPr lang="en-US" sz="1100"/>
          </a:p>
        </p:txBody>
      </p:sp>
      <p:sp>
        <p:nvSpPr>
          <p:cNvPr id="42" name="Text 10"/>
          <p:cNvSpPr/>
          <p:nvPr/>
        </p:nvSpPr>
        <p:spPr>
          <a:xfrm>
            <a:off x="750592" y="2684201"/>
            <a:ext cx="487680" cy="158496"/>
          </a:xfrm>
          <a:prstGeom prst="rect">
            <a:avLst/>
          </a:prstGeom>
          <a:noFill/>
          <a:ln/>
        </p:spPr>
        <p:txBody>
          <a:bodyPr wrap="square" lIns="0" tIns="0" rIns="0" bIns="0" rtlCol="0" anchor="ctr"/>
          <a:lstStyle/>
          <a:p>
            <a:r>
              <a:rPr lang="en-US" sz="1400" b="1">
                <a:solidFill>
                  <a:srgbClr val="1B4D3E"/>
                </a:solidFill>
                <a:latin typeface="Inter" pitchFamily="34" charset="0"/>
                <a:ea typeface="Inter" pitchFamily="34" charset="-122"/>
                <a:cs typeface="Inter" pitchFamily="34" charset="-120"/>
              </a:rPr>
              <a:t>EDGE</a:t>
            </a:r>
            <a:endParaRPr lang="en-US" sz="1400"/>
          </a:p>
        </p:txBody>
      </p:sp>
      <p:sp>
        <p:nvSpPr>
          <p:cNvPr id="44" name="Text 11"/>
          <p:cNvSpPr/>
          <p:nvPr/>
        </p:nvSpPr>
        <p:spPr>
          <a:xfrm>
            <a:off x="750592" y="2882025"/>
            <a:ext cx="2267712" cy="463296"/>
          </a:xfrm>
          <a:prstGeom prst="rect">
            <a:avLst/>
          </a:prstGeom>
          <a:noFill/>
          <a:ln/>
        </p:spPr>
        <p:txBody>
          <a:bodyPr wrap="square" lIns="0" tIns="0" rIns="0" bIns="0" rtlCol="0" anchor="t"/>
          <a:lstStyle/>
          <a:p>
            <a:r>
              <a:rPr lang="en-US" sz="1200" i="1">
                <a:solidFill>
                  <a:srgbClr val="1B4D3E"/>
                </a:solidFill>
                <a:latin typeface="Inter" pitchFamily="34" charset="0"/>
                <a:ea typeface="Inter" pitchFamily="34" charset="-122"/>
                <a:cs typeface="Inter" pitchFamily="34" charset="-120"/>
              </a:rPr>
              <a:t>Finds companies with latent ICT relevance before they trade as such</a:t>
            </a:r>
            <a:endParaRPr lang="en-US" sz="1200"/>
          </a:p>
        </p:txBody>
      </p:sp>
      <p:sp>
        <p:nvSpPr>
          <p:cNvPr id="45" name="Shape 12"/>
          <p:cNvSpPr/>
          <p:nvPr/>
        </p:nvSpPr>
        <p:spPr>
          <a:xfrm>
            <a:off x="689632" y="3546289"/>
            <a:ext cx="2365248" cy="18288"/>
          </a:xfrm>
          <a:prstGeom prst="rect">
            <a:avLst/>
          </a:prstGeom>
          <a:solidFill>
            <a:srgbClr val="D0DDD0"/>
          </a:solidFill>
          <a:ln w="12700">
            <a:solidFill>
              <a:srgbClr val="D0DDD0"/>
            </a:solidFill>
            <a:prstDash val="solid"/>
          </a:ln>
        </p:spPr>
        <p:txBody>
          <a:bodyPr/>
          <a:lstStyle/>
          <a:p>
            <a:endParaRPr lang="en-US" sz="2400"/>
          </a:p>
        </p:txBody>
      </p:sp>
      <p:sp>
        <p:nvSpPr>
          <p:cNvPr id="46" name="Text 13"/>
          <p:cNvSpPr/>
          <p:nvPr/>
        </p:nvSpPr>
        <p:spPr>
          <a:xfrm>
            <a:off x="689632" y="3705569"/>
            <a:ext cx="1158240" cy="658368"/>
          </a:xfrm>
          <a:prstGeom prst="rect">
            <a:avLst/>
          </a:prstGeom>
          <a:noFill/>
          <a:ln/>
        </p:spPr>
        <p:txBody>
          <a:bodyPr wrap="square" lIns="0" tIns="0" rIns="0" bIns="0" rtlCol="0" anchor="ctr"/>
          <a:lstStyle/>
          <a:p>
            <a:r>
              <a:rPr lang="en-US" sz="3800" b="1">
                <a:solidFill>
                  <a:srgbClr val="1B4D3E"/>
                </a:solidFill>
                <a:latin typeface="Inter" pitchFamily="34" charset="0"/>
                <a:ea typeface="Inter" pitchFamily="34" charset="-122"/>
                <a:cs typeface="Inter" pitchFamily="34" charset="-120"/>
              </a:rPr>
              <a:t>20+</a:t>
            </a:r>
            <a:endParaRPr lang="en-US" sz="3800"/>
          </a:p>
        </p:txBody>
      </p:sp>
      <p:sp>
        <p:nvSpPr>
          <p:cNvPr id="47" name="Text 14"/>
          <p:cNvSpPr/>
          <p:nvPr/>
        </p:nvSpPr>
        <p:spPr>
          <a:xfrm>
            <a:off x="1678561" y="3678825"/>
            <a:ext cx="1412895" cy="658368"/>
          </a:xfrm>
          <a:prstGeom prst="rect">
            <a:avLst/>
          </a:prstGeom>
          <a:noFill/>
          <a:ln/>
        </p:spPr>
        <p:txBody>
          <a:bodyPr wrap="square" lIns="0" tIns="0" rIns="0" bIns="0" rtlCol="0" anchor="ctr"/>
          <a:lstStyle/>
          <a:p>
            <a:r>
              <a:rPr lang="en-US" sz="1200">
                <a:solidFill>
                  <a:srgbClr val="2C2C2C"/>
                </a:solidFill>
                <a:latin typeface="Inter" pitchFamily="34" charset="0"/>
                <a:ea typeface="Inter" pitchFamily="34" charset="-122"/>
                <a:cs typeface="Inter" pitchFamily="34" charset="-120"/>
              </a:rPr>
              <a:t>years inside ICT &amp;</a:t>
            </a:r>
            <a:endParaRPr lang="en-US" sz="1200"/>
          </a:p>
          <a:p>
            <a:r>
              <a:rPr lang="en-US" sz="1200">
                <a:solidFill>
                  <a:srgbClr val="2C2C2C"/>
                </a:solidFill>
                <a:latin typeface="Inter" pitchFamily="34" charset="0"/>
                <a:ea typeface="Inter" pitchFamily="34" charset="-122"/>
                <a:cs typeface="Inter" pitchFamily="34" charset="-120"/>
              </a:rPr>
              <a:t>hyperscale supply chains</a:t>
            </a:r>
            <a:endParaRPr lang="en-US" sz="1200"/>
          </a:p>
        </p:txBody>
      </p:sp>
      <p:sp>
        <p:nvSpPr>
          <p:cNvPr id="48" name="Shape 15"/>
          <p:cNvSpPr/>
          <p:nvPr/>
        </p:nvSpPr>
        <p:spPr>
          <a:xfrm>
            <a:off x="689632" y="4424897"/>
            <a:ext cx="2365248" cy="18288"/>
          </a:xfrm>
          <a:prstGeom prst="rect">
            <a:avLst/>
          </a:prstGeom>
          <a:solidFill>
            <a:srgbClr val="D0DDD0"/>
          </a:solidFill>
          <a:ln w="12700">
            <a:solidFill>
              <a:srgbClr val="D0DDD0"/>
            </a:solidFill>
            <a:prstDash val="solid"/>
          </a:ln>
        </p:spPr>
        <p:txBody>
          <a:bodyPr/>
          <a:lstStyle/>
          <a:p>
            <a:endParaRPr lang="en-US" sz="2400"/>
          </a:p>
        </p:txBody>
      </p:sp>
      <p:sp>
        <p:nvSpPr>
          <p:cNvPr id="49" name="Text 16"/>
          <p:cNvSpPr/>
          <p:nvPr/>
        </p:nvSpPr>
        <p:spPr>
          <a:xfrm>
            <a:off x="689632" y="4634134"/>
            <a:ext cx="2365248" cy="1211334"/>
          </a:xfrm>
          <a:prstGeom prst="rect">
            <a:avLst/>
          </a:prstGeom>
          <a:noFill/>
          <a:ln/>
        </p:spPr>
        <p:txBody>
          <a:bodyPr wrap="square" lIns="0" tIns="0" rIns="0" bIns="0" rtlCol="0" anchor="t"/>
          <a:lstStyle/>
          <a:p>
            <a:r>
              <a:rPr lang="en-US" sz="1200">
                <a:solidFill>
                  <a:srgbClr val="444444"/>
                </a:solidFill>
                <a:latin typeface="Inter" pitchFamily="34" charset="0"/>
                <a:ea typeface="Inter" pitchFamily="34" charset="-122"/>
                <a:cs typeface="Inter" pitchFamily="34" charset="-120"/>
              </a:rPr>
              <a:t>CE mfg. &amp; supply chain growth $114M→$1.2B · Advanced Manufacturer, hyperscale pivot 2017 · 20+ yrs OEM relationships</a:t>
            </a:r>
            <a:endParaRPr lang="en-US" sz="1200"/>
          </a:p>
        </p:txBody>
      </p:sp>
      <p:sp>
        <p:nvSpPr>
          <p:cNvPr id="50" name="Shape 17"/>
          <p:cNvSpPr/>
          <p:nvPr/>
        </p:nvSpPr>
        <p:spPr>
          <a:xfrm>
            <a:off x="3343831" y="1602652"/>
            <a:ext cx="2682240" cy="4066032"/>
          </a:xfrm>
          <a:prstGeom prst="rect">
            <a:avLst/>
          </a:prstGeom>
          <a:solidFill>
            <a:schemeClr val="accent3">
              <a:lumMod val="20000"/>
              <a:lumOff val="80000"/>
            </a:schemeClr>
          </a:solidFill>
          <a:ln w="9525">
            <a:solidFill>
              <a:srgbClr val="D0DDD0"/>
            </a:solidFill>
            <a:prstDash val="solid"/>
          </a:ln>
          <a:effectLst>
            <a:outerShdw blurRad="63500" dist="25400" dir="8100000" algn="bl" rotWithShape="0">
              <a:srgbClr val="999999">
                <a:alpha val="13000"/>
              </a:srgbClr>
            </a:outerShdw>
          </a:effectLst>
        </p:spPr>
        <p:txBody>
          <a:bodyPr/>
          <a:lstStyle/>
          <a:p>
            <a:endParaRPr lang="en-US" sz="2400"/>
          </a:p>
        </p:txBody>
      </p:sp>
      <p:sp>
        <p:nvSpPr>
          <p:cNvPr id="51" name="Shape 18"/>
          <p:cNvSpPr/>
          <p:nvPr/>
        </p:nvSpPr>
        <p:spPr>
          <a:xfrm>
            <a:off x="3343831" y="1602652"/>
            <a:ext cx="2682240" cy="79248"/>
          </a:xfrm>
          <a:prstGeom prst="rect">
            <a:avLst/>
          </a:prstGeom>
          <a:solidFill>
            <a:srgbClr val="1B4D3E"/>
          </a:solidFill>
          <a:ln w="12700">
            <a:solidFill>
              <a:srgbClr val="1B4D3E"/>
            </a:solidFill>
            <a:prstDash val="solid"/>
          </a:ln>
        </p:spPr>
        <p:txBody>
          <a:bodyPr/>
          <a:lstStyle/>
          <a:p>
            <a:endParaRPr lang="en-US" sz="2400"/>
          </a:p>
        </p:txBody>
      </p:sp>
      <p:sp>
        <p:nvSpPr>
          <p:cNvPr id="52" name="Text 19"/>
          <p:cNvSpPr/>
          <p:nvPr/>
        </p:nvSpPr>
        <p:spPr>
          <a:xfrm>
            <a:off x="3502327" y="1712380"/>
            <a:ext cx="316992" cy="292608"/>
          </a:xfrm>
          <a:prstGeom prst="rect">
            <a:avLst/>
          </a:prstGeom>
          <a:noFill/>
          <a:ln/>
        </p:spPr>
        <p:txBody>
          <a:bodyPr wrap="square" lIns="0" tIns="0" rIns="0" bIns="0" rtlCol="0" anchor="ctr"/>
          <a:lstStyle/>
          <a:p>
            <a:r>
              <a:rPr lang="en-US" sz="1200" b="1">
                <a:solidFill>
                  <a:srgbClr val="1B4D3E"/>
                </a:solidFill>
                <a:latin typeface="Inter" pitchFamily="34" charset="0"/>
                <a:ea typeface="Inter" pitchFamily="34" charset="-122"/>
                <a:cs typeface="Inter" pitchFamily="34" charset="-120"/>
              </a:rPr>
              <a:t>02</a:t>
            </a:r>
            <a:endParaRPr lang="en-US" sz="1200"/>
          </a:p>
        </p:txBody>
      </p:sp>
      <p:sp>
        <p:nvSpPr>
          <p:cNvPr id="54" name="Text 20"/>
          <p:cNvSpPr/>
          <p:nvPr/>
        </p:nvSpPr>
        <p:spPr>
          <a:xfrm>
            <a:off x="3782743" y="1712380"/>
            <a:ext cx="2084832" cy="292608"/>
          </a:xfrm>
          <a:prstGeom prst="rect">
            <a:avLst/>
          </a:prstGeom>
          <a:noFill/>
          <a:ln/>
        </p:spPr>
        <p:txBody>
          <a:bodyPr wrap="square" lIns="0" tIns="0" rIns="0" bIns="0" rtlCol="0" anchor="ctr"/>
          <a:lstStyle/>
          <a:p>
            <a:r>
              <a:rPr lang="en-US" sz="1600" b="1">
                <a:solidFill>
                  <a:srgbClr val="1B4D3E"/>
                </a:solidFill>
                <a:latin typeface="Inter" pitchFamily="34" charset="0"/>
                <a:ea typeface="Inter" pitchFamily="34" charset="-122"/>
                <a:cs typeface="Inter" pitchFamily="34" charset="-120"/>
              </a:rPr>
              <a:t>UNDERWRITING</a:t>
            </a:r>
            <a:endParaRPr lang="en-US" sz="1600"/>
          </a:p>
        </p:txBody>
      </p:sp>
      <p:sp>
        <p:nvSpPr>
          <p:cNvPr id="55" name="Text 21"/>
          <p:cNvSpPr/>
          <p:nvPr/>
        </p:nvSpPr>
        <p:spPr>
          <a:xfrm>
            <a:off x="3502327" y="2041564"/>
            <a:ext cx="2365248" cy="390144"/>
          </a:xfrm>
          <a:prstGeom prst="rect">
            <a:avLst/>
          </a:prstGeom>
          <a:noFill/>
          <a:ln/>
        </p:spPr>
        <p:txBody>
          <a:bodyPr wrap="square" lIns="0" tIns="0" rIns="0" bIns="0" rtlCol="0" anchor="t"/>
          <a:lstStyle/>
          <a:p>
            <a:r>
              <a:rPr lang="en-US" sz="1200" i="1">
                <a:solidFill>
                  <a:srgbClr val="555555"/>
                </a:solidFill>
                <a:latin typeface="Inter" pitchFamily="34" charset="0"/>
                <a:ea typeface="Inter" pitchFamily="34" charset="-122"/>
                <a:cs typeface="Inter" pitchFamily="34" charset="-120"/>
              </a:rPr>
              <a:t>Investor and operator diligence</a:t>
            </a:r>
            <a:endParaRPr lang="en-US" sz="1200"/>
          </a:p>
          <a:p>
            <a:r>
              <a:rPr lang="en-US" sz="1200" i="1">
                <a:solidFill>
                  <a:srgbClr val="555555"/>
                </a:solidFill>
                <a:latin typeface="Inter" pitchFamily="34" charset="0"/>
                <a:ea typeface="Inter" pitchFamily="34" charset="-122"/>
                <a:cs typeface="Inter" pitchFamily="34" charset="-120"/>
              </a:rPr>
              <a:t>perspectives combined</a:t>
            </a:r>
            <a:endParaRPr lang="en-US" sz="1200"/>
          </a:p>
        </p:txBody>
      </p:sp>
      <p:sp>
        <p:nvSpPr>
          <p:cNvPr id="58" name="Shape 22"/>
          <p:cNvSpPr/>
          <p:nvPr/>
        </p:nvSpPr>
        <p:spPr>
          <a:xfrm>
            <a:off x="3502327" y="2623241"/>
            <a:ext cx="2365248" cy="18288"/>
          </a:xfrm>
          <a:prstGeom prst="rect">
            <a:avLst/>
          </a:prstGeom>
          <a:solidFill>
            <a:srgbClr val="D0DDD0"/>
          </a:solidFill>
          <a:ln w="12700">
            <a:solidFill>
              <a:srgbClr val="D0DDD0"/>
            </a:solidFill>
            <a:prstDash val="solid"/>
          </a:ln>
        </p:spPr>
        <p:txBody>
          <a:bodyPr/>
          <a:lstStyle/>
          <a:p>
            <a:endParaRPr lang="en-US" sz="2400"/>
          </a:p>
        </p:txBody>
      </p:sp>
      <p:sp>
        <p:nvSpPr>
          <p:cNvPr id="59" name="Shape 23"/>
          <p:cNvSpPr/>
          <p:nvPr/>
        </p:nvSpPr>
        <p:spPr>
          <a:xfrm>
            <a:off x="3502327" y="2659817"/>
            <a:ext cx="2365248" cy="896304"/>
          </a:xfrm>
          <a:prstGeom prst="rect">
            <a:avLst/>
          </a:prstGeom>
          <a:solidFill>
            <a:srgbClr val="E4EFE6"/>
          </a:solidFill>
          <a:ln w="9525">
            <a:solidFill>
              <a:srgbClr val="C8DEC9"/>
            </a:solidFill>
            <a:prstDash val="solid"/>
          </a:ln>
        </p:spPr>
        <p:txBody>
          <a:bodyPr/>
          <a:lstStyle/>
          <a:p>
            <a:endParaRPr lang="en-US" sz="1100"/>
          </a:p>
        </p:txBody>
      </p:sp>
      <p:sp>
        <p:nvSpPr>
          <p:cNvPr id="60" name="Text 24"/>
          <p:cNvSpPr/>
          <p:nvPr/>
        </p:nvSpPr>
        <p:spPr>
          <a:xfrm>
            <a:off x="3563287" y="2684201"/>
            <a:ext cx="487680" cy="158496"/>
          </a:xfrm>
          <a:prstGeom prst="rect">
            <a:avLst/>
          </a:prstGeom>
          <a:noFill/>
          <a:ln/>
        </p:spPr>
        <p:txBody>
          <a:bodyPr wrap="square" lIns="0" tIns="0" rIns="0" bIns="0" rtlCol="0" anchor="ctr"/>
          <a:lstStyle/>
          <a:p>
            <a:r>
              <a:rPr lang="en-US" sz="1400" b="1">
                <a:solidFill>
                  <a:srgbClr val="1B4D3E"/>
                </a:solidFill>
                <a:latin typeface="Inter" pitchFamily="34" charset="0"/>
                <a:ea typeface="Inter" pitchFamily="34" charset="-122"/>
                <a:cs typeface="Inter" pitchFamily="34" charset="-120"/>
              </a:rPr>
              <a:t>EDGE</a:t>
            </a:r>
            <a:endParaRPr lang="en-US" sz="1400"/>
          </a:p>
        </p:txBody>
      </p:sp>
      <p:sp>
        <p:nvSpPr>
          <p:cNvPr id="61" name="Text 25"/>
          <p:cNvSpPr/>
          <p:nvPr/>
        </p:nvSpPr>
        <p:spPr>
          <a:xfrm>
            <a:off x="3563287" y="2882025"/>
            <a:ext cx="2267712" cy="627888"/>
          </a:xfrm>
          <a:prstGeom prst="rect">
            <a:avLst/>
          </a:prstGeom>
          <a:noFill/>
          <a:ln/>
        </p:spPr>
        <p:txBody>
          <a:bodyPr wrap="square" lIns="0" tIns="0" rIns="0" bIns="0" rtlCol="0" anchor="t"/>
          <a:lstStyle/>
          <a:p>
            <a:r>
              <a:rPr lang="en-US" sz="1200" i="1">
                <a:solidFill>
                  <a:srgbClr val="1B4D3E"/>
                </a:solidFill>
                <a:latin typeface="Inter" pitchFamily="34" charset="0"/>
                <a:ea typeface="Inter" pitchFamily="34" charset="-122"/>
                <a:cs typeface="Inter" pitchFamily="34" charset="-120"/>
              </a:rPr>
              <a:t>Closes the gap between CIM EBITDA and operational reality before we bid</a:t>
            </a:r>
            <a:endParaRPr lang="en-US" sz="1200"/>
          </a:p>
        </p:txBody>
      </p:sp>
      <p:sp>
        <p:nvSpPr>
          <p:cNvPr id="62" name="Shape 26"/>
          <p:cNvSpPr/>
          <p:nvPr/>
        </p:nvSpPr>
        <p:spPr>
          <a:xfrm>
            <a:off x="3502327" y="3556121"/>
            <a:ext cx="2365248" cy="18288"/>
          </a:xfrm>
          <a:prstGeom prst="rect">
            <a:avLst/>
          </a:prstGeom>
          <a:solidFill>
            <a:srgbClr val="D0DDD0"/>
          </a:solidFill>
          <a:ln w="12700">
            <a:solidFill>
              <a:srgbClr val="D0DDD0"/>
            </a:solidFill>
            <a:prstDash val="solid"/>
          </a:ln>
        </p:spPr>
        <p:txBody>
          <a:bodyPr/>
          <a:lstStyle/>
          <a:p>
            <a:endParaRPr lang="en-US" sz="2400"/>
          </a:p>
        </p:txBody>
      </p:sp>
      <p:sp>
        <p:nvSpPr>
          <p:cNvPr id="63" name="Text 27"/>
          <p:cNvSpPr/>
          <p:nvPr/>
        </p:nvSpPr>
        <p:spPr>
          <a:xfrm>
            <a:off x="3502327" y="3705569"/>
            <a:ext cx="1158240" cy="658368"/>
          </a:xfrm>
          <a:prstGeom prst="rect">
            <a:avLst/>
          </a:prstGeom>
          <a:noFill/>
          <a:ln/>
        </p:spPr>
        <p:txBody>
          <a:bodyPr wrap="square" lIns="0" tIns="0" rIns="0" bIns="0" rtlCol="0" anchor="ctr"/>
          <a:lstStyle/>
          <a:p>
            <a:r>
              <a:rPr lang="en-US" sz="3800" b="1">
                <a:solidFill>
                  <a:srgbClr val="1B4D3E"/>
                </a:solidFill>
                <a:latin typeface="Inter" pitchFamily="34" charset="0"/>
                <a:ea typeface="Inter" pitchFamily="34" charset="-122"/>
                <a:cs typeface="Inter" pitchFamily="34" charset="-120"/>
              </a:rPr>
              <a:t>30+</a:t>
            </a:r>
            <a:endParaRPr lang="en-US" sz="3800"/>
          </a:p>
        </p:txBody>
      </p:sp>
      <p:sp>
        <p:nvSpPr>
          <p:cNvPr id="64" name="Text 28"/>
          <p:cNvSpPr/>
          <p:nvPr/>
        </p:nvSpPr>
        <p:spPr>
          <a:xfrm>
            <a:off x="4479836" y="3678825"/>
            <a:ext cx="1452891" cy="658368"/>
          </a:xfrm>
          <a:prstGeom prst="rect">
            <a:avLst/>
          </a:prstGeom>
          <a:noFill/>
          <a:ln/>
        </p:spPr>
        <p:txBody>
          <a:bodyPr wrap="square" lIns="0" tIns="0" rIns="0" bIns="0" rtlCol="0" anchor="ctr"/>
          <a:lstStyle/>
          <a:p>
            <a:r>
              <a:rPr lang="en-US" sz="1200">
                <a:solidFill>
                  <a:srgbClr val="2C2C2C"/>
                </a:solidFill>
                <a:latin typeface="Inter" pitchFamily="34" charset="0"/>
                <a:ea typeface="Inter" pitchFamily="34" charset="-122"/>
                <a:cs typeface="Inter" pitchFamily="34" charset="-120"/>
              </a:rPr>
              <a:t>QofE &amp; operational </a:t>
            </a:r>
            <a:endParaRPr lang="en-US" sz="1200"/>
          </a:p>
          <a:p>
            <a:r>
              <a:rPr lang="en-US" sz="1200">
                <a:solidFill>
                  <a:srgbClr val="2C2C2C"/>
                </a:solidFill>
                <a:latin typeface="Inter" pitchFamily="34" charset="0"/>
                <a:ea typeface="Inter" pitchFamily="34" charset="-122"/>
                <a:cs typeface="Inter" pitchFamily="34" charset="-120"/>
              </a:rPr>
              <a:t>diligence engagements</a:t>
            </a:r>
            <a:endParaRPr lang="en-US" sz="1200"/>
          </a:p>
        </p:txBody>
      </p:sp>
      <p:sp>
        <p:nvSpPr>
          <p:cNvPr id="65" name="Shape 29"/>
          <p:cNvSpPr/>
          <p:nvPr/>
        </p:nvSpPr>
        <p:spPr>
          <a:xfrm>
            <a:off x="3502327" y="4424897"/>
            <a:ext cx="2365248" cy="18288"/>
          </a:xfrm>
          <a:prstGeom prst="rect">
            <a:avLst/>
          </a:prstGeom>
          <a:solidFill>
            <a:srgbClr val="D0DDD0"/>
          </a:solidFill>
          <a:ln w="12700">
            <a:solidFill>
              <a:srgbClr val="D0DDD0"/>
            </a:solidFill>
            <a:prstDash val="solid"/>
          </a:ln>
        </p:spPr>
        <p:txBody>
          <a:bodyPr/>
          <a:lstStyle/>
          <a:p>
            <a:endParaRPr lang="en-US" sz="2400"/>
          </a:p>
        </p:txBody>
      </p:sp>
      <p:sp>
        <p:nvSpPr>
          <p:cNvPr id="66" name="Text 30"/>
          <p:cNvSpPr/>
          <p:nvPr/>
        </p:nvSpPr>
        <p:spPr>
          <a:xfrm>
            <a:off x="3502327" y="4634134"/>
            <a:ext cx="2365248" cy="1211334"/>
          </a:xfrm>
          <a:prstGeom prst="rect">
            <a:avLst/>
          </a:prstGeom>
          <a:noFill/>
          <a:ln/>
        </p:spPr>
        <p:txBody>
          <a:bodyPr wrap="square" lIns="0" tIns="0" rIns="0" bIns="0" rtlCol="0" anchor="t"/>
          <a:lstStyle/>
          <a:p>
            <a:r>
              <a:rPr lang="en-US" sz="1200">
                <a:solidFill>
                  <a:srgbClr val="444444"/>
                </a:solidFill>
                <a:latin typeface="Inter" pitchFamily="34" charset="0"/>
                <a:ea typeface="Inter" pitchFamily="34" charset="-122"/>
                <a:cs typeface="Inter" pitchFamily="34" charset="-120"/>
              </a:rPr>
              <a:t>IC member at Watermill · 8+ interim</a:t>
            </a:r>
            <a:r>
              <a:rPr lang="en-US" sz="1200"/>
              <a:t> </a:t>
            </a:r>
            <a:r>
              <a:rPr lang="en-US" sz="1200">
                <a:solidFill>
                  <a:srgbClr val="444444"/>
                </a:solidFill>
                <a:latin typeface="Inter" pitchFamily="34" charset="0"/>
                <a:ea typeface="Inter" pitchFamily="34" charset="-122"/>
                <a:cs typeface="Inter" pitchFamily="34" charset="-120"/>
              </a:rPr>
              <a:t>CFO/COO roles · Seen the downside</a:t>
            </a:r>
            <a:endParaRPr lang="en-US" sz="1200"/>
          </a:p>
        </p:txBody>
      </p:sp>
      <p:sp>
        <p:nvSpPr>
          <p:cNvPr id="67" name="Shape 31"/>
          <p:cNvSpPr/>
          <p:nvPr/>
        </p:nvSpPr>
        <p:spPr>
          <a:xfrm>
            <a:off x="6156525" y="1602652"/>
            <a:ext cx="2682240" cy="4066032"/>
          </a:xfrm>
          <a:prstGeom prst="rect">
            <a:avLst/>
          </a:prstGeom>
          <a:solidFill>
            <a:schemeClr val="accent3">
              <a:lumMod val="20000"/>
              <a:lumOff val="80000"/>
            </a:schemeClr>
          </a:solidFill>
          <a:ln w="19050">
            <a:solidFill>
              <a:srgbClr val="41AC48"/>
            </a:solidFill>
            <a:prstDash val="solid"/>
          </a:ln>
          <a:effectLst>
            <a:outerShdw blurRad="63500" dist="25400" dir="8100000" algn="bl" rotWithShape="0">
              <a:srgbClr val="999999">
                <a:alpha val="13000"/>
              </a:srgbClr>
            </a:outerShdw>
          </a:effectLst>
        </p:spPr>
        <p:txBody>
          <a:bodyPr/>
          <a:lstStyle/>
          <a:p>
            <a:endParaRPr lang="en-US" sz="2400"/>
          </a:p>
        </p:txBody>
      </p:sp>
      <p:sp>
        <p:nvSpPr>
          <p:cNvPr id="68" name="Shape 32"/>
          <p:cNvSpPr/>
          <p:nvPr/>
        </p:nvSpPr>
        <p:spPr>
          <a:xfrm>
            <a:off x="6156525" y="1602652"/>
            <a:ext cx="2682240" cy="79248"/>
          </a:xfrm>
          <a:prstGeom prst="rect">
            <a:avLst/>
          </a:prstGeom>
          <a:solidFill>
            <a:srgbClr val="41AC48"/>
          </a:solidFill>
          <a:ln w="12700">
            <a:solidFill>
              <a:srgbClr val="41AC48"/>
            </a:solidFill>
            <a:prstDash val="solid"/>
          </a:ln>
        </p:spPr>
        <p:txBody>
          <a:bodyPr/>
          <a:lstStyle/>
          <a:p>
            <a:endParaRPr lang="en-US" sz="2400"/>
          </a:p>
        </p:txBody>
      </p:sp>
      <p:sp>
        <p:nvSpPr>
          <p:cNvPr id="69" name="Text 33"/>
          <p:cNvSpPr/>
          <p:nvPr/>
        </p:nvSpPr>
        <p:spPr>
          <a:xfrm>
            <a:off x="6315021" y="1712380"/>
            <a:ext cx="316992" cy="292608"/>
          </a:xfrm>
          <a:prstGeom prst="rect">
            <a:avLst/>
          </a:prstGeom>
          <a:noFill/>
          <a:ln/>
        </p:spPr>
        <p:txBody>
          <a:bodyPr wrap="square" lIns="0" tIns="0" rIns="0" bIns="0" rtlCol="0" anchor="ctr"/>
          <a:lstStyle/>
          <a:p>
            <a:r>
              <a:rPr lang="en-US" sz="1200" b="1">
                <a:solidFill>
                  <a:srgbClr val="41AC48"/>
                </a:solidFill>
                <a:latin typeface="Inter" pitchFamily="34" charset="0"/>
                <a:ea typeface="Inter" pitchFamily="34" charset="-122"/>
                <a:cs typeface="Inter" pitchFamily="34" charset="-120"/>
              </a:rPr>
              <a:t>03</a:t>
            </a:r>
            <a:endParaRPr lang="en-US" sz="1200"/>
          </a:p>
        </p:txBody>
      </p:sp>
      <p:sp>
        <p:nvSpPr>
          <p:cNvPr id="70" name="Text 34"/>
          <p:cNvSpPr/>
          <p:nvPr/>
        </p:nvSpPr>
        <p:spPr>
          <a:xfrm>
            <a:off x="6595437" y="1712380"/>
            <a:ext cx="2084832" cy="292608"/>
          </a:xfrm>
          <a:prstGeom prst="rect">
            <a:avLst/>
          </a:prstGeom>
          <a:noFill/>
          <a:ln/>
        </p:spPr>
        <p:txBody>
          <a:bodyPr wrap="square" lIns="0" tIns="0" rIns="0" bIns="0" rtlCol="0" anchor="ctr"/>
          <a:lstStyle/>
          <a:p>
            <a:r>
              <a:rPr lang="en-US" sz="1600" b="1">
                <a:solidFill>
                  <a:srgbClr val="41AC48"/>
                </a:solidFill>
                <a:latin typeface="Inter" pitchFamily="34" charset="0"/>
                <a:ea typeface="Inter" pitchFamily="34" charset="-122"/>
                <a:cs typeface="Inter" pitchFamily="34" charset="-120"/>
              </a:rPr>
              <a:t>VALUE CREATION</a:t>
            </a:r>
            <a:endParaRPr lang="en-US" sz="1600"/>
          </a:p>
        </p:txBody>
      </p:sp>
      <p:sp>
        <p:nvSpPr>
          <p:cNvPr id="71" name="Text 35"/>
          <p:cNvSpPr/>
          <p:nvPr/>
        </p:nvSpPr>
        <p:spPr>
          <a:xfrm>
            <a:off x="6315021" y="2041564"/>
            <a:ext cx="2365248" cy="390144"/>
          </a:xfrm>
          <a:prstGeom prst="rect">
            <a:avLst/>
          </a:prstGeom>
          <a:noFill/>
          <a:ln/>
        </p:spPr>
        <p:txBody>
          <a:bodyPr wrap="square" lIns="0" tIns="0" rIns="0" bIns="0" rtlCol="0" anchor="t"/>
          <a:lstStyle/>
          <a:p>
            <a:r>
              <a:rPr lang="en-US" sz="1200" i="1">
                <a:solidFill>
                  <a:srgbClr val="555555"/>
                </a:solidFill>
                <a:latin typeface="Inter" pitchFamily="34" charset="0"/>
                <a:ea typeface="Inter" pitchFamily="34" charset="-122"/>
                <a:cs typeface="Inter" pitchFamily="34" charset="-120"/>
              </a:rPr>
              <a:t>Professionalizing founder-led</a:t>
            </a:r>
            <a:endParaRPr lang="en-US" sz="1200"/>
          </a:p>
          <a:p>
            <a:r>
              <a:rPr lang="en-US" sz="1200" i="1">
                <a:solidFill>
                  <a:srgbClr val="555555"/>
                </a:solidFill>
                <a:latin typeface="Inter" pitchFamily="34" charset="0"/>
                <a:ea typeface="Inter" pitchFamily="34" charset="-122"/>
                <a:cs typeface="Inter" pitchFamily="34" charset="-120"/>
              </a:rPr>
              <a:t>businesses for scale</a:t>
            </a:r>
            <a:endParaRPr lang="en-US" sz="1200"/>
          </a:p>
        </p:txBody>
      </p:sp>
      <p:sp>
        <p:nvSpPr>
          <p:cNvPr id="72" name="Shape 36"/>
          <p:cNvSpPr/>
          <p:nvPr/>
        </p:nvSpPr>
        <p:spPr>
          <a:xfrm>
            <a:off x="6315021" y="2623241"/>
            <a:ext cx="2365248" cy="18288"/>
          </a:xfrm>
          <a:prstGeom prst="rect">
            <a:avLst/>
          </a:prstGeom>
          <a:solidFill>
            <a:srgbClr val="41AC48"/>
          </a:solidFill>
          <a:ln w="12700">
            <a:solidFill>
              <a:srgbClr val="41AC48"/>
            </a:solidFill>
            <a:prstDash val="solid"/>
          </a:ln>
        </p:spPr>
        <p:txBody>
          <a:bodyPr/>
          <a:lstStyle/>
          <a:p>
            <a:endParaRPr lang="en-US" sz="2400"/>
          </a:p>
        </p:txBody>
      </p:sp>
      <p:sp>
        <p:nvSpPr>
          <p:cNvPr id="73" name="Shape 37"/>
          <p:cNvSpPr/>
          <p:nvPr/>
        </p:nvSpPr>
        <p:spPr>
          <a:xfrm>
            <a:off x="6315021" y="2659817"/>
            <a:ext cx="2365248" cy="896304"/>
          </a:xfrm>
          <a:prstGeom prst="rect">
            <a:avLst/>
          </a:prstGeom>
          <a:solidFill>
            <a:srgbClr val="E4EFE6"/>
          </a:solidFill>
          <a:ln w="9525">
            <a:solidFill>
              <a:srgbClr val="41AC48"/>
            </a:solidFill>
            <a:prstDash val="solid"/>
          </a:ln>
        </p:spPr>
        <p:txBody>
          <a:bodyPr/>
          <a:lstStyle/>
          <a:p>
            <a:endParaRPr lang="en-US" sz="1100"/>
          </a:p>
        </p:txBody>
      </p:sp>
      <p:sp>
        <p:nvSpPr>
          <p:cNvPr id="74" name="Text 38"/>
          <p:cNvSpPr/>
          <p:nvPr/>
        </p:nvSpPr>
        <p:spPr>
          <a:xfrm>
            <a:off x="6375981" y="2684201"/>
            <a:ext cx="487680" cy="158496"/>
          </a:xfrm>
          <a:prstGeom prst="rect">
            <a:avLst/>
          </a:prstGeom>
          <a:noFill/>
          <a:ln/>
        </p:spPr>
        <p:txBody>
          <a:bodyPr wrap="square" lIns="0" tIns="0" rIns="0" bIns="0" rtlCol="0" anchor="ctr"/>
          <a:lstStyle/>
          <a:p>
            <a:r>
              <a:rPr lang="en-US" sz="1400" b="1">
                <a:solidFill>
                  <a:srgbClr val="41AC48"/>
                </a:solidFill>
                <a:latin typeface="Inter" pitchFamily="34" charset="0"/>
                <a:ea typeface="Inter" pitchFamily="34" charset="-122"/>
                <a:cs typeface="Inter" pitchFamily="34" charset="-120"/>
              </a:rPr>
              <a:t>EDGE</a:t>
            </a:r>
            <a:endParaRPr lang="en-US" sz="1400"/>
          </a:p>
        </p:txBody>
      </p:sp>
      <p:sp>
        <p:nvSpPr>
          <p:cNvPr id="75" name="Text 39"/>
          <p:cNvSpPr/>
          <p:nvPr/>
        </p:nvSpPr>
        <p:spPr>
          <a:xfrm>
            <a:off x="6375981" y="2882025"/>
            <a:ext cx="2267712" cy="463296"/>
          </a:xfrm>
          <a:prstGeom prst="rect">
            <a:avLst/>
          </a:prstGeom>
          <a:noFill/>
          <a:ln/>
        </p:spPr>
        <p:txBody>
          <a:bodyPr wrap="square" lIns="0" tIns="0" rIns="0" bIns="0" rtlCol="0" anchor="t"/>
          <a:lstStyle/>
          <a:p>
            <a:r>
              <a:rPr lang="en-US" sz="1200" i="1">
                <a:solidFill>
                  <a:srgbClr val="1B4D3E"/>
                </a:solidFill>
                <a:latin typeface="Inter" pitchFamily="34" charset="0"/>
                <a:ea typeface="Inter" pitchFamily="34" charset="-122"/>
                <a:cs typeface="Inter" pitchFamily="34" charset="-120"/>
              </a:rPr>
              <a:t>Turns founder-led businesses into</a:t>
            </a:r>
            <a:r>
              <a:rPr lang="en-US" sz="1200"/>
              <a:t> </a:t>
            </a:r>
            <a:r>
              <a:rPr lang="en-US" sz="1200" i="1">
                <a:solidFill>
                  <a:srgbClr val="1B4D3E"/>
                </a:solidFill>
                <a:latin typeface="Inter" pitchFamily="34" charset="0"/>
                <a:ea typeface="Inter" pitchFamily="34" charset="-122"/>
                <a:cs typeface="Inter" pitchFamily="34" charset="-120"/>
              </a:rPr>
              <a:t>institutional platforms with pricing power</a:t>
            </a:r>
            <a:endParaRPr lang="en-US" sz="1200"/>
          </a:p>
        </p:txBody>
      </p:sp>
      <p:sp>
        <p:nvSpPr>
          <p:cNvPr id="76" name="Shape 40"/>
          <p:cNvSpPr/>
          <p:nvPr/>
        </p:nvSpPr>
        <p:spPr>
          <a:xfrm>
            <a:off x="6315021" y="3556121"/>
            <a:ext cx="2365248" cy="18288"/>
          </a:xfrm>
          <a:prstGeom prst="rect">
            <a:avLst/>
          </a:prstGeom>
          <a:solidFill>
            <a:srgbClr val="D0DDD0"/>
          </a:solidFill>
          <a:ln w="12700">
            <a:solidFill>
              <a:srgbClr val="D0DDD0"/>
            </a:solidFill>
            <a:prstDash val="solid"/>
          </a:ln>
        </p:spPr>
        <p:txBody>
          <a:bodyPr/>
          <a:lstStyle/>
          <a:p>
            <a:endParaRPr lang="en-US" sz="2400"/>
          </a:p>
        </p:txBody>
      </p:sp>
      <p:sp>
        <p:nvSpPr>
          <p:cNvPr id="77" name="Text 41"/>
          <p:cNvSpPr/>
          <p:nvPr/>
        </p:nvSpPr>
        <p:spPr>
          <a:xfrm>
            <a:off x="6315021" y="3705569"/>
            <a:ext cx="1158240" cy="658368"/>
          </a:xfrm>
          <a:prstGeom prst="rect">
            <a:avLst/>
          </a:prstGeom>
          <a:noFill/>
          <a:ln/>
        </p:spPr>
        <p:txBody>
          <a:bodyPr wrap="square" lIns="0" tIns="0" rIns="0" bIns="0" rtlCol="0" anchor="ctr"/>
          <a:lstStyle/>
          <a:p>
            <a:r>
              <a:rPr lang="en-US" sz="3800" b="1">
                <a:solidFill>
                  <a:srgbClr val="1B4D3E"/>
                </a:solidFill>
                <a:latin typeface="Inter" pitchFamily="34" charset="0"/>
                <a:ea typeface="Inter" pitchFamily="34" charset="-122"/>
                <a:cs typeface="Inter" pitchFamily="34" charset="-120"/>
              </a:rPr>
              <a:t>11</a:t>
            </a:r>
            <a:endParaRPr lang="en-US" sz="3800"/>
          </a:p>
        </p:txBody>
      </p:sp>
      <p:sp>
        <p:nvSpPr>
          <p:cNvPr id="78" name="Text 42"/>
          <p:cNvSpPr/>
          <p:nvPr/>
        </p:nvSpPr>
        <p:spPr>
          <a:xfrm>
            <a:off x="7043827" y="3678825"/>
            <a:ext cx="1673018" cy="658368"/>
          </a:xfrm>
          <a:prstGeom prst="rect">
            <a:avLst/>
          </a:prstGeom>
          <a:noFill/>
          <a:ln/>
        </p:spPr>
        <p:txBody>
          <a:bodyPr wrap="square" lIns="0" tIns="0" rIns="0" bIns="0" rtlCol="0" anchor="ctr"/>
          <a:lstStyle/>
          <a:p>
            <a:r>
              <a:rPr lang="en-US" sz="1200">
                <a:solidFill>
                  <a:srgbClr val="2C2C2C"/>
                </a:solidFill>
                <a:latin typeface="Inter" pitchFamily="34" charset="0"/>
                <a:ea typeface="Inter" pitchFamily="34" charset="-122"/>
                <a:cs typeface="Inter" pitchFamily="34" charset="-120"/>
              </a:rPr>
              <a:t>acquisitions integrated</a:t>
            </a:r>
            <a:endParaRPr lang="en-US" sz="1200"/>
          </a:p>
          <a:p>
            <a:r>
              <a:rPr lang="en-US" sz="1200">
                <a:solidFill>
                  <a:srgbClr val="2C2C2C"/>
                </a:solidFill>
                <a:latin typeface="Inter" pitchFamily="34" charset="0"/>
                <a:ea typeface="Inter" pitchFamily="34" charset="-122"/>
                <a:cs typeface="Inter" pitchFamily="34" charset="-120"/>
              </a:rPr>
              <a:t>in 18 months · $500M+</a:t>
            </a:r>
            <a:endParaRPr lang="en-US" sz="1200"/>
          </a:p>
        </p:txBody>
      </p:sp>
      <p:sp>
        <p:nvSpPr>
          <p:cNvPr id="79" name="Shape 43"/>
          <p:cNvSpPr/>
          <p:nvPr/>
        </p:nvSpPr>
        <p:spPr>
          <a:xfrm>
            <a:off x="6315021" y="4424897"/>
            <a:ext cx="2365248" cy="18288"/>
          </a:xfrm>
          <a:prstGeom prst="rect">
            <a:avLst/>
          </a:prstGeom>
          <a:solidFill>
            <a:srgbClr val="D0DDD0"/>
          </a:solidFill>
          <a:ln w="12700">
            <a:solidFill>
              <a:srgbClr val="D0DDD0"/>
            </a:solidFill>
            <a:prstDash val="solid"/>
          </a:ln>
        </p:spPr>
        <p:txBody>
          <a:bodyPr/>
          <a:lstStyle/>
          <a:p>
            <a:endParaRPr lang="en-US" sz="2400"/>
          </a:p>
        </p:txBody>
      </p:sp>
      <p:sp>
        <p:nvSpPr>
          <p:cNvPr id="80" name="Text 44"/>
          <p:cNvSpPr/>
          <p:nvPr/>
        </p:nvSpPr>
        <p:spPr>
          <a:xfrm>
            <a:off x="6315021" y="4634134"/>
            <a:ext cx="2365248" cy="1211334"/>
          </a:xfrm>
          <a:prstGeom prst="rect">
            <a:avLst/>
          </a:prstGeom>
          <a:noFill/>
          <a:ln/>
        </p:spPr>
        <p:txBody>
          <a:bodyPr wrap="square" lIns="0" tIns="0" rIns="0" bIns="0" rtlCol="0" anchor="t"/>
          <a:lstStyle/>
          <a:p>
            <a:r>
              <a:rPr lang="en-US" sz="1200">
                <a:solidFill>
                  <a:srgbClr val="444444"/>
                </a:solidFill>
                <a:latin typeface="Inter" pitchFamily="34" charset="0"/>
                <a:ea typeface="Inter" pitchFamily="34" charset="-122"/>
                <a:cs typeface="Inter" pitchFamily="34" charset="-120"/>
              </a:rPr>
              <a:t>Advanced Manufacturer -$8M→$22M EBITDA · Platform build 23 facilities · +300 bps margin</a:t>
            </a:r>
            <a:endParaRPr lang="en-US" sz="1200"/>
          </a:p>
        </p:txBody>
      </p:sp>
      <p:sp>
        <p:nvSpPr>
          <p:cNvPr id="81" name="Shape 45"/>
          <p:cNvSpPr/>
          <p:nvPr/>
        </p:nvSpPr>
        <p:spPr>
          <a:xfrm>
            <a:off x="8969219" y="1602652"/>
            <a:ext cx="2682240" cy="4066032"/>
          </a:xfrm>
          <a:prstGeom prst="rect">
            <a:avLst/>
          </a:prstGeom>
          <a:solidFill>
            <a:schemeClr val="accent3">
              <a:lumMod val="20000"/>
              <a:lumOff val="80000"/>
            </a:schemeClr>
          </a:solidFill>
          <a:ln w="9525">
            <a:solidFill>
              <a:srgbClr val="D0DDD0"/>
            </a:solidFill>
            <a:prstDash val="solid"/>
          </a:ln>
          <a:effectLst>
            <a:outerShdw blurRad="63500" dist="25400" dir="8100000" algn="bl" rotWithShape="0">
              <a:srgbClr val="999999">
                <a:alpha val="13000"/>
              </a:srgbClr>
            </a:outerShdw>
          </a:effectLst>
        </p:spPr>
        <p:txBody>
          <a:bodyPr/>
          <a:lstStyle/>
          <a:p>
            <a:endParaRPr lang="en-US" sz="2400"/>
          </a:p>
        </p:txBody>
      </p:sp>
      <p:sp>
        <p:nvSpPr>
          <p:cNvPr id="82" name="Shape 46"/>
          <p:cNvSpPr/>
          <p:nvPr/>
        </p:nvSpPr>
        <p:spPr>
          <a:xfrm>
            <a:off x="8969219" y="1602652"/>
            <a:ext cx="2682240" cy="79248"/>
          </a:xfrm>
          <a:prstGeom prst="rect">
            <a:avLst/>
          </a:prstGeom>
          <a:solidFill>
            <a:srgbClr val="1B4D3E"/>
          </a:solidFill>
          <a:ln w="12700">
            <a:solidFill>
              <a:srgbClr val="1B4D3E"/>
            </a:solidFill>
            <a:prstDash val="solid"/>
          </a:ln>
        </p:spPr>
        <p:txBody>
          <a:bodyPr/>
          <a:lstStyle/>
          <a:p>
            <a:endParaRPr lang="en-US" sz="2400"/>
          </a:p>
        </p:txBody>
      </p:sp>
      <p:sp>
        <p:nvSpPr>
          <p:cNvPr id="83" name="Text 47"/>
          <p:cNvSpPr/>
          <p:nvPr/>
        </p:nvSpPr>
        <p:spPr>
          <a:xfrm>
            <a:off x="9127715" y="1712380"/>
            <a:ext cx="316992" cy="292608"/>
          </a:xfrm>
          <a:prstGeom prst="rect">
            <a:avLst/>
          </a:prstGeom>
          <a:noFill/>
          <a:ln/>
        </p:spPr>
        <p:txBody>
          <a:bodyPr wrap="square" lIns="0" tIns="0" rIns="0" bIns="0" rtlCol="0" anchor="ctr"/>
          <a:lstStyle/>
          <a:p>
            <a:r>
              <a:rPr lang="en-US" sz="1200" b="1">
                <a:solidFill>
                  <a:srgbClr val="1B4D3E"/>
                </a:solidFill>
                <a:latin typeface="Inter" pitchFamily="34" charset="0"/>
                <a:ea typeface="Inter" pitchFamily="34" charset="-122"/>
                <a:cs typeface="Inter" pitchFamily="34" charset="-120"/>
              </a:rPr>
              <a:t>04</a:t>
            </a:r>
            <a:endParaRPr lang="en-US" sz="1200"/>
          </a:p>
        </p:txBody>
      </p:sp>
      <p:sp>
        <p:nvSpPr>
          <p:cNvPr id="84" name="Text 48"/>
          <p:cNvSpPr/>
          <p:nvPr/>
        </p:nvSpPr>
        <p:spPr>
          <a:xfrm>
            <a:off x="9408131" y="1712380"/>
            <a:ext cx="2084832" cy="292608"/>
          </a:xfrm>
          <a:prstGeom prst="rect">
            <a:avLst/>
          </a:prstGeom>
          <a:noFill/>
          <a:ln/>
        </p:spPr>
        <p:txBody>
          <a:bodyPr wrap="square" lIns="0" tIns="0" rIns="0" bIns="0" rtlCol="0" anchor="ctr"/>
          <a:lstStyle/>
          <a:p>
            <a:r>
              <a:rPr lang="en-US" sz="1600" b="1">
                <a:solidFill>
                  <a:srgbClr val="1B4D3E"/>
                </a:solidFill>
                <a:latin typeface="Inter" pitchFamily="34" charset="0"/>
                <a:ea typeface="Inter" pitchFamily="34" charset="-122"/>
                <a:cs typeface="Inter" pitchFamily="34" charset="-120"/>
              </a:rPr>
              <a:t>REALIZATION</a:t>
            </a:r>
            <a:endParaRPr lang="en-US" sz="1600"/>
          </a:p>
        </p:txBody>
      </p:sp>
      <p:sp>
        <p:nvSpPr>
          <p:cNvPr id="85" name="Text 49"/>
          <p:cNvSpPr/>
          <p:nvPr/>
        </p:nvSpPr>
        <p:spPr>
          <a:xfrm>
            <a:off x="9127715" y="2041564"/>
            <a:ext cx="2365248" cy="390144"/>
          </a:xfrm>
          <a:prstGeom prst="rect">
            <a:avLst/>
          </a:prstGeom>
          <a:noFill/>
          <a:ln/>
        </p:spPr>
        <p:txBody>
          <a:bodyPr wrap="square" lIns="0" tIns="0" rIns="0" bIns="0" rtlCol="0" anchor="t"/>
          <a:lstStyle/>
          <a:p>
            <a:r>
              <a:rPr lang="en-US" sz="1200" i="1">
                <a:solidFill>
                  <a:srgbClr val="555555"/>
                </a:solidFill>
                <a:latin typeface="Inter" pitchFamily="34" charset="0"/>
                <a:ea typeface="Inter" pitchFamily="34" charset="-122"/>
                <a:cs typeface="Inter" pitchFamily="34" charset="-120"/>
              </a:rPr>
              <a:t>Realized outcomes</a:t>
            </a:r>
            <a:endParaRPr lang="en-US" sz="1200"/>
          </a:p>
          <a:p>
            <a:r>
              <a:rPr lang="en-US" sz="1200" i="1">
                <a:solidFill>
                  <a:srgbClr val="555555"/>
                </a:solidFill>
                <a:latin typeface="Inter" pitchFamily="34" charset="0"/>
                <a:ea typeface="Inter" pitchFamily="34" charset="-122"/>
                <a:cs typeface="Inter" pitchFamily="34" charset="-120"/>
              </a:rPr>
              <a:t>demonstrating the model</a:t>
            </a:r>
            <a:endParaRPr lang="en-US" sz="1200"/>
          </a:p>
        </p:txBody>
      </p:sp>
      <p:sp>
        <p:nvSpPr>
          <p:cNvPr id="86" name="Shape 50"/>
          <p:cNvSpPr/>
          <p:nvPr/>
        </p:nvSpPr>
        <p:spPr>
          <a:xfrm>
            <a:off x="9127715" y="2623241"/>
            <a:ext cx="2365248" cy="18288"/>
          </a:xfrm>
          <a:prstGeom prst="rect">
            <a:avLst/>
          </a:prstGeom>
          <a:solidFill>
            <a:srgbClr val="D0DDD0"/>
          </a:solidFill>
          <a:ln w="12700">
            <a:solidFill>
              <a:srgbClr val="D0DDD0"/>
            </a:solidFill>
            <a:prstDash val="solid"/>
          </a:ln>
        </p:spPr>
        <p:txBody>
          <a:bodyPr/>
          <a:lstStyle/>
          <a:p>
            <a:endParaRPr lang="en-US" sz="2400"/>
          </a:p>
        </p:txBody>
      </p:sp>
      <p:sp>
        <p:nvSpPr>
          <p:cNvPr id="87" name="Shape 51"/>
          <p:cNvSpPr/>
          <p:nvPr/>
        </p:nvSpPr>
        <p:spPr>
          <a:xfrm>
            <a:off x="9127715" y="2659817"/>
            <a:ext cx="2365248" cy="896304"/>
          </a:xfrm>
          <a:prstGeom prst="rect">
            <a:avLst/>
          </a:prstGeom>
          <a:solidFill>
            <a:srgbClr val="E4EFE6"/>
          </a:solidFill>
          <a:ln w="9525">
            <a:solidFill>
              <a:srgbClr val="C8DEC9"/>
            </a:solidFill>
            <a:prstDash val="solid"/>
          </a:ln>
        </p:spPr>
        <p:txBody>
          <a:bodyPr/>
          <a:lstStyle/>
          <a:p>
            <a:endParaRPr lang="en-US" sz="1100"/>
          </a:p>
        </p:txBody>
      </p:sp>
      <p:sp>
        <p:nvSpPr>
          <p:cNvPr id="88" name="Text 52"/>
          <p:cNvSpPr/>
          <p:nvPr/>
        </p:nvSpPr>
        <p:spPr>
          <a:xfrm>
            <a:off x="9188675" y="2684201"/>
            <a:ext cx="487680" cy="158496"/>
          </a:xfrm>
          <a:prstGeom prst="rect">
            <a:avLst/>
          </a:prstGeom>
          <a:noFill/>
          <a:ln/>
        </p:spPr>
        <p:txBody>
          <a:bodyPr wrap="square" lIns="0" tIns="0" rIns="0" bIns="0" rtlCol="0" anchor="ctr"/>
          <a:lstStyle/>
          <a:p>
            <a:r>
              <a:rPr lang="en-US" sz="1400" b="1">
                <a:solidFill>
                  <a:srgbClr val="1B4D3E"/>
                </a:solidFill>
                <a:latin typeface="Inter" pitchFamily="34" charset="0"/>
                <a:ea typeface="Inter" pitchFamily="34" charset="-122"/>
                <a:cs typeface="Inter" pitchFamily="34" charset="-120"/>
              </a:rPr>
              <a:t>EDGE</a:t>
            </a:r>
            <a:endParaRPr lang="en-US" sz="1400"/>
          </a:p>
        </p:txBody>
      </p:sp>
      <p:sp>
        <p:nvSpPr>
          <p:cNvPr id="89" name="Text 53"/>
          <p:cNvSpPr/>
          <p:nvPr/>
        </p:nvSpPr>
        <p:spPr>
          <a:xfrm>
            <a:off x="9188675" y="2882025"/>
            <a:ext cx="2267712" cy="463296"/>
          </a:xfrm>
          <a:prstGeom prst="rect">
            <a:avLst/>
          </a:prstGeom>
          <a:noFill/>
          <a:ln/>
        </p:spPr>
        <p:txBody>
          <a:bodyPr wrap="square" lIns="0" tIns="0" rIns="0" bIns="0" rtlCol="0" anchor="t"/>
          <a:lstStyle/>
          <a:p>
            <a:r>
              <a:rPr lang="en-US" sz="1200" i="1">
                <a:solidFill>
                  <a:srgbClr val="1B4D3E"/>
                </a:solidFill>
                <a:latin typeface="Inter" pitchFamily="34" charset="0"/>
                <a:ea typeface="Inter" pitchFamily="34" charset="-122"/>
                <a:cs typeface="Inter" pitchFamily="34" charset="-120"/>
              </a:rPr>
              <a:t>The model has worked, and momentum continued post-close</a:t>
            </a:r>
            <a:endParaRPr lang="en-US" sz="1200"/>
          </a:p>
        </p:txBody>
      </p:sp>
      <p:sp>
        <p:nvSpPr>
          <p:cNvPr id="90" name="Shape 54"/>
          <p:cNvSpPr/>
          <p:nvPr/>
        </p:nvSpPr>
        <p:spPr>
          <a:xfrm>
            <a:off x="9127715" y="3556121"/>
            <a:ext cx="2365248" cy="18288"/>
          </a:xfrm>
          <a:prstGeom prst="rect">
            <a:avLst/>
          </a:prstGeom>
          <a:solidFill>
            <a:srgbClr val="D0DDD0"/>
          </a:solidFill>
          <a:ln w="12700">
            <a:solidFill>
              <a:srgbClr val="D0DDD0"/>
            </a:solidFill>
            <a:prstDash val="solid"/>
          </a:ln>
        </p:spPr>
        <p:txBody>
          <a:bodyPr/>
          <a:lstStyle/>
          <a:p>
            <a:endParaRPr lang="en-US" sz="2400"/>
          </a:p>
        </p:txBody>
      </p:sp>
      <p:sp>
        <p:nvSpPr>
          <p:cNvPr id="91" name="Text 55"/>
          <p:cNvSpPr/>
          <p:nvPr/>
        </p:nvSpPr>
        <p:spPr>
          <a:xfrm>
            <a:off x="9127715" y="3705569"/>
            <a:ext cx="1158240" cy="658368"/>
          </a:xfrm>
          <a:prstGeom prst="rect">
            <a:avLst/>
          </a:prstGeom>
          <a:noFill/>
          <a:ln/>
        </p:spPr>
        <p:txBody>
          <a:bodyPr wrap="square" lIns="0" tIns="0" rIns="0" bIns="0" rtlCol="0" anchor="ctr"/>
          <a:lstStyle/>
          <a:p>
            <a:r>
              <a:rPr lang="en-US" sz="3800" b="1">
                <a:solidFill>
                  <a:srgbClr val="1B4D3E"/>
                </a:solidFill>
                <a:latin typeface="Inter" pitchFamily="34" charset="0"/>
                <a:ea typeface="Inter" pitchFamily="34" charset="-122"/>
                <a:cs typeface="Inter" pitchFamily="34" charset="-120"/>
              </a:rPr>
              <a:t>~11x</a:t>
            </a:r>
            <a:endParaRPr lang="en-US" sz="3800"/>
          </a:p>
        </p:txBody>
      </p:sp>
      <p:sp>
        <p:nvSpPr>
          <p:cNvPr id="92" name="Text 56"/>
          <p:cNvSpPr/>
          <p:nvPr/>
        </p:nvSpPr>
        <p:spPr>
          <a:xfrm>
            <a:off x="10285955" y="3678825"/>
            <a:ext cx="1243584" cy="658368"/>
          </a:xfrm>
          <a:prstGeom prst="rect">
            <a:avLst/>
          </a:prstGeom>
          <a:noFill/>
          <a:ln/>
        </p:spPr>
        <p:txBody>
          <a:bodyPr wrap="square" lIns="0" tIns="0" rIns="0" bIns="0" rtlCol="0" anchor="ctr"/>
          <a:lstStyle/>
          <a:p>
            <a:r>
              <a:rPr lang="en-US" sz="1200">
                <a:solidFill>
                  <a:srgbClr val="2C2C2C"/>
                </a:solidFill>
                <a:latin typeface="Inter" pitchFamily="34" charset="0"/>
                <a:ea typeface="Inter" pitchFamily="34" charset="-122"/>
                <a:cs typeface="Inter" pitchFamily="34" charset="-120"/>
              </a:rPr>
              <a:t>MOIC · ~30% IRR</a:t>
            </a:r>
            <a:endParaRPr lang="en-US" sz="1200"/>
          </a:p>
        </p:txBody>
      </p:sp>
      <p:sp>
        <p:nvSpPr>
          <p:cNvPr id="93" name="Shape 57"/>
          <p:cNvSpPr/>
          <p:nvPr/>
        </p:nvSpPr>
        <p:spPr>
          <a:xfrm>
            <a:off x="9127715" y="4424897"/>
            <a:ext cx="2365248" cy="18288"/>
          </a:xfrm>
          <a:prstGeom prst="rect">
            <a:avLst/>
          </a:prstGeom>
          <a:solidFill>
            <a:srgbClr val="D0DDD0"/>
          </a:solidFill>
          <a:ln w="12700">
            <a:solidFill>
              <a:srgbClr val="D0DDD0"/>
            </a:solidFill>
            <a:prstDash val="solid"/>
          </a:ln>
        </p:spPr>
        <p:txBody>
          <a:bodyPr/>
          <a:lstStyle/>
          <a:p>
            <a:endParaRPr lang="en-US" sz="2400"/>
          </a:p>
        </p:txBody>
      </p:sp>
      <p:sp>
        <p:nvSpPr>
          <p:cNvPr id="94" name="Text 58"/>
          <p:cNvSpPr/>
          <p:nvPr/>
        </p:nvSpPr>
        <p:spPr>
          <a:xfrm>
            <a:off x="9127715" y="4634134"/>
            <a:ext cx="2365248" cy="1211334"/>
          </a:xfrm>
          <a:prstGeom prst="rect">
            <a:avLst/>
          </a:prstGeom>
          <a:noFill/>
          <a:ln/>
        </p:spPr>
        <p:txBody>
          <a:bodyPr wrap="square" lIns="0" tIns="0" rIns="0" bIns="0" rtlCol="0" anchor="t"/>
          <a:lstStyle/>
          <a:p>
            <a:r>
              <a:rPr lang="en-US" sz="1200">
                <a:solidFill>
                  <a:srgbClr val="444444"/>
                </a:solidFill>
                <a:latin typeface="Inter" pitchFamily="34" charset="0"/>
                <a:ea typeface="Inter" pitchFamily="34" charset="-122"/>
                <a:cs typeface="Inter" pitchFamily="34" charset="-120"/>
              </a:rPr>
              <a:t>EBITDA doubled again post-close</a:t>
            </a:r>
            <a:endParaRPr lang="en-US" sz="1200"/>
          </a:p>
        </p:txBody>
      </p:sp>
      <p:sp>
        <p:nvSpPr>
          <p:cNvPr id="96" name="Text 60"/>
          <p:cNvSpPr/>
          <p:nvPr/>
        </p:nvSpPr>
        <p:spPr>
          <a:xfrm>
            <a:off x="525040" y="5729644"/>
            <a:ext cx="11126419" cy="317588"/>
          </a:xfrm>
          <a:prstGeom prst="rect">
            <a:avLst/>
          </a:prstGeom>
          <a:noFill/>
          <a:ln/>
        </p:spPr>
        <p:txBody>
          <a:bodyPr wrap="square" lIns="0" tIns="0" rIns="0" bIns="0" rtlCol="0" anchor="ctr"/>
          <a:lstStyle/>
          <a:p>
            <a:pPr algn="ctr"/>
            <a:r>
              <a:rPr lang="en-US" sz="1400" b="1">
                <a:solidFill>
                  <a:schemeClr val="tx2"/>
                </a:solidFill>
                <a:latin typeface="Inter" pitchFamily="34" charset="0"/>
                <a:ea typeface="Inter" pitchFamily="34" charset="-122"/>
                <a:cs typeface="Inter" pitchFamily="34" charset="-120"/>
              </a:rPr>
              <a:t>Direct experience across every dimension of the investment lifecycle, from every side of the table.</a:t>
            </a:r>
            <a:endParaRPr lang="en-US" sz="1400">
              <a:solidFill>
                <a:schemeClr val="tx2"/>
              </a:solidFill>
            </a:endParaRPr>
          </a:p>
        </p:txBody>
      </p:sp>
      <p:sp>
        <p:nvSpPr>
          <p:cNvPr id="97" name="Title 1">
            <a:extLst>
              <a:ext uri="{FF2B5EF4-FFF2-40B4-BE49-F238E27FC236}">
                <a16:creationId xmlns:a16="http://schemas.microsoft.com/office/drawing/2014/main" id="{19530C6B-7A29-010A-BCD8-017BCAD5D03B}"/>
              </a:ext>
            </a:extLst>
          </p:cNvPr>
          <p:cNvSpPr txBox="1">
            <a:spLocks/>
          </p:cNvSpPr>
          <p:nvPr/>
        </p:nvSpPr>
        <p:spPr>
          <a:xfrm>
            <a:off x="942561" y="509286"/>
            <a:ext cx="10515600" cy="496260"/>
          </a:xfrm>
          <a:prstGeom prst="rect">
            <a:avLst/>
          </a:prstGeom>
        </p:spPr>
        <p:txBody>
          <a:bodyPr>
            <a:noAutofit/>
          </a:bodyPr>
          <a:lstStyle>
            <a:lvl1pPr algn="l" defTabSz="914400" rtl="0" eaLnBrk="1" latinLnBrk="0" hangingPunct="1">
              <a:lnSpc>
                <a:spcPct val="90000"/>
              </a:lnSpc>
              <a:spcBef>
                <a:spcPct val="0"/>
              </a:spcBef>
              <a:buNone/>
              <a:defRPr sz="3000" kern="1200" baseline="0">
                <a:solidFill>
                  <a:schemeClr val="tx1"/>
                </a:solidFill>
                <a:latin typeface="Inter ExtraBold" panose="02000503000000020004" pitchFamily="2" charset="0"/>
                <a:ea typeface="+mj-ea"/>
                <a:cs typeface="+mj-cs"/>
              </a:defRPr>
            </a:lvl1pPr>
          </a:lstStyle>
          <a:p>
            <a:r>
              <a:rPr lang="en-US">
                <a:latin typeface="Inter" panose="02000503000000020004" pitchFamily="2" charset="0"/>
                <a:ea typeface="Inter" panose="02000503000000020004" pitchFamily="2" charset="0"/>
                <a:cs typeface="Inter" panose="02000503000000020004" pitchFamily="2" charset="0"/>
              </a:rPr>
              <a:t>Differentiated Expertise &amp; Experience </a:t>
            </a:r>
          </a:p>
        </p:txBody>
      </p:sp>
    </p:spTree>
    <p:extLst>
      <p:ext uri="{BB962C8B-B14F-4D97-AF65-F5344CB8AC3E}">
        <p14:creationId xmlns:p14="http://schemas.microsoft.com/office/powerpoint/2010/main" val="4272422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A05065E-3EE9-EDAF-6AD3-0887F1A5714D}"/>
              </a:ext>
            </a:extLst>
          </p:cNvPr>
          <p:cNvSpPr/>
          <p:nvPr/>
        </p:nvSpPr>
        <p:spPr>
          <a:xfrm>
            <a:off x="8050036" y="1677649"/>
            <a:ext cx="2723151" cy="4274265"/>
          </a:xfrm>
          <a:prstGeom prst="rect">
            <a:avLst/>
          </a:prstGeom>
          <a:solidFill>
            <a:schemeClr val="accent1">
              <a:lumMod val="20000"/>
              <a:lumOff val="80000"/>
              <a:alpha val="5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0" name="think-cell data - do not delete" hidden="1">
            <a:extLst>
              <a:ext uri="{FF2B5EF4-FFF2-40B4-BE49-F238E27FC236}">
                <a16:creationId xmlns:a16="http://schemas.microsoft.com/office/drawing/2014/main" id="{02EAFA8F-58EF-4E33-20C1-FB959B5ED73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4" progId="TCLayout.ActiveDocument.1">
                  <p:embed/>
                </p:oleObj>
              </mc:Choice>
              <mc:Fallback>
                <p:oleObj name="think-cell Slide" r:id="rId4" imgW="484" imgH="484" progId="TCLayout.ActiveDocument.1">
                  <p:embed/>
                  <p:pic>
                    <p:nvPicPr>
                      <p:cNvPr id="30" name="think-cell data - do not delete" hidden="1">
                        <a:extLst>
                          <a:ext uri="{FF2B5EF4-FFF2-40B4-BE49-F238E27FC236}">
                            <a16:creationId xmlns:a16="http://schemas.microsoft.com/office/drawing/2014/main" id="{02EAFA8F-58EF-4E33-20C1-FB959B5ED73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36" name="Straight Connector 35">
            <a:extLst>
              <a:ext uri="{FF2B5EF4-FFF2-40B4-BE49-F238E27FC236}">
                <a16:creationId xmlns:a16="http://schemas.microsoft.com/office/drawing/2014/main" id="{69B14E97-8511-B09D-9969-315A153E79CA}"/>
              </a:ext>
            </a:extLst>
          </p:cNvPr>
          <p:cNvCxnSpPr>
            <a:cxnSpLocks/>
          </p:cNvCxnSpPr>
          <p:nvPr/>
        </p:nvCxnSpPr>
        <p:spPr>
          <a:xfrm>
            <a:off x="-1" y="1566339"/>
            <a:ext cx="6036808"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123466F1-B779-91EE-7E61-E95A107FF0FC}"/>
              </a:ext>
            </a:extLst>
          </p:cNvPr>
          <p:cNvSpPr/>
          <p:nvPr/>
        </p:nvSpPr>
        <p:spPr>
          <a:xfrm>
            <a:off x="10788914" y="5381783"/>
            <a:ext cx="1403085" cy="704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a:solidFill>
                  <a:schemeClr val="tx1"/>
                </a:solidFill>
                <a:latin typeface="Inter" panose="02000503000000020004" pitchFamily="2" charset="0"/>
                <a:ea typeface="Inter" panose="02000503000000020004" pitchFamily="2" charset="0"/>
                <a:cs typeface="Inter" panose="02000503000000020004" pitchFamily="2" charset="0"/>
              </a:rPr>
              <a:t>Decline</a:t>
            </a:r>
          </a:p>
        </p:txBody>
      </p:sp>
      <p:pic>
        <p:nvPicPr>
          <p:cNvPr id="37" name="Graphic 36">
            <a:extLst>
              <a:ext uri="{FF2B5EF4-FFF2-40B4-BE49-F238E27FC236}">
                <a16:creationId xmlns:a16="http://schemas.microsoft.com/office/drawing/2014/main" id="{4E90A0EE-52F4-BED8-70D8-79F59B2C5287}"/>
              </a:ext>
            </a:extLst>
          </p:cNvPr>
          <p:cNvPicPr>
            <a:picLocks noChangeAspect="1"/>
          </p:cNvPicPr>
          <p:nvPr/>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r="3909"/>
          <a:stretch/>
        </p:blipFill>
        <p:spPr>
          <a:xfrm>
            <a:off x="6610350" y="2129777"/>
            <a:ext cx="5581650" cy="3246921"/>
          </a:xfrm>
          <a:prstGeom prst="rect">
            <a:avLst/>
          </a:prstGeom>
        </p:spPr>
      </p:pic>
      <p:sp>
        <p:nvSpPr>
          <p:cNvPr id="38" name="Rectangle 37">
            <a:extLst>
              <a:ext uri="{FF2B5EF4-FFF2-40B4-BE49-F238E27FC236}">
                <a16:creationId xmlns:a16="http://schemas.microsoft.com/office/drawing/2014/main" id="{C6505265-EB02-5076-4BB2-B7876C3D6D6C}"/>
              </a:ext>
            </a:extLst>
          </p:cNvPr>
          <p:cNvSpPr/>
          <p:nvPr/>
        </p:nvSpPr>
        <p:spPr>
          <a:xfrm>
            <a:off x="6617608" y="5445574"/>
            <a:ext cx="1396784" cy="5701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a:solidFill>
                  <a:schemeClr val="tx1"/>
                </a:solidFill>
                <a:latin typeface="Inter" panose="02000503000000020004" pitchFamily="2" charset="0"/>
                <a:ea typeface="Inter" panose="02000503000000020004" pitchFamily="2" charset="0"/>
                <a:cs typeface="Inter" panose="02000503000000020004" pitchFamily="2" charset="0"/>
              </a:rPr>
              <a:t>Introduction</a:t>
            </a:r>
          </a:p>
        </p:txBody>
      </p:sp>
      <p:sp>
        <p:nvSpPr>
          <p:cNvPr id="39" name="Rectangle 38">
            <a:extLst>
              <a:ext uri="{FF2B5EF4-FFF2-40B4-BE49-F238E27FC236}">
                <a16:creationId xmlns:a16="http://schemas.microsoft.com/office/drawing/2014/main" id="{1913A481-6718-4A5C-93BB-E391D7841B67}"/>
              </a:ext>
            </a:extLst>
          </p:cNvPr>
          <p:cNvSpPr/>
          <p:nvPr/>
        </p:nvSpPr>
        <p:spPr>
          <a:xfrm>
            <a:off x="8012564" y="5381783"/>
            <a:ext cx="1393219" cy="704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a:solidFill>
                  <a:schemeClr val="tx1"/>
                </a:solidFill>
                <a:latin typeface="Inter" panose="02000503000000020004" pitchFamily="2" charset="0"/>
                <a:ea typeface="Inter" panose="02000503000000020004" pitchFamily="2" charset="0"/>
                <a:cs typeface="Inter" panose="02000503000000020004" pitchFamily="2" charset="0"/>
              </a:rPr>
              <a:t>Scale</a:t>
            </a:r>
          </a:p>
        </p:txBody>
      </p:sp>
      <p:sp>
        <p:nvSpPr>
          <p:cNvPr id="40" name="Rectangle 39">
            <a:extLst>
              <a:ext uri="{FF2B5EF4-FFF2-40B4-BE49-F238E27FC236}">
                <a16:creationId xmlns:a16="http://schemas.microsoft.com/office/drawing/2014/main" id="{9DB357BB-2835-C789-FADF-2FE4EC452222}"/>
              </a:ext>
            </a:extLst>
          </p:cNvPr>
          <p:cNvSpPr/>
          <p:nvPr/>
        </p:nvSpPr>
        <p:spPr>
          <a:xfrm>
            <a:off x="9398426" y="5381783"/>
            <a:ext cx="1398751" cy="704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a:solidFill>
                  <a:schemeClr val="tx1"/>
                </a:solidFill>
                <a:latin typeface="Inter" panose="02000503000000020004" pitchFamily="2" charset="0"/>
                <a:ea typeface="Inter" panose="02000503000000020004" pitchFamily="2" charset="0"/>
                <a:cs typeface="Inter" panose="02000503000000020004" pitchFamily="2" charset="0"/>
              </a:rPr>
              <a:t>Maturity</a:t>
            </a:r>
          </a:p>
        </p:txBody>
      </p:sp>
      <p:sp>
        <p:nvSpPr>
          <p:cNvPr id="42" name="Multiplication Sign 41">
            <a:extLst>
              <a:ext uri="{FF2B5EF4-FFF2-40B4-BE49-F238E27FC236}">
                <a16:creationId xmlns:a16="http://schemas.microsoft.com/office/drawing/2014/main" id="{3D87258D-61DC-98A9-FED8-289DCB908E5F}"/>
              </a:ext>
            </a:extLst>
          </p:cNvPr>
          <p:cNvSpPr/>
          <p:nvPr/>
        </p:nvSpPr>
        <p:spPr>
          <a:xfrm rot="746528">
            <a:off x="11292957" y="2316394"/>
            <a:ext cx="394998" cy="600210"/>
          </a:xfrm>
          <a:prstGeom prst="mathMultiply">
            <a:avLst>
              <a:gd name="adj1" fmla="val 852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3" name="TextBox 13">
            <a:extLst>
              <a:ext uri="{FF2B5EF4-FFF2-40B4-BE49-F238E27FC236}">
                <a16:creationId xmlns:a16="http://schemas.microsoft.com/office/drawing/2014/main" id="{C5F8B7F9-3B0C-B058-E248-F172CCF5378A}"/>
              </a:ext>
            </a:extLst>
          </p:cNvPr>
          <p:cNvSpPr txBox="1"/>
          <p:nvPr/>
        </p:nvSpPr>
        <p:spPr>
          <a:xfrm>
            <a:off x="10826024" y="4471108"/>
            <a:ext cx="1350249"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latin typeface="Inter" panose="02000503000000020004" pitchFamily="2" charset="0"/>
                <a:ea typeface="Inter" panose="02000503000000020004" pitchFamily="2" charset="0"/>
                <a:cs typeface="Inter" panose="02000503000000020004" pitchFamily="2" charset="0"/>
              </a:rPr>
              <a:t>Lower margin cost-plus Manufacturing</a:t>
            </a:r>
          </a:p>
        </p:txBody>
      </p:sp>
      <p:sp>
        <p:nvSpPr>
          <p:cNvPr id="44" name="Multiplication Sign 43">
            <a:extLst>
              <a:ext uri="{FF2B5EF4-FFF2-40B4-BE49-F238E27FC236}">
                <a16:creationId xmlns:a16="http://schemas.microsoft.com/office/drawing/2014/main" id="{7E54198A-644E-5FAE-2C59-AFEE34A54B86}"/>
              </a:ext>
            </a:extLst>
          </p:cNvPr>
          <p:cNvSpPr/>
          <p:nvPr/>
        </p:nvSpPr>
        <p:spPr>
          <a:xfrm>
            <a:off x="7113958" y="5032553"/>
            <a:ext cx="394998" cy="600210"/>
          </a:xfrm>
          <a:prstGeom prst="mathMultiply">
            <a:avLst>
              <a:gd name="adj1" fmla="val 852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TextBox 15">
            <a:extLst>
              <a:ext uri="{FF2B5EF4-FFF2-40B4-BE49-F238E27FC236}">
                <a16:creationId xmlns:a16="http://schemas.microsoft.com/office/drawing/2014/main" id="{68373C45-30E6-5324-2889-786BCBD65BCA}"/>
              </a:ext>
            </a:extLst>
          </p:cNvPr>
          <p:cNvSpPr txBox="1"/>
          <p:nvPr/>
        </p:nvSpPr>
        <p:spPr>
          <a:xfrm>
            <a:off x="6574706" y="4471108"/>
            <a:ext cx="1422493"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latin typeface="Inter" panose="02000503000000020004" pitchFamily="2" charset="0"/>
                <a:ea typeface="Inter" panose="02000503000000020004" pitchFamily="2" charset="0"/>
                <a:cs typeface="Inter" panose="02000503000000020004" pitchFamily="2" charset="0"/>
              </a:rPr>
              <a:t>Prototyping &amp; Low-volume</a:t>
            </a:r>
          </a:p>
          <a:p>
            <a:pPr algn="ctr"/>
            <a:r>
              <a:rPr lang="en-US" sz="1200">
                <a:latin typeface="Inter" panose="02000503000000020004" pitchFamily="2" charset="0"/>
                <a:ea typeface="Inter" panose="02000503000000020004" pitchFamily="2" charset="0"/>
                <a:cs typeface="Inter" panose="02000503000000020004" pitchFamily="2" charset="0"/>
              </a:rPr>
              <a:t>Companies</a:t>
            </a:r>
          </a:p>
        </p:txBody>
      </p:sp>
      <p:sp>
        <p:nvSpPr>
          <p:cNvPr id="47" name="TextBox 46">
            <a:extLst>
              <a:ext uri="{FF2B5EF4-FFF2-40B4-BE49-F238E27FC236}">
                <a16:creationId xmlns:a16="http://schemas.microsoft.com/office/drawing/2014/main" id="{8EC14BE1-AF98-E3AD-5819-18E81AFA5EA7}"/>
              </a:ext>
            </a:extLst>
          </p:cNvPr>
          <p:cNvSpPr txBox="1"/>
          <p:nvPr/>
        </p:nvSpPr>
        <p:spPr>
          <a:xfrm>
            <a:off x="1766" y="1209346"/>
            <a:ext cx="6035039" cy="338554"/>
          </a:xfrm>
          <a:prstGeom prst="rect">
            <a:avLst/>
          </a:prstGeom>
          <a:noFill/>
        </p:spPr>
        <p:txBody>
          <a:bodyPr wrap="square" lIns="420624" anchor="ctr">
            <a:spAutoFit/>
          </a:bodyPr>
          <a:lstStyle/>
          <a:p>
            <a:r>
              <a:rPr lang="en-US" sz="1600" b="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Highly disciplined investment thesis </a:t>
            </a:r>
          </a:p>
        </p:txBody>
      </p:sp>
      <p:sp>
        <p:nvSpPr>
          <p:cNvPr id="48" name="Rectangle 47">
            <a:extLst>
              <a:ext uri="{FF2B5EF4-FFF2-40B4-BE49-F238E27FC236}">
                <a16:creationId xmlns:a16="http://schemas.microsoft.com/office/drawing/2014/main" id="{09685F0C-D82B-AF48-C49D-A579D70AB48D}"/>
              </a:ext>
            </a:extLst>
          </p:cNvPr>
          <p:cNvSpPr/>
          <p:nvPr/>
        </p:nvSpPr>
        <p:spPr>
          <a:xfrm>
            <a:off x="1" y="1677649"/>
            <a:ext cx="6036807" cy="980683"/>
          </a:xfrm>
          <a:prstGeom prst="rect">
            <a:avLst/>
          </a:prstGeom>
          <a:solidFill>
            <a:srgbClr val="F0F3F7"/>
          </a:solidFill>
          <a:ln>
            <a:noFill/>
          </a:ln>
        </p:spPr>
        <p:style>
          <a:lnRef idx="2">
            <a:schemeClr val="accent1">
              <a:shade val="15000"/>
            </a:schemeClr>
          </a:lnRef>
          <a:fillRef idx="1">
            <a:schemeClr val="accent1"/>
          </a:fillRef>
          <a:effectRef idx="0">
            <a:schemeClr val="accent1"/>
          </a:effectRef>
          <a:fontRef idx="minor">
            <a:schemeClr val="lt1"/>
          </a:fontRef>
        </p:style>
        <p:txBody>
          <a:bodyPr lIns="420624" rIns="182880" rtlCol="0" anchor="ctr"/>
          <a:lstStyle/>
          <a:p>
            <a:pPr marL="171450" indent="-171450">
              <a:lnSpc>
                <a:spcPct val="100000"/>
              </a:lnSpc>
              <a:spcBef>
                <a:spcPts val="0"/>
              </a:spcBef>
              <a:buClr>
                <a:schemeClr val="tx2"/>
              </a:buClr>
              <a:buFont typeface="Arial" panose="020B0604020202020204" pitchFamily="34" charset="0"/>
              <a:buChar char="•"/>
            </a:pPr>
            <a:r>
              <a:rPr lang="en-US" sz="1200" b="0" i="0">
                <a:solidFill>
                  <a:schemeClr val="bg2">
                    <a:lumMod val="10000"/>
                  </a:schemeClr>
                </a:solidFill>
                <a:effectLst/>
                <a:latin typeface="Inter" panose="02000503000000020004" pitchFamily="2" charset="0"/>
                <a:ea typeface="Inter" panose="02000503000000020004" pitchFamily="2" charset="0"/>
                <a:cs typeface="Inter" panose="02000503000000020004" pitchFamily="2" charset="0"/>
              </a:rPr>
              <a:t>Lower-middle-market advanced manufacturing businesses </a:t>
            </a:r>
          </a:p>
          <a:p>
            <a:pPr marL="171450" indent="-171450">
              <a:lnSpc>
                <a:spcPct val="100000"/>
              </a:lnSpc>
              <a:spcBef>
                <a:spcPts val="0"/>
              </a:spcBef>
              <a:buClr>
                <a:schemeClr val="tx2"/>
              </a:buClr>
              <a:buFont typeface="Arial" panose="020B0604020202020204" pitchFamily="34" charset="0"/>
              <a:buChar char="•"/>
            </a:pPr>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Engineering/technical differentiation that is valued by innovators in today’s dynamic and rapidly scaling markets</a:t>
            </a:r>
          </a:p>
          <a:p>
            <a:pPr marL="171450" indent="-171450">
              <a:lnSpc>
                <a:spcPct val="100000"/>
              </a:lnSpc>
              <a:spcBef>
                <a:spcPts val="0"/>
              </a:spcBef>
              <a:buClr>
                <a:schemeClr val="tx2"/>
              </a:buClr>
              <a:buFont typeface="Arial" panose="020B0604020202020204" pitchFamily="34" charset="0"/>
              <a:buChar char="•"/>
            </a:pPr>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H</a:t>
            </a:r>
            <a:r>
              <a:rPr lang="en-US" sz="1200" b="0" i="0">
                <a:solidFill>
                  <a:schemeClr val="bg2">
                    <a:lumMod val="10000"/>
                  </a:schemeClr>
                </a:solidFill>
                <a:effectLst/>
                <a:latin typeface="Inter" panose="02000503000000020004" pitchFamily="2" charset="0"/>
                <a:ea typeface="Inter" panose="02000503000000020004" pitchFamily="2" charset="0"/>
                <a:cs typeface="Inter" panose="02000503000000020004" pitchFamily="2" charset="0"/>
              </a:rPr>
              <a:t>ighly </a:t>
            </a:r>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fragmented industries</a:t>
            </a:r>
          </a:p>
        </p:txBody>
      </p:sp>
      <p:sp>
        <p:nvSpPr>
          <p:cNvPr id="49" name="TextBox 48">
            <a:extLst>
              <a:ext uri="{FF2B5EF4-FFF2-40B4-BE49-F238E27FC236}">
                <a16:creationId xmlns:a16="http://schemas.microsoft.com/office/drawing/2014/main" id="{3134037E-152D-0852-5ADC-5EAE7050575B}"/>
              </a:ext>
            </a:extLst>
          </p:cNvPr>
          <p:cNvSpPr txBox="1"/>
          <p:nvPr/>
        </p:nvSpPr>
        <p:spPr>
          <a:xfrm>
            <a:off x="-2" y="2869181"/>
            <a:ext cx="5729530" cy="338554"/>
          </a:xfrm>
          <a:prstGeom prst="rect">
            <a:avLst/>
          </a:prstGeom>
          <a:noFill/>
        </p:spPr>
        <p:txBody>
          <a:bodyPr wrap="square" lIns="420624" anchor="ctr">
            <a:spAutoFit/>
          </a:bodyPr>
          <a:lstStyle/>
          <a:p>
            <a:r>
              <a:rPr lang="en-US" sz="1600"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End-market re-positioning focus  </a:t>
            </a:r>
          </a:p>
        </p:txBody>
      </p:sp>
      <p:sp>
        <p:nvSpPr>
          <p:cNvPr id="50" name="Rectangle 49">
            <a:extLst>
              <a:ext uri="{FF2B5EF4-FFF2-40B4-BE49-F238E27FC236}">
                <a16:creationId xmlns:a16="http://schemas.microsoft.com/office/drawing/2014/main" id="{E4DF7C61-4F5F-35DF-6334-4FEEB6B56582}"/>
              </a:ext>
            </a:extLst>
          </p:cNvPr>
          <p:cNvSpPr/>
          <p:nvPr/>
        </p:nvSpPr>
        <p:spPr>
          <a:xfrm>
            <a:off x="-1" y="3324744"/>
            <a:ext cx="6036807" cy="980683"/>
          </a:xfrm>
          <a:prstGeom prst="rect">
            <a:avLst/>
          </a:prstGeom>
          <a:solidFill>
            <a:srgbClr val="F0F3F7"/>
          </a:solidFill>
          <a:ln>
            <a:noFill/>
          </a:ln>
        </p:spPr>
        <p:style>
          <a:lnRef idx="2">
            <a:schemeClr val="accent1">
              <a:shade val="15000"/>
            </a:schemeClr>
          </a:lnRef>
          <a:fillRef idx="1">
            <a:schemeClr val="accent1"/>
          </a:fillRef>
          <a:effectRef idx="0">
            <a:schemeClr val="accent1"/>
          </a:effectRef>
          <a:fontRef idx="minor">
            <a:schemeClr val="lt1"/>
          </a:fontRef>
        </p:style>
        <p:txBody>
          <a:bodyPr lIns="420624" rIns="182880" rtlCol="0" anchor="ctr"/>
          <a:lstStyle/>
          <a:p>
            <a:pPr>
              <a:lnSpc>
                <a:spcPct val="100000"/>
              </a:lnSpc>
              <a:spcBef>
                <a:spcPts val="0"/>
              </a:spcBef>
              <a:buClr>
                <a:schemeClr val="tx2"/>
              </a:buClr>
            </a:pPr>
            <a:endParaRPr lang="en-US" sz="1200" b="0" i="0">
              <a:solidFill>
                <a:schemeClr val="bg2">
                  <a:lumMod val="10000"/>
                </a:schemeClr>
              </a:solidFill>
              <a:effectLst/>
              <a:latin typeface="Inter" panose="02000503000000020004" pitchFamily="2" charset="0"/>
              <a:ea typeface="Inter" panose="02000503000000020004" pitchFamily="2" charset="0"/>
              <a:cs typeface="Inter" panose="02000503000000020004" pitchFamily="2" charset="0"/>
            </a:endParaRPr>
          </a:p>
          <a:p>
            <a:pPr marL="171450" indent="-171450">
              <a:lnSpc>
                <a:spcPct val="100000"/>
              </a:lnSpc>
              <a:spcBef>
                <a:spcPts val="0"/>
              </a:spcBef>
              <a:buClr>
                <a:schemeClr val="tx2"/>
              </a:buClr>
              <a:buFont typeface="Arial" panose="020B0604020202020204" pitchFamily="34" charset="0"/>
              <a:buChar char="•"/>
            </a:pPr>
            <a:r>
              <a:rPr lang="en-US" sz="1200" b="0" i="0">
                <a:solidFill>
                  <a:schemeClr val="bg2">
                    <a:lumMod val="10000"/>
                  </a:schemeClr>
                </a:solidFill>
                <a:effectLst/>
                <a:latin typeface="Inter" panose="02000503000000020004" pitchFamily="2" charset="0"/>
                <a:ea typeface="Inter" panose="02000503000000020004" pitchFamily="2" charset="0"/>
                <a:cs typeface="Inter" panose="02000503000000020004" pitchFamily="2" charset="0"/>
              </a:rPr>
              <a:t>Hyper-scale infrastructure market: Mechanical &amp; electrical systems layer</a:t>
            </a:r>
          </a:p>
          <a:p>
            <a:pPr marL="628650" lvl="1" indent="-171450">
              <a:buClr>
                <a:schemeClr val="tx2"/>
              </a:buClr>
              <a:buFont typeface="Arial" panose="020B0604020202020204" pitchFamily="34" charset="0"/>
              <a:buChar char="•"/>
            </a:pPr>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Innovation &amp; scale is mid life-cycle</a:t>
            </a:r>
            <a:endParaRPr lang="en-US" sz="1200" b="0" i="0">
              <a:solidFill>
                <a:schemeClr val="bg2">
                  <a:lumMod val="10000"/>
                </a:schemeClr>
              </a:solidFill>
              <a:effectLst/>
              <a:latin typeface="Inter" panose="02000503000000020004" pitchFamily="2" charset="0"/>
              <a:ea typeface="Inter" panose="02000503000000020004" pitchFamily="2" charset="0"/>
              <a:cs typeface="Inter" panose="02000503000000020004" pitchFamily="2" charset="0"/>
            </a:endParaRPr>
          </a:p>
          <a:p>
            <a:pPr marL="171450" indent="-171450">
              <a:lnSpc>
                <a:spcPct val="100000"/>
              </a:lnSpc>
              <a:spcBef>
                <a:spcPts val="0"/>
              </a:spcBef>
              <a:buClr>
                <a:schemeClr val="tx2"/>
              </a:buClr>
              <a:buFont typeface="Arial" panose="020B0604020202020204" pitchFamily="34" charset="0"/>
              <a:buChar char="•"/>
            </a:pPr>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Automation &amp; robotics market: Mechanical &amp; electrical systems layer</a:t>
            </a:r>
          </a:p>
          <a:p>
            <a:pPr marL="628650" lvl="1" indent="-171450">
              <a:buClr>
                <a:schemeClr val="tx2"/>
              </a:buClr>
              <a:buFont typeface="Arial" panose="020B0604020202020204" pitchFamily="34" charset="0"/>
              <a:buChar char="•"/>
            </a:pPr>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Innovation &amp; scale is early Life-cycle</a:t>
            </a:r>
          </a:p>
          <a:p>
            <a:pPr marL="171450" indent="-171450">
              <a:buClr>
                <a:schemeClr val="tx2"/>
              </a:buClr>
              <a:buFont typeface="Arial" panose="020B0604020202020204" pitchFamily="34" charset="0"/>
              <a:buChar char="•"/>
            </a:pPr>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CP’s Industrial sub-sector focus ensures alignment to both end markets</a:t>
            </a:r>
          </a:p>
          <a:p>
            <a:pPr marL="171450" indent="-171450">
              <a:lnSpc>
                <a:spcPct val="100000"/>
              </a:lnSpc>
              <a:spcBef>
                <a:spcPts val="0"/>
              </a:spcBef>
              <a:buClr>
                <a:schemeClr val="tx2"/>
              </a:buClr>
              <a:buFont typeface="Arial" panose="020B0604020202020204" pitchFamily="34" charset="0"/>
              <a:buChar char="•"/>
            </a:pPr>
            <a:endParaRPr lang="en-US" sz="1200" b="0" i="0">
              <a:solidFill>
                <a:schemeClr val="bg2">
                  <a:lumMod val="10000"/>
                </a:schemeClr>
              </a:solidFill>
              <a:effectLst/>
              <a:latin typeface="Inter" panose="02000503000000020004" pitchFamily="2" charset="0"/>
              <a:ea typeface="Inter" panose="02000503000000020004" pitchFamily="2" charset="0"/>
              <a:cs typeface="Inter" panose="02000503000000020004" pitchFamily="2" charset="0"/>
            </a:endParaRPr>
          </a:p>
        </p:txBody>
      </p:sp>
      <p:cxnSp>
        <p:nvCxnSpPr>
          <p:cNvPr id="51" name="Straight Connector 50">
            <a:extLst>
              <a:ext uri="{FF2B5EF4-FFF2-40B4-BE49-F238E27FC236}">
                <a16:creationId xmlns:a16="http://schemas.microsoft.com/office/drawing/2014/main" id="{C7C17F0B-7C1A-4908-5F74-F8C41481871A}"/>
              </a:ext>
            </a:extLst>
          </p:cNvPr>
          <p:cNvCxnSpPr>
            <a:cxnSpLocks/>
          </p:cNvCxnSpPr>
          <p:nvPr/>
        </p:nvCxnSpPr>
        <p:spPr>
          <a:xfrm>
            <a:off x="-3" y="3219925"/>
            <a:ext cx="6036808"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3933B89-8030-D056-FB0D-8FF76F0B139A}"/>
              </a:ext>
            </a:extLst>
          </p:cNvPr>
          <p:cNvSpPr txBox="1"/>
          <p:nvPr/>
        </p:nvSpPr>
        <p:spPr>
          <a:xfrm>
            <a:off x="-3" y="4519218"/>
            <a:ext cx="5729530" cy="338554"/>
          </a:xfrm>
          <a:prstGeom prst="rect">
            <a:avLst/>
          </a:prstGeom>
          <a:noFill/>
        </p:spPr>
        <p:txBody>
          <a:bodyPr wrap="square" lIns="420624" anchor="ctr">
            <a:spAutoFit/>
          </a:bodyPr>
          <a:lstStyle/>
          <a:p>
            <a:r>
              <a:rPr lang="en-US" sz="1600" b="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Execute the playbook, re-position, and scale </a:t>
            </a:r>
          </a:p>
        </p:txBody>
      </p:sp>
      <p:sp>
        <p:nvSpPr>
          <p:cNvPr id="54" name="Rectangle 53">
            <a:extLst>
              <a:ext uri="{FF2B5EF4-FFF2-40B4-BE49-F238E27FC236}">
                <a16:creationId xmlns:a16="http://schemas.microsoft.com/office/drawing/2014/main" id="{7C3D602D-04B3-2F08-0965-96708EA5D1AE}"/>
              </a:ext>
            </a:extLst>
          </p:cNvPr>
          <p:cNvSpPr/>
          <p:nvPr/>
        </p:nvSpPr>
        <p:spPr>
          <a:xfrm>
            <a:off x="-2" y="4984613"/>
            <a:ext cx="6036807" cy="980683"/>
          </a:xfrm>
          <a:prstGeom prst="rect">
            <a:avLst/>
          </a:prstGeom>
          <a:solidFill>
            <a:srgbClr val="F0F3F7"/>
          </a:solidFill>
          <a:ln>
            <a:noFill/>
          </a:ln>
        </p:spPr>
        <p:style>
          <a:lnRef idx="2">
            <a:schemeClr val="accent1">
              <a:shade val="15000"/>
            </a:schemeClr>
          </a:lnRef>
          <a:fillRef idx="1">
            <a:schemeClr val="accent1"/>
          </a:fillRef>
          <a:effectRef idx="0">
            <a:schemeClr val="accent1"/>
          </a:effectRef>
          <a:fontRef idx="minor">
            <a:schemeClr val="lt1"/>
          </a:fontRef>
        </p:style>
        <p:txBody>
          <a:bodyPr lIns="420624" rIns="182880" rtlCol="0" anchor="ctr"/>
          <a:lstStyle/>
          <a:p>
            <a:pPr marL="171450" indent="-171450">
              <a:lnSpc>
                <a:spcPct val="100000"/>
              </a:lnSpc>
              <a:spcBef>
                <a:spcPts val="0"/>
              </a:spcBef>
              <a:buClr>
                <a:schemeClr val="tx2"/>
              </a:buClr>
              <a:buFont typeface="Arial" panose="020B0604020202020204" pitchFamily="34" charset="0"/>
              <a:buChar char="•"/>
            </a:pPr>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Alpha generation through repositioning technically differentiated manufacturers as designed-in partners to innovation-driven customers where accelerating product cycles reward engineering agility and scalable precision over price.</a:t>
            </a:r>
            <a:endParaRPr lang="en-US" sz="1200" b="0" i="0">
              <a:solidFill>
                <a:schemeClr val="bg2">
                  <a:lumMod val="10000"/>
                </a:schemeClr>
              </a:solidFill>
              <a:effectLst/>
              <a:latin typeface="Inter" panose="02000503000000020004" pitchFamily="2" charset="0"/>
              <a:ea typeface="Inter" panose="02000503000000020004" pitchFamily="2" charset="0"/>
              <a:cs typeface="Inter" panose="02000503000000020004" pitchFamily="2" charset="0"/>
            </a:endParaRPr>
          </a:p>
        </p:txBody>
      </p:sp>
      <p:cxnSp>
        <p:nvCxnSpPr>
          <p:cNvPr id="55" name="Straight Connector 54">
            <a:extLst>
              <a:ext uri="{FF2B5EF4-FFF2-40B4-BE49-F238E27FC236}">
                <a16:creationId xmlns:a16="http://schemas.microsoft.com/office/drawing/2014/main" id="{383280B0-4C2C-4911-1E12-84ABAE9982A9}"/>
              </a:ext>
            </a:extLst>
          </p:cNvPr>
          <p:cNvCxnSpPr>
            <a:cxnSpLocks/>
          </p:cNvCxnSpPr>
          <p:nvPr/>
        </p:nvCxnSpPr>
        <p:spPr>
          <a:xfrm>
            <a:off x="-4" y="4869964"/>
            <a:ext cx="6036809"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C8A1AAD6-F23C-CDA9-F9DA-680C75BD6C20}"/>
              </a:ext>
            </a:extLst>
          </p:cNvPr>
          <p:cNvSpPr txBox="1"/>
          <p:nvPr/>
        </p:nvSpPr>
        <p:spPr>
          <a:xfrm>
            <a:off x="6294474" y="1190424"/>
            <a:ext cx="5909750" cy="338554"/>
          </a:xfrm>
          <a:prstGeom prst="rect">
            <a:avLst/>
          </a:prstGeom>
          <a:noFill/>
        </p:spPr>
        <p:txBody>
          <a:bodyPr wrap="square" lIns="420624" anchor="ctr">
            <a:spAutoFit/>
          </a:bodyPr>
          <a:lstStyle/>
          <a:p>
            <a:r>
              <a:rPr lang="en-US" sz="1600" b="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Reposition to serve innovators in dynamic markets</a:t>
            </a:r>
          </a:p>
        </p:txBody>
      </p:sp>
      <p:cxnSp>
        <p:nvCxnSpPr>
          <p:cNvPr id="57" name="Straight Connector 56">
            <a:extLst>
              <a:ext uri="{FF2B5EF4-FFF2-40B4-BE49-F238E27FC236}">
                <a16:creationId xmlns:a16="http://schemas.microsoft.com/office/drawing/2014/main" id="{DFDD6971-E5AD-8E11-C245-1EA0239A1985}"/>
              </a:ext>
            </a:extLst>
          </p:cNvPr>
          <p:cNvCxnSpPr>
            <a:cxnSpLocks/>
          </p:cNvCxnSpPr>
          <p:nvPr/>
        </p:nvCxnSpPr>
        <p:spPr>
          <a:xfrm>
            <a:off x="6610349" y="1570664"/>
            <a:ext cx="55816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D23673A-54D3-3453-5B17-FACF48CF3968}"/>
              </a:ext>
            </a:extLst>
          </p:cNvPr>
          <p:cNvSpPr txBox="1"/>
          <p:nvPr/>
        </p:nvSpPr>
        <p:spPr>
          <a:xfrm>
            <a:off x="7854008" y="1689362"/>
            <a:ext cx="3128877" cy="461665"/>
          </a:xfrm>
          <a:prstGeom prst="rect">
            <a:avLst/>
          </a:prstGeom>
          <a:noFill/>
        </p:spPr>
        <p:txBody>
          <a:bodyPr wrap="square" rtlCol="0">
            <a:spAutoFit/>
          </a:bodyPr>
          <a:lstStyle/>
          <a:p>
            <a:pPr algn="ctr"/>
            <a:r>
              <a:rPr lang="en-US" sz="1200" b="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Reposition Focus</a:t>
            </a:r>
          </a:p>
          <a:p>
            <a:pPr algn="ctr"/>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Repeatable  18-36 month  Innovation Cycle</a:t>
            </a:r>
          </a:p>
        </p:txBody>
      </p:sp>
      <p:sp>
        <p:nvSpPr>
          <p:cNvPr id="8" name="Title 1">
            <a:extLst>
              <a:ext uri="{FF2B5EF4-FFF2-40B4-BE49-F238E27FC236}">
                <a16:creationId xmlns:a16="http://schemas.microsoft.com/office/drawing/2014/main" id="{ABC722DD-368B-966F-8BA7-3D48B5E498C8}"/>
              </a:ext>
            </a:extLst>
          </p:cNvPr>
          <p:cNvSpPr>
            <a:spLocks noGrp="1"/>
          </p:cNvSpPr>
          <p:nvPr>
            <p:ph type="title"/>
          </p:nvPr>
        </p:nvSpPr>
        <p:spPr>
          <a:xfrm>
            <a:off x="942561" y="509286"/>
            <a:ext cx="10515600" cy="496260"/>
          </a:xfrm>
        </p:spPr>
        <p:txBody>
          <a:bodyPr>
            <a:noAutofit/>
          </a:bodyPr>
          <a:lstStyle/>
          <a:p>
            <a:r>
              <a:rPr lang="en-US" sz="3000" b="0">
                <a:latin typeface="Inter" panose="02000503000000020004" pitchFamily="2" charset="0"/>
                <a:ea typeface="Inter" panose="02000503000000020004" pitchFamily="2" charset="0"/>
                <a:cs typeface="Inter" panose="02000503000000020004" pitchFamily="2" charset="0"/>
              </a:rPr>
              <a:t>Proven Investment Strategy</a:t>
            </a:r>
          </a:p>
        </p:txBody>
      </p:sp>
      <p:sp>
        <p:nvSpPr>
          <p:cNvPr id="15" name="TextBox 15">
            <a:extLst>
              <a:ext uri="{FF2B5EF4-FFF2-40B4-BE49-F238E27FC236}">
                <a16:creationId xmlns:a16="http://schemas.microsoft.com/office/drawing/2014/main" id="{A36E7F68-D109-89ED-A30F-17C4FB59A4DB}"/>
              </a:ext>
            </a:extLst>
          </p:cNvPr>
          <p:cNvSpPr txBox="1"/>
          <p:nvPr/>
        </p:nvSpPr>
        <p:spPr>
          <a:xfrm>
            <a:off x="8050033" y="2741365"/>
            <a:ext cx="1213873"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latin typeface="Inter" panose="02000503000000020004" pitchFamily="2" charset="0"/>
                <a:ea typeface="Inter" panose="02000503000000020004" pitchFamily="2" charset="0"/>
                <a:cs typeface="Inter" panose="02000503000000020004" pitchFamily="2" charset="0"/>
              </a:rPr>
              <a:t>Scaling with innovators in dynamic markets</a:t>
            </a:r>
          </a:p>
        </p:txBody>
      </p:sp>
      <p:sp>
        <p:nvSpPr>
          <p:cNvPr id="16" name="TextBox 15">
            <a:extLst>
              <a:ext uri="{FF2B5EF4-FFF2-40B4-BE49-F238E27FC236}">
                <a16:creationId xmlns:a16="http://schemas.microsoft.com/office/drawing/2014/main" id="{C28F832B-336D-3087-C32B-4791B06771C5}"/>
              </a:ext>
            </a:extLst>
          </p:cNvPr>
          <p:cNvSpPr txBox="1"/>
          <p:nvPr/>
        </p:nvSpPr>
        <p:spPr>
          <a:xfrm>
            <a:off x="9456217" y="2741365"/>
            <a:ext cx="1336308"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latin typeface="Inter" panose="02000503000000020004" pitchFamily="2" charset="0"/>
                <a:ea typeface="Inter" panose="02000503000000020004" pitchFamily="2" charset="0"/>
                <a:cs typeface="Inter" panose="02000503000000020004" pitchFamily="2" charset="0"/>
              </a:rPr>
              <a:t>Scaled production while engineering next generation</a:t>
            </a:r>
          </a:p>
        </p:txBody>
      </p:sp>
      <p:sp>
        <p:nvSpPr>
          <p:cNvPr id="17" name="Oval 16">
            <a:extLst>
              <a:ext uri="{FF2B5EF4-FFF2-40B4-BE49-F238E27FC236}">
                <a16:creationId xmlns:a16="http://schemas.microsoft.com/office/drawing/2014/main" id="{6A771A71-D1A1-D511-A677-DC665159D193}"/>
              </a:ext>
            </a:extLst>
          </p:cNvPr>
          <p:cNvSpPr/>
          <p:nvPr/>
        </p:nvSpPr>
        <p:spPr>
          <a:xfrm>
            <a:off x="6673049" y="3611014"/>
            <a:ext cx="1584251" cy="794621"/>
          </a:xfrm>
          <a:prstGeom prst="ellipse">
            <a:avLst/>
          </a:prstGeom>
          <a:noFill/>
          <a:ln>
            <a:solidFill>
              <a:schemeClr val="accent1">
                <a:shade val="15000"/>
              </a:schemeClr>
            </a:solidFill>
            <a:prstDash val="dash"/>
            <a:extLst>
              <a:ext uri="{C807C97D-BFC1-408E-A445-0C87EB9F89A2}">
                <ask:lineSketchStyleProps xmlns:ask="http://schemas.microsoft.com/office/drawing/2018/sketchyshapes" sd="1219033472">
                  <a:custGeom>
                    <a:avLst/>
                    <a:gdLst>
                      <a:gd name="connsiteX0" fmla="*/ 0 w 1584251"/>
                      <a:gd name="connsiteY0" fmla="*/ 397311 h 794621"/>
                      <a:gd name="connsiteX1" fmla="*/ 792126 w 1584251"/>
                      <a:gd name="connsiteY1" fmla="*/ 0 h 794621"/>
                      <a:gd name="connsiteX2" fmla="*/ 1584252 w 1584251"/>
                      <a:gd name="connsiteY2" fmla="*/ 397311 h 794621"/>
                      <a:gd name="connsiteX3" fmla="*/ 792126 w 1584251"/>
                      <a:gd name="connsiteY3" fmla="*/ 794622 h 794621"/>
                      <a:gd name="connsiteX4" fmla="*/ 0 w 1584251"/>
                      <a:gd name="connsiteY4" fmla="*/ 397311 h 794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251" h="794621" extrusionOk="0">
                        <a:moveTo>
                          <a:pt x="0" y="397311"/>
                        </a:moveTo>
                        <a:cubicBezTo>
                          <a:pt x="-84625" y="125683"/>
                          <a:pt x="274059" y="30246"/>
                          <a:pt x="792126" y="0"/>
                        </a:cubicBezTo>
                        <a:cubicBezTo>
                          <a:pt x="1292530" y="13247"/>
                          <a:pt x="1566121" y="178459"/>
                          <a:pt x="1584252" y="397311"/>
                        </a:cubicBezTo>
                        <a:cubicBezTo>
                          <a:pt x="1571557" y="629137"/>
                          <a:pt x="1225169" y="819139"/>
                          <a:pt x="792126" y="794622"/>
                        </a:cubicBezTo>
                        <a:cubicBezTo>
                          <a:pt x="319032" y="775136"/>
                          <a:pt x="12041" y="622493"/>
                          <a:pt x="0" y="397311"/>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1970E26-46AD-E34D-360B-8116E99A7055}"/>
              </a:ext>
            </a:extLst>
          </p:cNvPr>
          <p:cNvSpPr txBox="1"/>
          <p:nvPr/>
        </p:nvSpPr>
        <p:spPr>
          <a:xfrm>
            <a:off x="7073032" y="3798225"/>
            <a:ext cx="801309" cy="461665"/>
          </a:xfrm>
          <a:prstGeom prst="rect">
            <a:avLst/>
          </a:prstGeom>
          <a:noFill/>
        </p:spPr>
        <p:txBody>
          <a:bodyPr wrap="square" rtlCol="0">
            <a:spAutoFit/>
          </a:bodyPr>
          <a:lstStyle/>
          <a:p>
            <a:pPr algn="ctr"/>
            <a:r>
              <a:rPr lang="en-US" sz="1200"/>
              <a:t>Sourcing </a:t>
            </a:r>
          </a:p>
          <a:p>
            <a:pPr algn="ctr"/>
            <a:r>
              <a:rPr lang="en-US" sz="1200"/>
              <a:t>Targets</a:t>
            </a:r>
          </a:p>
        </p:txBody>
      </p:sp>
      <p:sp>
        <p:nvSpPr>
          <p:cNvPr id="2" name="Oval 1">
            <a:extLst>
              <a:ext uri="{FF2B5EF4-FFF2-40B4-BE49-F238E27FC236}">
                <a16:creationId xmlns:a16="http://schemas.microsoft.com/office/drawing/2014/main" id="{9D6D30C7-A3CD-0660-5A93-AB79C36F299C}"/>
              </a:ext>
            </a:extLst>
          </p:cNvPr>
          <p:cNvSpPr/>
          <p:nvPr/>
        </p:nvSpPr>
        <p:spPr>
          <a:xfrm>
            <a:off x="10510125" y="3611014"/>
            <a:ext cx="1584251" cy="794621"/>
          </a:xfrm>
          <a:prstGeom prst="ellipse">
            <a:avLst/>
          </a:prstGeom>
          <a:noFill/>
          <a:ln>
            <a:solidFill>
              <a:schemeClr val="accent1">
                <a:shade val="15000"/>
              </a:schemeClr>
            </a:solidFill>
            <a:prstDash val="dash"/>
            <a:extLst>
              <a:ext uri="{C807C97D-BFC1-408E-A445-0C87EB9F89A2}">
                <ask:lineSketchStyleProps xmlns:ask="http://schemas.microsoft.com/office/drawing/2018/sketchyshapes" sd="1219033472">
                  <a:custGeom>
                    <a:avLst/>
                    <a:gdLst>
                      <a:gd name="connsiteX0" fmla="*/ 0 w 1584251"/>
                      <a:gd name="connsiteY0" fmla="*/ 397311 h 794621"/>
                      <a:gd name="connsiteX1" fmla="*/ 792126 w 1584251"/>
                      <a:gd name="connsiteY1" fmla="*/ 0 h 794621"/>
                      <a:gd name="connsiteX2" fmla="*/ 1584252 w 1584251"/>
                      <a:gd name="connsiteY2" fmla="*/ 397311 h 794621"/>
                      <a:gd name="connsiteX3" fmla="*/ 792126 w 1584251"/>
                      <a:gd name="connsiteY3" fmla="*/ 794622 h 794621"/>
                      <a:gd name="connsiteX4" fmla="*/ 0 w 1584251"/>
                      <a:gd name="connsiteY4" fmla="*/ 397311 h 794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251" h="794621" extrusionOk="0">
                        <a:moveTo>
                          <a:pt x="0" y="397311"/>
                        </a:moveTo>
                        <a:cubicBezTo>
                          <a:pt x="-84625" y="125683"/>
                          <a:pt x="274059" y="30246"/>
                          <a:pt x="792126" y="0"/>
                        </a:cubicBezTo>
                        <a:cubicBezTo>
                          <a:pt x="1292530" y="13247"/>
                          <a:pt x="1566121" y="178459"/>
                          <a:pt x="1584252" y="397311"/>
                        </a:cubicBezTo>
                        <a:cubicBezTo>
                          <a:pt x="1571557" y="629137"/>
                          <a:pt x="1225169" y="819139"/>
                          <a:pt x="792126" y="794622"/>
                        </a:cubicBezTo>
                        <a:cubicBezTo>
                          <a:pt x="319032" y="775136"/>
                          <a:pt x="12041" y="622493"/>
                          <a:pt x="0" y="397311"/>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C240551-7F86-94BE-932F-4DE7A790897A}"/>
              </a:ext>
            </a:extLst>
          </p:cNvPr>
          <p:cNvSpPr txBox="1"/>
          <p:nvPr/>
        </p:nvSpPr>
        <p:spPr>
          <a:xfrm>
            <a:off x="10910108" y="3798225"/>
            <a:ext cx="801309" cy="461665"/>
          </a:xfrm>
          <a:prstGeom prst="rect">
            <a:avLst/>
          </a:prstGeom>
          <a:noFill/>
        </p:spPr>
        <p:txBody>
          <a:bodyPr wrap="square" rtlCol="0">
            <a:spAutoFit/>
          </a:bodyPr>
          <a:lstStyle/>
          <a:p>
            <a:pPr algn="ctr"/>
            <a:r>
              <a:rPr lang="en-US" sz="1200"/>
              <a:t>Sourcing </a:t>
            </a:r>
          </a:p>
          <a:p>
            <a:pPr algn="ctr"/>
            <a:r>
              <a:rPr lang="en-US" sz="1200"/>
              <a:t>Targets</a:t>
            </a:r>
          </a:p>
        </p:txBody>
      </p:sp>
    </p:spTree>
    <p:extLst>
      <p:ext uri="{BB962C8B-B14F-4D97-AF65-F5344CB8AC3E}">
        <p14:creationId xmlns:p14="http://schemas.microsoft.com/office/powerpoint/2010/main" val="3298297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C5C8D-BC42-6752-EDA7-A50D1DD5E179}"/>
              </a:ext>
            </a:extLst>
          </p:cNvPr>
          <p:cNvSpPr>
            <a:spLocks noGrp="1"/>
          </p:cNvSpPr>
          <p:nvPr>
            <p:ph type="title"/>
          </p:nvPr>
        </p:nvSpPr>
        <p:spPr>
          <a:xfrm>
            <a:off x="535202" y="1743959"/>
            <a:ext cx="3468144" cy="2903456"/>
          </a:xfrm>
        </p:spPr>
        <p:txBody>
          <a:bodyPr>
            <a:normAutofit/>
          </a:bodyPr>
          <a:lstStyle/>
          <a:p>
            <a:r>
              <a:rPr lang="en-US" sz="3000">
                <a:latin typeface="Inter" panose="02000503000000020004" pitchFamily="2" charset="0"/>
                <a:ea typeface="Inter" panose="02000503000000020004" pitchFamily="2" charset="0"/>
                <a:cs typeface="Inter" panose="02000503000000020004" pitchFamily="2" charset="0"/>
              </a:rPr>
              <a:t>Lower-Middle Market Industrials: </a:t>
            </a:r>
            <a:br>
              <a:rPr lang="en-US" sz="3000">
                <a:latin typeface="Inter" panose="02000503000000020004" pitchFamily="2" charset="0"/>
                <a:ea typeface="Inter" panose="02000503000000020004" pitchFamily="2" charset="0"/>
                <a:cs typeface="Inter" panose="02000503000000020004" pitchFamily="2" charset="0"/>
              </a:rPr>
            </a:br>
            <a:r>
              <a:rPr lang="en-US" sz="3000">
                <a:solidFill>
                  <a:schemeClr val="accent1"/>
                </a:solidFill>
                <a:latin typeface="Inter" panose="02000503000000020004" pitchFamily="2" charset="0"/>
                <a:ea typeface="Inter" panose="02000503000000020004" pitchFamily="2" charset="0"/>
                <a:cs typeface="Inter" panose="02000503000000020004" pitchFamily="2" charset="0"/>
              </a:rPr>
              <a:t>Sub-Segment Focus</a:t>
            </a:r>
            <a:br>
              <a:rPr lang="en-US" sz="3000">
                <a:latin typeface="Inter" panose="02000503000000020004" pitchFamily="2" charset="0"/>
                <a:ea typeface="Inter" panose="02000503000000020004" pitchFamily="2" charset="0"/>
                <a:cs typeface="Inter" panose="02000503000000020004" pitchFamily="2" charset="0"/>
              </a:rPr>
            </a:br>
            <a:endParaRPr lang="en-US" sz="3000">
              <a:latin typeface="Inter" panose="02000503000000020004" pitchFamily="2" charset="0"/>
              <a:ea typeface="Inter" panose="02000503000000020004" pitchFamily="2" charset="0"/>
              <a:cs typeface="Inter" panose="02000503000000020004" pitchFamily="2" charset="0"/>
            </a:endParaRPr>
          </a:p>
        </p:txBody>
      </p:sp>
      <p:sp>
        <p:nvSpPr>
          <p:cNvPr id="6" name="Content Placeholder 2">
            <a:extLst>
              <a:ext uri="{FF2B5EF4-FFF2-40B4-BE49-F238E27FC236}">
                <a16:creationId xmlns:a16="http://schemas.microsoft.com/office/drawing/2014/main" id="{D97E05EB-9E1A-D516-FB84-EA033D1DD39B}"/>
              </a:ext>
            </a:extLst>
          </p:cNvPr>
          <p:cNvSpPr txBox="1">
            <a:spLocks/>
          </p:cNvSpPr>
          <p:nvPr/>
        </p:nvSpPr>
        <p:spPr>
          <a:xfrm>
            <a:off x="4687694" y="2798628"/>
            <a:ext cx="6445362" cy="1406860"/>
          </a:xfrm>
          <a:prstGeom prst="rect">
            <a:avLst/>
          </a:prstGeom>
        </p:spPr>
        <p:txBody>
          <a:bodyPr vert="horz" lIns="91440" tIns="45720" rIns="91440" bIns="45720" rtlCol="0">
            <a:noAutofit/>
          </a:bodyPr>
          <a:lstStyle>
            <a:lvl1pPr marL="109728" indent="-109728" algn="l" defTabSz="914400" rtl="0" eaLnBrk="1" latinLnBrk="0" hangingPunct="1">
              <a:lnSpc>
                <a:spcPct val="100000"/>
              </a:lnSpc>
              <a:spcBef>
                <a:spcPts val="10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1pPr>
            <a:lvl2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2pPr>
            <a:lvl3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3pPr>
            <a:lvl4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4pPr>
            <a:lvl5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a:t>Catskill Partners is focused on three specific segments within the Advanced Industrials manufacturing lower-middle market. Our areas of focus benefit from geo-political and innovation tailwinds combined with Catskill Partner’s deep operational expertise &amp; relationships</a:t>
            </a:r>
          </a:p>
        </p:txBody>
      </p:sp>
      <p:pic>
        <p:nvPicPr>
          <p:cNvPr id="10" name="Picture 9" descr="A person holding a tablet in a factory&#10;&#10;AI-generated content may be incorrect.">
            <a:extLst>
              <a:ext uri="{FF2B5EF4-FFF2-40B4-BE49-F238E27FC236}">
                <a16:creationId xmlns:a16="http://schemas.microsoft.com/office/drawing/2014/main" id="{E8D0E65B-29B6-0251-5994-A9A6C73F8221}"/>
              </a:ext>
            </a:extLst>
          </p:cNvPr>
          <p:cNvPicPr>
            <a:picLocks noChangeAspect="1"/>
          </p:cNvPicPr>
          <p:nvPr/>
        </p:nvPicPr>
        <p:blipFill>
          <a:blip r:embed="rId2"/>
          <a:stretch>
            <a:fillRect/>
          </a:stretch>
        </p:blipFill>
        <p:spPr>
          <a:xfrm>
            <a:off x="4687694" y="0"/>
            <a:ext cx="4050481" cy="2356701"/>
          </a:xfrm>
          <a:prstGeom prst="rect">
            <a:avLst/>
          </a:prstGeom>
        </p:spPr>
      </p:pic>
      <p:sp>
        <p:nvSpPr>
          <p:cNvPr id="11" name="Content Placeholder 2">
            <a:extLst>
              <a:ext uri="{FF2B5EF4-FFF2-40B4-BE49-F238E27FC236}">
                <a16:creationId xmlns:a16="http://schemas.microsoft.com/office/drawing/2014/main" id="{8E29B174-37A4-FD11-D5F3-6515E153B800}"/>
              </a:ext>
            </a:extLst>
          </p:cNvPr>
          <p:cNvSpPr txBox="1">
            <a:spLocks/>
          </p:cNvSpPr>
          <p:nvPr/>
        </p:nvSpPr>
        <p:spPr>
          <a:xfrm>
            <a:off x="4609706" y="4205488"/>
            <a:ext cx="7599555" cy="1552976"/>
          </a:xfrm>
          <a:prstGeom prst="rect">
            <a:avLst/>
          </a:prstGeom>
        </p:spPr>
        <p:txBody>
          <a:bodyPr vert="horz" lIns="91440" tIns="45720" rIns="91440" bIns="45720" rtlCol="0">
            <a:noAutofit/>
          </a:bodyPr>
          <a:lstStyle>
            <a:lvl1pPr marL="109728" indent="-109728" algn="l" defTabSz="914400" rtl="0" eaLnBrk="1" latinLnBrk="0" hangingPunct="1">
              <a:lnSpc>
                <a:spcPct val="100000"/>
              </a:lnSpc>
              <a:spcBef>
                <a:spcPts val="10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1pPr>
            <a:lvl2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2pPr>
            <a:lvl3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3pPr>
            <a:lvl4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4pPr>
            <a:lvl5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Aft>
                <a:spcPts val="500"/>
              </a:spcAft>
              <a:buFont typeface="+mj-lt"/>
              <a:buAutoNum type="arabicPeriod"/>
            </a:pPr>
            <a:r>
              <a:rPr lang="en-US" sz="1800" b="1">
                <a:solidFill>
                  <a:schemeClr val="tx2"/>
                </a:solidFill>
                <a:ea typeface="Inter" panose="02000503000000020004" pitchFamily="2" charset="0"/>
                <a:cs typeface="Inter" panose="02000503000000020004" pitchFamily="2" charset="0"/>
              </a:rPr>
              <a:t>Advanced Manufacturing &amp; Industrial Technologies</a:t>
            </a:r>
          </a:p>
          <a:p>
            <a:pPr marL="457200" indent="-342900">
              <a:lnSpc>
                <a:spcPct val="110000"/>
              </a:lnSpc>
              <a:spcBef>
                <a:spcPts val="0"/>
              </a:spcBef>
              <a:spcAft>
                <a:spcPts val="500"/>
              </a:spcAft>
              <a:buFont typeface="+mj-lt"/>
              <a:buAutoNum type="arabicPeriod" startAt="2"/>
            </a:pPr>
            <a:r>
              <a:rPr lang="en-US" sz="1800" b="1">
                <a:ea typeface="Inter" panose="02000503000000020004" pitchFamily="2" charset="0"/>
                <a:cs typeface="Inter" panose="02000503000000020004" pitchFamily="2" charset="0"/>
              </a:rPr>
              <a:t>Engineered Materials and Applied Systems</a:t>
            </a:r>
          </a:p>
          <a:p>
            <a:pPr marL="457200" indent="-342900">
              <a:lnSpc>
                <a:spcPct val="110000"/>
              </a:lnSpc>
              <a:spcBef>
                <a:spcPts val="0"/>
              </a:spcBef>
              <a:spcAft>
                <a:spcPts val="500"/>
              </a:spcAft>
              <a:buFont typeface="+mj-lt"/>
              <a:buAutoNum type="arabicPeriod" startAt="2"/>
            </a:pPr>
            <a:r>
              <a:rPr lang="en-US" sz="1800" b="1">
                <a:ea typeface="Inter" panose="02000503000000020004" pitchFamily="2" charset="0"/>
                <a:cs typeface="Inter" panose="02000503000000020004" pitchFamily="2" charset="0"/>
              </a:rPr>
              <a:t>Precision Components &amp; Specialty Platforms</a:t>
            </a:r>
          </a:p>
          <a:p>
            <a:pPr marL="114300" indent="0">
              <a:spcAft>
                <a:spcPts val="500"/>
              </a:spcAft>
              <a:buNone/>
            </a:pPr>
            <a:endParaRPr lang="en-US" sz="1800" b="1">
              <a:solidFill>
                <a:schemeClr val="tx2"/>
              </a:solidFill>
              <a:ea typeface="Inter" panose="02000503000000020004" pitchFamily="2" charset="0"/>
              <a:cs typeface="Inter" panose="02000503000000020004" pitchFamily="2" charset="0"/>
            </a:endParaRPr>
          </a:p>
          <a:p>
            <a:pPr marL="457200" indent="-342900">
              <a:spcAft>
                <a:spcPts val="500"/>
              </a:spcAft>
              <a:buFont typeface="+mj-lt"/>
              <a:buAutoNum type="arabicPeriod"/>
            </a:pPr>
            <a:endParaRPr lang="en-US" sz="1800" b="1">
              <a:solidFill>
                <a:schemeClr val="tx2"/>
              </a:solidFill>
              <a:ea typeface="Inter" panose="02000503000000020004" pitchFamily="2" charset="0"/>
              <a:cs typeface="Inter" panose="02000503000000020004" pitchFamily="2" charset="0"/>
            </a:endParaRPr>
          </a:p>
        </p:txBody>
      </p:sp>
      <p:sp>
        <p:nvSpPr>
          <p:cNvPr id="12" name="Content Placeholder 2">
            <a:extLst>
              <a:ext uri="{FF2B5EF4-FFF2-40B4-BE49-F238E27FC236}">
                <a16:creationId xmlns:a16="http://schemas.microsoft.com/office/drawing/2014/main" id="{DDDDBFFB-1B37-076F-C026-F282B65C9DE1}"/>
              </a:ext>
            </a:extLst>
          </p:cNvPr>
          <p:cNvSpPr txBox="1">
            <a:spLocks/>
          </p:cNvSpPr>
          <p:nvPr/>
        </p:nvSpPr>
        <p:spPr>
          <a:xfrm>
            <a:off x="4592445" y="4647415"/>
            <a:ext cx="7599555" cy="324093"/>
          </a:xfrm>
          <a:prstGeom prst="rect">
            <a:avLst/>
          </a:prstGeom>
        </p:spPr>
        <p:txBody>
          <a:bodyPr vert="horz" lIns="91440" tIns="45720" rIns="91440" bIns="45720" rtlCol="0">
            <a:noAutofit/>
          </a:bodyPr>
          <a:lstStyle>
            <a:lvl1pPr marL="109728" indent="-109728" algn="l" defTabSz="914400" rtl="0" eaLnBrk="1" latinLnBrk="0" hangingPunct="1">
              <a:lnSpc>
                <a:spcPct val="100000"/>
              </a:lnSpc>
              <a:spcBef>
                <a:spcPts val="10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1pPr>
            <a:lvl2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2pPr>
            <a:lvl3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3pPr>
            <a:lvl4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4pPr>
            <a:lvl5pPr marL="109728" indent="-109728" algn="l" defTabSz="914400" rtl="0" eaLnBrk="1" latinLnBrk="0" hangingPunct="1">
              <a:lnSpc>
                <a:spcPct val="100000"/>
              </a:lnSpc>
              <a:spcBef>
                <a:spcPts val="500"/>
              </a:spcBef>
              <a:spcAft>
                <a:spcPts val="300"/>
              </a:spcAft>
              <a:buFont typeface="Arial" panose="020B0604020202020204" pitchFamily="34" charset="0"/>
              <a:buChar char="•"/>
              <a:defRPr sz="1400" kern="1200" baseline="0">
                <a:solidFill>
                  <a:schemeClr val="tx1"/>
                </a:solidFill>
                <a:latin typeface="Inter" panose="0200050300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42900">
              <a:spcAft>
                <a:spcPts val="500"/>
              </a:spcAft>
              <a:buFont typeface="+mj-lt"/>
              <a:buAutoNum type="arabicPeriod"/>
            </a:pPr>
            <a:endParaRPr lang="en-US" sz="1800" b="1">
              <a:solidFill>
                <a:schemeClr val="tx2"/>
              </a:solidFill>
              <a:ea typeface="Inter" panose="02000503000000020004" pitchFamily="2" charset="0"/>
              <a:cs typeface="Inter" panose="02000503000000020004" pitchFamily="2" charset="0"/>
            </a:endParaRPr>
          </a:p>
        </p:txBody>
      </p:sp>
    </p:spTree>
    <p:extLst>
      <p:ext uri="{BB962C8B-B14F-4D97-AF65-F5344CB8AC3E}">
        <p14:creationId xmlns:p14="http://schemas.microsoft.com/office/powerpoint/2010/main" val="1795868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487680" y="1280160"/>
            <a:ext cx="3535680" cy="4016021"/>
          </a:xfrm>
          <a:prstGeom prst="rect">
            <a:avLst/>
          </a:prstGeom>
          <a:solidFill>
            <a:srgbClr val="FFFFFF"/>
          </a:solidFill>
          <a:ln w="12700">
            <a:solidFill>
              <a:srgbClr val="E8ECF2"/>
            </a:solidFill>
            <a:prstDash val="solid"/>
          </a:ln>
          <a:effectLst>
            <a:outerShdw blurRad="101600" dist="25400" dir="8100000" algn="bl" rotWithShape="0">
              <a:srgbClr val="000000">
                <a:alpha val="7000"/>
              </a:srgbClr>
            </a:outerShdw>
          </a:effectLst>
        </p:spPr>
        <p:txBody>
          <a:bodyPr/>
          <a:lstStyle/>
          <a:p>
            <a:endParaRPr lang="en-US" sz="2400">
              <a:latin typeface="Inter" panose="02000503000000020004" pitchFamily="2" charset="0"/>
              <a:ea typeface="Inter" panose="02000503000000020004" pitchFamily="2" charset="0"/>
              <a:cs typeface="Inter" panose="02000503000000020004" pitchFamily="2" charset="0"/>
            </a:endParaRPr>
          </a:p>
          <a:p>
            <a:endParaRPr lang="en-US" sz="2400">
              <a:latin typeface="Inter" panose="02000503000000020004" pitchFamily="2" charset="0"/>
              <a:ea typeface="Inter" panose="02000503000000020004" pitchFamily="2" charset="0"/>
              <a:cs typeface="Inter" panose="02000503000000020004" pitchFamily="2" charset="0"/>
            </a:endParaRPr>
          </a:p>
          <a:p>
            <a:endParaRPr lang="en-US" sz="2400">
              <a:latin typeface="Inter" panose="02000503000000020004" pitchFamily="2" charset="0"/>
              <a:ea typeface="Inter" panose="02000503000000020004" pitchFamily="2" charset="0"/>
              <a:cs typeface="Inter" panose="02000503000000020004" pitchFamily="2" charset="0"/>
            </a:endParaRPr>
          </a:p>
          <a:p>
            <a:endParaRPr lang="en-US" sz="2400">
              <a:latin typeface="Inter" panose="02000503000000020004" pitchFamily="2" charset="0"/>
              <a:ea typeface="Inter" panose="02000503000000020004" pitchFamily="2" charset="0"/>
              <a:cs typeface="Inter" panose="02000503000000020004" pitchFamily="2" charset="0"/>
            </a:endParaRPr>
          </a:p>
          <a:p>
            <a:endParaRPr lang="en-US" sz="2400">
              <a:latin typeface="Inter" panose="02000503000000020004" pitchFamily="2" charset="0"/>
              <a:ea typeface="Inter" panose="02000503000000020004" pitchFamily="2" charset="0"/>
              <a:cs typeface="Inter" panose="02000503000000020004" pitchFamily="2" charset="0"/>
            </a:endParaRPr>
          </a:p>
          <a:p>
            <a:endParaRPr lang="en-US" sz="2400">
              <a:latin typeface="Inter" panose="02000503000000020004" pitchFamily="2" charset="0"/>
              <a:ea typeface="Inter" panose="02000503000000020004" pitchFamily="2" charset="0"/>
              <a:cs typeface="Inter" panose="02000503000000020004" pitchFamily="2" charset="0"/>
            </a:endParaRPr>
          </a:p>
          <a:p>
            <a:endParaRPr lang="en-US" sz="2400">
              <a:latin typeface="Inter" panose="02000503000000020004" pitchFamily="2" charset="0"/>
              <a:ea typeface="Inter" panose="02000503000000020004" pitchFamily="2" charset="0"/>
              <a:cs typeface="Inter" panose="02000503000000020004" pitchFamily="2" charset="0"/>
            </a:endParaRPr>
          </a:p>
          <a:p>
            <a:endParaRPr lang="en-US" sz="2400">
              <a:latin typeface="Inter" panose="02000503000000020004" pitchFamily="2" charset="0"/>
              <a:ea typeface="Inter" panose="02000503000000020004" pitchFamily="2" charset="0"/>
              <a:cs typeface="Inter" panose="02000503000000020004" pitchFamily="2" charset="0"/>
            </a:endParaRPr>
          </a:p>
          <a:p>
            <a:endParaRPr lang="en-US" sz="2400">
              <a:latin typeface="Inter" panose="02000503000000020004" pitchFamily="2" charset="0"/>
              <a:ea typeface="Inter" panose="02000503000000020004" pitchFamily="2" charset="0"/>
              <a:cs typeface="Inter" panose="02000503000000020004" pitchFamily="2" charset="0"/>
            </a:endParaRPr>
          </a:p>
        </p:txBody>
      </p:sp>
      <p:sp>
        <p:nvSpPr>
          <p:cNvPr id="7" name="Shape 5"/>
          <p:cNvSpPr/>
          <p:nvPr/>
        </p:nvSpPr>
        <p:spPr>
          <a:xfrm>
            <a:off x="487680" y="1280160"/>
            <a:ext cx="3535680" cy="73152"/>
          </a:xfrm>
          <a:prstGeom prst="rect">
            <a:avLst/>
          </a:prstGeom>
          <a:solidFill>
            <a:srgbClr val="132240"/>
          </a:solidFill>
          <a:ln w="12700">
            <a:solidFill>
              <a:srgbClr val="132240"/>
            </a:solidFill>
            <a:prstDash val="solid"/>
          </a:ln>
        </p:spPr>
        <p:txBody>
          <a:bodyPr/>
          <a:lstStyle/>
          <a:p>
            <a:endParaRPr lang="en-US" sz="2400"/>
          </a:p>
        </p:txBody>
      </p:sp>
      <p:sp>
        <p:nvSpPr>
          <p:cNvPr id="8" name="Text 6"/>
          <p:cNvSpPr/>
          <p:nvPr/>
        </p:nvSpPr>
        <p:spPr>
          <a:xfrm>
            <a:off x="670560" y="1377696"/>
            <a:ext cx="3169920" cy="341376"/>
          </a:xfrm>
          <a:prstGeom prst="rect">
            <a:avLst/>
          </a:prstGeom>
          <a:noFill/>
          <a:ln/>
        </p:spPr>
        <p:txBody>
          <a:bodyPr wrap="square" lIns="0" tIns="0" rIns="0" bIns="0" rtlCol="0" anchor="ctr"/>
          <a:lstStyle/>
          <a:p>
            <a:r>
              <a:rPr lang="en-US" sz="1333" b="1" kern="0" spc="133">
                <a:solidFill>
                  <a:srgbClr val="132240"/>
                </a:solidFill>
                <a:latin typeface="Inter" panose="02000503000000020004" pitchFamily="2" charset="0"/>
                <a:ea typeface="Inter" panose="02000503000000020004" pitchFamily="2" charset="0"/>
                <a:cs typeface="Inter" panose="02000503000000020004" pitchFamily="2" charset="0"/>
              </a:rPr>
              <a:t>SUCCESSION WAVE</a:t>
            </a:r>
            <a:endParaRPr lang="en-US" sz="1333">
              <a:latin typeface="Inter" panose="02000503000000020004" pitchFamily="2" charset="0"/>
              <a:ea typeface="Inter" panose="02000503000000020004" pitchFamily="2" charset="0"/>
              <a:cs typeface="Inter" panose="02000503000000020004" pitchFamily="2" charset="0"/>
            </a:endParaRPr>
          </a:p>
        </p:txBody>
      </p:sp>
      <p:sp>
        <p:nvSpPr>
          <p:cNvPr id="9" name="Text 7"/>
          <p:cNvSpPr/>
          <p:nvPr/>
        </p:nvSpPr>
        <p:spPr>
          <a:xfrm>
            <a:off x="670560" y="1706880"/>
            <a:ext cx="3169920" cy="268224"/>
          </a:xfrm>
          <a:prstGeom prst="rect">
            <a:avLst/>
          </a:prstGeom>
          <a:noFill/>
          <a:ln/>
        </p:spPr>
        <p:txBody>
          <a:bodyPr wrap="square" lIns="0" tIns="0" rIns="0" bIns="0" rtlCol="0" anchor="ctr"/>
          <a:lstStyle/>
          <a:p>
            <a:r>
              <a:rPr lang="en-US" sz="1200" i="1">
                <a:solidFill>
                  <a:srgbClr val="94A3B8"/>
                </a:solidFill>
                <a:latin typeface="Inter" panose="02000503000000020004" pitchFamily="2" charset="0"/>
                <a:ea typeface="Inter" panose="02000503000000020004" pitchFamily="2" charset="0"/>
                <a:cs typeface="Inter" panose="02000503000000020004" pitchFamily="2" charset="0"/>
              </a:rPr>
              <a:t>Founder Exit Overhang</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10" name="Shape 8"/>
          <p:cNvSpPr/>
          <p:nvPr/>
        </p:nvSpPr>
        <p:spPr>
          <a:xfrm>
            <a:off x="670560" y="2011680"/>
            <a:ext cx="3169920" cy="975360"/>
          </a:xfrm>
          <a:prstGeom prst="rect">
            <a:avLst/>
          </a:prstGeom>
          <a:solidFill>
            <a:srgbClr val="EBF0F9"/>
          </a:solidFill>
          <a:ln w="12700">
            <a:solidFill>
              <a:srgbClr val="E0E6F0"/>
            </a:solidFill>
            <a:prstDash val="solid"/>
          </a:ln>
        </p:spPr>
        <p:txBody>
          <a:bodyPr/>
          <a:lstStyle/>
          <a:p>
            <a:endParaRPr lang="en-US" sz="2400"/>
          </a:p>
        </p:txBody>
      </p:sp>
      <p:sp>
        <p:nvSpPr>
          <p:cNvPr id="11" name="Text 9"/>
          <p:cNvSpPr/>
          <p:nvPr/>
        </p:nvSpPr>
        <p:spPr>
          <a:xfrm>
            <a:off x="670560" y="2048256"/>
            <a:ext cx="3169920" cy="585216"/>
          </a:xfrm>
          <a:prstGeom prst="rect">
            <a:avLst/>
          </a:prstGeom>
          <a:noFill/>
          <a:ln/>
        </p:spPr>
        <p:txBody>
          <a:bodyPr wrap="square" lIns="0" tIns="0" rIns="0" bIns="0" rtlCol="0" anchor="ctr"/>
          <a:lstStyle/>
          <a:p>
            <a:pPr algn="ctr"/>
            <a:r>
              <a:rPr lang="en-US" sz="3467" b="1">
                <a:solidFill>
                  <a:srgbClr val="132240"/>
                </a:solidFill>
                <a:latin typeface="Inter" panose="02000503000000020004" pitchFamily="2" charset="0"/>
                <a:ea typeface="Inter" panose="02000503000000020004" pitchFamily="2" charset="0"/>
                <a:cs typeface="Inter" panose="02000503000000020004" pitchFamily="2" charset="0"/>
              </a:rPr>
              <a:t>60%+</a:t>
            </a:r>
            <a:endParaRPr lang="en-US" sz="3467">
              <a:latin typeface="Inter" panose="02000503000000020004" pitchFamily="2" charset="0"/>
              <a:ea typeface="Inter" panose="02000503000000020004" pitchFamily="2" charset="0"/>
              <a:cs typeface="Inter" panose="02000503000000020004" pitchFamily="2" charset="0"/>
            </a:endParaRPr>
          </a:p>
        </p:txBody>
      </p:sp>
      <p:sp>
        <p:nvSpPr>
          <p:cNvPr id="12" name="Text 10"/>
          <p:cNvSpPr/>
          <p:nvPr/>
        </p:nvSpPr>
        <p:spPr>
          <a:xfrm>
            <a:off x="670560" y="2560320"/>
            <a:ext cx="3169920" cy="390144"/>
          </a:xfrm>
          <a:prstGeom prst="rect">
            <a:avLst/>
          </a:prstGeom>
          <a:noFill/>
          <a:ln/>
        </p:spPr>
        <p:txBody>
          <a:bodyPr wrap="square" lIns="0" tIns="0" rIns="0" bIns="0" rtlCol="0" anchor="ctr"/>
          <a:lstStyle/>
          <a:p>
            <a:pPr algn="ctr"/>
            <a:r>
              <a:rPr lang="en-US" sz="1067">
                <a:solidFill>
                  <a:srgbClr val="2D3A4E"/>
                </a:solidFill>
                <a:latin typeface="Inter" panose="02000503000000020004" pitchFamily="2" charset="0"/>
                <a:ea typeface="Inter" panose="02000503000000020004" pitchFamily="2" charset="0"/>
                <a:cs typeface="Inter" panose="02000503000000020004" pitchFamily="2" charset="0"/>
              </a:rPr>
              <a:t>of owners 55+</a:t>
            </a:r>
            <a:endParaRPr lang="en-US" sz="1067">
              <a:latin typeface="Inter" panose="02000503000000020004" pitchFamily="2" charset="0"/>
              <a:ea typeface="Inter" panose="02000503000000020004" pitchFamily="2" charset="0"/>
              <a:cs typeface="Inter" panose="02000503000000020004" pitchFamily="2" charset="0"/>
            </a:endParaRPr>
          </a:p>
          <a:p>
            <a:pPr algn="ctr"/>
            <a:r>
              <a:rPr lang="en-US" sz="1067">
                <a:solidFill>
                  <a:srgbClr val="2D3A4E"/>
                </a:solidFill>
                <a:latin typeface="Inter" panose="02000503000000020004" pitchFamily="2" charset="0"/>
                <a:ea typeface="Inter" panose="02000503000000020004" pitchFamily="2" charset="0"/>
                <a:cs typeface="Inter" panose="02000503000000020004" pitchFamily="2" charset="0"/>
              </a:rPr>
              <a:t>or older</a:t>
            </a:r>
            <a:endParaRPr lang="en-US" sz="1067">
              <a:latin typeface="Inter" panose="02000503000000020004" pitchFamily="2" charset="0"/>
              <a:ea typeface="Inter" panose="02000503000000020004" pitchFamily="2" charset="0"/>
              <a:cs typeface="Inter" panose="02000503000000020004" pitchFamily="2" charset="0"/>
            </a:endParaRPr>
          </a:p>
        </p:txBody>
      </p:sp>
      <p:sp>
        <p:nvSpPr>
          <p:cNvPr id="13" name="Text 11"/>
          <p:cNvSpPr/>
          <p:nvPr/>
        </p:nvSpPr>
        <p:spPr>
          <a:xfrm>
            <a:off x="633984" y="3108960"/>
            <a:ext cx="3230880" cy="3108960"/>
          </a:xfrm>
          <a:prstGeom prst="rect">
            <a:avLst/>
          </a:prstGeom>
          <a:noFill/>
          <a:ln/>
        </p:spPr>
        <p:txBody>
          <a:bodyPr wrap="square" rtlCol="0" anchor="t"/>
          <a:lstStyle/>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~60% of LMM industrial owners are 55+</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Trade buyers consolidating creating urgency</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Sellers prefer trusted operators, not financial engineers </a:t>
            </a: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High-value engineering and technical talent is ”trapped” in sub-scale private manufacturers </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14" name="Shape 12"/>
          <p:cNvSpPr/>
          <p:nvPr/>
        </p:nvSpPr>
        <p:spPr>
          <a:xfrm>
            <a:off x="4267200" y="1280160"/>
            <a:ext cx="3535680" cy="4016021"/>
          </a:xfrm>
          <a:prstGeom prst="rect">
            <a:avLst/>
          </a:prstGeom>
          <a:solidFill>
            <a:srgbClr val="FFFFFF"/>
          </a:solidFill>
          <a:ln w="12700">
            <a:solidFill>
              <a:srgbClr val="E8ECF2"/>
            </a:solidFill>
            <a:prstDash val="solid"/>
          </a:ln>
          <a:effectLst>
            <a:outerShdw blurRad="101600" dist="25400" dir="8100000" algn="bl" rotWithShape="0">
              <a:srgbClr val="000000">
                <a:alpha val="7000"/>
              </a:srgbClr>
            </a:outerShdw>
          </a:effectLst>
        </p:spPr>
        <p:txBody>
          <a:bodyPr/>
          <a:lstStyle/>
          <a:p>
            <a:endParaRPr lang="en-US" sz="2400">
              <a:latin typeface="Inter" panose="02000503000000020004" pitchFamily="2" charset="0"/>
              <a:ea typeface="Inter" panose="02000503000000020004" pitchFamily="2" charset="0"/>
              <a:cs typeface="Inter" panose="02000503000000020004" pitchFamily="2" charset="0"/>
            </a:endParaRPr>
          </a:p>
          <a:p>
            <a:endParaRPr lang="en-US" sz="2400">
              <a:latin typeface="Inter" panose="02000503000000020004" pitchFamily="2" charset="0"/>
              <a:ea typeface="Inter" panose="02000503000000020004" pitchFamily="2" charset="0"/>
              <a:cs typeface="Inter" panose="02000503000000020004" pitchFamily="2" charset="0"/>
            </a:endParaRPr>
          </a:p>
          <a:p>
            <a:endParaRPr lang="en-US" sz="2400">
              <a:latin typeface="Inter" panose="02000503000000020004" pitchFamily="2" charset="0"/>
              <a:ea typeface="Inter" panose="02000503000000020004" pitchFamily="2" charset="0"/>
              <a:cs typeface="Inter" panose="02000503000000020004" pitchFamily="2" charset="0"/>
            </a:endParaRPr>
          </a:p>
          <a:p>
            <a:endParaRPr lang="en-US" sz="2400">
              <a:latin typeface="Inter" panose="02000503000000020004" pitchFamily="2" charset="0"/>
              <a:ea typeface="Inter" panose="02000503000000020004" pitchFamily="2" charset="0"/>
              <a:cs typeface="Inter" panose="02000503000000020004" pitchFamily="2" charset="0"/>
            </a:endParaRPr>
          </a:p>
        </p:txBody>
      </p:sp>
      <p:sp>
        <p:nvSpPr>
          <p:cNvPr id="15" name="Shape 13"/>
          <p:cNvSpPr/>
          <p:nvPr/>
        </p:nvSpPr>
        <p:spPr>
          <a:xfrm>
            <a:off x="4267200" y="1280160"/>
            <a:ext cx="3535680" cy="73152"/>
          </a:xfrm>
          <a:prstGeom prst="rect">
            <a:avLst/>
          </a:prstGeom>
          <a:solidFill>
            <a:srgbClr val="2D6A4F"/>
          </a:solidFill>
          <a:ln w="12700">
            <a:solidFill>
              <a:srgbClr val="2D6A4F"/>
            </a:solidFill>
            <a:prstDash val="solid"/>
          </a:ln>
        </p:spPr>
        <p:txBody>
          <a:bodyPr/>
          <a:lstStyle/>
          <a:p>
            <a:endParaRPr lang="en-US" sz="2400"/>
          </a:p>
        </p:txBody>
      </p:sp>
      <p:sp>
        <p:nvSpPr>
          <p:cNvPr id="16" name="Text 14"/>
          <p:cNvSpPr/>
          <p:nvPr/>
        </p:nvSpPr>
        <p:spPr>
          <a:xfrm>
            <a:off x="4450080" y="1377696"/>
            <a:ext cx="3169920" cy="341376"/>
          </a:xfrm>
          <a:prstGeom prst="rect">
            <a:avLst/>
          </a:prstGeom>
          <a:noFill/>
          <a:ln/>
        </p:spPr>
        <p:txBody>
          <a:bodyPr wrap="square" lIns="0" tIns="0" rIns="0" bIns="0" rtlCol="0" anchor="ctr"/>
          <a:lstStyle/>
          <a:p>
            <a:r>
              <a:rPr lang="en-US" sz="1333" b="1" kern="0" spc="133">
                <a:solidFill>
                  <a:srgbClr val="132240"/>
                </a:solidFill>
                <a:latin typeface="Inter" panose="02000503000000020004" pitchFamily="2" charset="0"/>
                <a:ea typeface="Inter" panose="02000503000000020004" pitchFamily="2" charset="0"/>
                <a:cs typeface="Inter" panose="02000503000000020004" pitchFamily="2" charset="0"/>
              </a:rPr>
              <a:t>DEMAND SUPERCYCLE</a:t>
            </a:r>
            <a:endParaRPr lang="en-US" sz="1333">
              <a:latin typeface="Inter" panose="02000503000000020004" pitchFamily="2" charset="0"/>
              <a:ea typeface="Inter" panose="02000503000000020004" pitchFamily="2" charset="0"/>
              <a:cs typeface="Inter" panose="02000503000000020004" pitchFamily="2" charset="0"/>
            </a:endParaRPr>
          </a:p>
        </p:txBody>
      </p:sp>
      <p:sp>
        <p:nvSpPr>
          <p:cNvPr id="17" name="Text 15"/>
          <p:cNvSpPr/>
          <p:nvPr/>
        </p:nvSpPr>
        <p:spPr>
          <a:xfrm>
            <a:off x="4450080" y="1706880"/>
            <a:ext cx="3169920" cy="268224"/>
          </a:xfrm>
          <a:prstGeom prst="rect">
            <a:avLst/>
          </a:prstGeom>
          <a:noFill/>
          <a:ln/>
        </p:spPr>
        <p:txBody>
          <a:bodyPr wrap="square" lIns="0" tIns="0" rIns="0" bIns="0" rtlCol="0" anchor="ctr"/>
          <a:lstStyle/>
          <a:p>
            <a:r>
              <a:rPr lang="en-US" sz="1200" i="1">
                <a:solidFill>
                  <a:srgbClr val="94A3B8"/>
                </a:solidFill>
                <a:latin typeface="Inter" panose="02000503000000020004" pitchFamily="2" charset="0"/>
                <a:ea typeface="Inter" panose="02000503000000020004" pitchFamily="2" charset="0"/>
                <a:cs typeface="Inter" panose="02000503000000020004" pitchFamily="2" charset="0"/>
              </a:rPr>
              <a:t>AI &amp; Infrastructure Buildout + Robotics</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18" name="Shape 16"/>
          <p:cNvSpPr/>
          <p:nvPr/>
        </p:nvSpPr>
        <p:spPr>
          <a:xfrm>
            <a:off x="4450080" y="2011680"/>
            <a:ext cx="3169920" cy="975360"/>
          </a:xfrm>
          <a:prstGeom prst="rect">
            <a:avLst/>
          </a:prstGeom>
          <a:solidFill>
            <a:srgbClr val="EBF5EE"/>
          </a:solidFill>
          <a:ln w="12700">
            <a:solidFill>
              <a:srgbClr val="E0E6F0"/>
            </a:solidFill>
            <a:prstDash val="solid"/>
          </a:ln>
        </p:spPr>
        <p:txBody>
          <a:bodyPr/>
          <a:lstStyle/>
          <a:p>
            <a:endParaRPr lang="en-US" sz="2400"/>
          </a:p>
        </p:txBody>
      </p:sp>
      <p:sp>
        <p:nvSpPr>
          <p:cNvPr id="19" name="Text 17"/>
          <p:cNvSpPr/>
          <p:nvPr/>
        </p:nvSpPr>
        <p:spPr>
          <a:xfrm>
            <a:off x="4450080" y="2048256"/>
            <a:ext cx="3169920" cy="585216"/>
          </a:xfrm>
          <a:prstGeom prst="rect">
            <a:avLst/>
          </a:prstGeom>
          <a:noFill/>
          <a:ln/>
        </p:spPr>
        <p:txBody>
          <a:bodyPr wrap="square" lIns="0" tIns="0" rIns="0" bIns="0" rtlCol="0" anchor="ctr"/>
          <a:lstStyle/>
          <a:p>
            <a:pPr algn="ctr"/>
            <a:r>
              <a:rPr lang="en-US" sz="3467" b="1">
                <a:solidFill>
                  <a:srgbClr val="2D6A4F"/>
                </a:solidFill>
                <a:latin typeface="Inter" panose="02000503000000020004" pitchFamily="2" charset="0"/>
                <a:ea typeface="Inter" panose="02000503000000020004" pitchFamily="2" charset="0"/>
                <a:cs typeface="Inter" panose="02000503000000020004" pitchFamily="2" charset="0"/>
              </a:rPr>
              <a:t>$250B+</a:t>
            </a:r>
            <a:endParaRPr lang="en-US" sz="3467">
              <a:latin typeface="Inter" panose="02000503000000020004" pitchFamily="2" charset="0"/>
              <a:ea typeface="Inter" panose="02000503000000020004" pitchFamily="2" charset="0"/>
              <a:cs typeface="Inter" panose="02000503000000020004" pitchFamily="2" charset="0"/>
            </a:endParaRPr>
          </a:p>
        </p:txBody>
      </p:sp>
      <p:sp>
        <p:nvSpPr>
          <p:cNvPr id="20" name="Text 18"/>
          <p:cNvSpPr/>
          <p:nvPr/>
        </p:nvSpPr>
        <p:spPr>
          <a:xfrm>
            <a:off x="4450080" y="2560320"/>
            <a:ext cx="3169920" cy="390144"/>
          </a:xfrm>
          <a:prstGeom prst="rect">
            <a:avLst/>
          </a:prstGeom>
          <a:noFill/>
          <a:ln/>
        </p:spPr>
        <p:txBody>
          <a:bodyPr wrap="square" lIns="0" tIns="0" rIns="0" bIns="0" rtlCol="0" anchor="ctr"/>
          <a:lstStyle/>
          <a:p>
            <a:pPr algn="ctr"/>
            <a:r>
              <a:rPr lang="en-US" sz="1067">
                <a:solidFill>
                  <a:srgbClr val="2D3A4E"/>
                </a:solidFill>
                <a:latin typeface="Inter" panose="02000503000000020004" pitchFamily="2" charset="0"/>
                <a:ea typeface="Inter" panose="02000503000000020004" pitchFamily="2" charset="0"/>
                <a:cs typeface="Inter" panose="02000503000000020004" pitchFamily="2" charset="0"/>
              </a:rPr>
              <a:t>Data center mech &amp; systems layer spend</a:t>
            </a:r>
          </a:p>
          <a:p>
            <a:pPr algn="ctr"/>
            <a:r>
              <a:rPr lang="en-US" sz="1067">
                <a:solidFill>
                  <a:srgbClr val="2D3A4E"/>
                </a:solidFill>
                <a:latin typeface="Inter" panose="02000503000000020004" pitchFamily="2" charset="0"/>
                <a:ea typeface="Inter" panose="02000503000000020004" pitchFamily="2" charset="0"/>
                <a:cs typeface="Inter" panose="02000503000000020004" pitchFamily="2" charset="0"/>
              </a:rPr>
              <a:t> through 2030</a:t>
            </a:r>
            <a:endParaRPr lang="en-US" sz="1067">
              <a:latin typeface="Inter" panose="02000503000000020004" pitchFamily="2" charset="0"/>
              <a:ea typeface="Inter" panose="02000503000000020004" pitchFamily="2" charset="0"/>
              <a:cs typeface="Inter" panose="02000503000000020004" pitchFamily="2" charset="0"/>
            </a:endParaRPr>
          </a:p>
        </p:txBody>
      </p:sp>
      <p:sp>
        <p:nvSpPr>
          <p:cNvPr id="21" name="Text 19"/>
          <p:cNvSpPr/>
          <p:nvPr/>
        </p:nvSpPr>
        <p:spPr>
          <a:xfrm>
            <a:off x="4413504" y="3108960"/>
            <a:ext cx="3389376" cy="3165062"/>
          </a:xfrm>
          <a:prstGeom prst="rect">
            <a:avLst/>
          </a:prstGeom>
          <a:noFill/>
          <a:ln/>
        </p:spPr>
        <p:txBody>
          <a:bodyPr wrap="square" rtlCol="0" anchor="t"/>
          <a:lstStyle/>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Custom power, mobility solutions, and precision components are in acute shortage at scale</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OEMs actively seeking qualified domestic suppliers </a:t>
            </a: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Technology &amp; density advancements are driving engineering value</a:t>
            </a: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Longevity with Automation &amp; Robotics cycle as the next wave </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22" name="Shape 20"/>
          <p:cNvSpPr/>
          <p:nvPr/>
        </p:nvSpPr>
        <p:spPr>
          <a:xfrm>
            <a:off x="8046720" y="1280160"/>
            <a:ext cx="3535680" cy="4016021"/>
          </a:xfrm>
          <a:prstGeom prst="rect">
            <a:avLst/>
          </a:prstGeom>
          <a:solidFill>
            <a:srgbClr val="FFFFFF"/>
          </a:solidFill>
          <a:ln w="12700">
            <a:solidFill>
              <a:srgbClr val="E8ECF2"/>
            </a:solidFill>
            <a:prstDash val="solid"/>
          </a:ln>
          <a:effectLst>
            <a:outerShdw blurRad="101600" dist="25400" dir="8100000" algn="bl" rotWithShape="0">
              <a:srgbClr val="000000">
                <a:alpha val="7000"/>
              </a:srgbClr>
            </a:outerShdw>
          </a:effectLst>
        </p:spPr>
        <p:txBody>
          <a:bodyPr/>
          <a:lstStyle/>
          <a:p>
            <a:endParaRPr lang="en-US" sz="2400">
              <a:latin typeface="Inter" panose="02000503000000020004" pitchFamily="2" charset="0"/>
              <a:ea typeface="Inter" panose="02000503000000020004" pitchFamily="2" charset="0"/>
              <a:cs typeface="Inter" panose="02000503000000020004" pitchFamily="2" charset="0"/>
            </a:endParaRPr>
          </a:p>
        </p:txBody>
      </p:sp>
      <p:sp>
        <p:nvSpPr>
          <p:cNvPr id="23" name="Shape 21"/>
          <p:cNvSpPr/>
          <p:nvPr/>
        </p:nvSpPr>
        <p:spPr>
          <a:xfrm>
            <a:off x="8046720" y="1280160"/>
            <a:ext cx="3535680" cy="73152"/>
          </a:xfrm>
          <a:prstGeom prst="rect">
            <a:avLst/>
          </a:prstGeom>
          <a:solidFill>
            <a:srgbClr val="B8962E"/>
          </a:solidFill>
          <a:ln w="12700">
            <a:solidFill>
              <a:srgbClr val="B8962E"/>
            </a:solidFill>
            <a:prstDash val="solid"/>
          </a:ln>
        </p:spPr>
        <p:txBody>
          <a:bodyPr/>
          <a:lstStyle/>
          <a:p>
            <a:endParaRPr lang="en-US" sz="2400"/>
          </a:p>
        </p:txBody>
      </p:sp>
      <p:sp>
        <p:nvSpPr>
          <p:cNvPr id="24" name="Text 22"/>
          <p:cNvSpPr/>
          <p:nvPr/>
        </p:nvSpPr>
        <p:spPr>
          <a:xfrm>
            <a:off x="8229600" y="1377696"/>
            <a:ext cx="3169920" cy="341376"/>
          </a:xfrm>
          <a:prstGeom prst="rect">
            <a:avLst/>
          </a:prstGeom>
          <a:noFill/>
          <a:ln/>
        </p:spPr>
        <p:txBody>
          <a:bodyPr wrap="square" lIns="0" tIns="0" rIns="0" bIns="0" rtlCol="0" anchor="ctr"/>
          <a:lstStyle/>
          <a:p>
            <a:r>
              <a:rPr lang="en-US" sz="1333" b="1" kern="0" spc="133">
                <a:solidFill>
                  <a:srgbClr val="132240"/>
                </a:solidFill>
                <a:latin typeface="Inter" panose="02000503000000020004" pitchFamily="2" charset="0"/>
                <a:ea typeface="Inter" panose="02000503000000020004" pitchFamily="2" charset="0"/>
                <a:cs typeface="Inter" panose="02000503000000020004" pitchFamily="2" charset="0"/>
              </a:rPr>
              <a:t>SUPPLY GAP</a:t>
            </a:r>
            <a:endParaRPr lang="en-US" sz="1333">
              <a:latin typeface="Inter" panose="02000503000000020004" pitchFamily="2" charset="0"/>
              <a:ea typeface="Inter" panose="02000503000000020004" pitchFamily="2" charset="0"/>
              <a:cs typeface="Inter" panose="02000503000000020004" pitchFamily="2" charset="0"/>
            </a:endParaRPr>
          </a:p>
        </p:txBody>
      </p:sp>
      <p:sp>
        <p:nvSpPr>
          <p:cNvPr id="25" name="Text 23"/>
          <p:cNvSpPr/>
          <p:nvPr/>
        </p:nvSpPr>
        <p:spPr>
          <a:xfrm>
            <a:off x="8229600" y="1706880"/>
            <a:ext cx="3169920" cy="268224"/>
          </a:xfrm>
          <a:prstGeom prst="rect">
            <a:avLst/>
          </a:prstGeom>
          <a:noFill/>
          <a:ln/>
        </p:spPr>
        <p:txBody>
          <a:bodyPr wrap="square" lIns="0" tIns="0" rIns="0" bIns="0" rtlCol="0" anchor="ctr"/>
          <a:lstStyle/>
          <a:p>
            <a:r>
              <a:rPr lang="en-US" sz="1200" i="1">
                <a:solidFill>
                  <a:srgbClr val="94A3B8"/>
                </a:solidFill>
                <a:latin typeface="Inter" panose="02000503000000020004" pitchFamily="2" charset="0"/>
                <a:ea typeface="Inter" panose="02000503000000020004" pitchFamily="2" charset="0"/>
                <a:cs typeface="Inter" panose="02000503000000020004" pitchFamily="2" charset="0"/>
              </a:rPr>
              <a:t>Fragmented, Under-scaled Market</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26" name="Shape 24"/>
          <p:cNvSpPr/>
          <p:nvPr/>
        </p:nvSpPr>
        <p:spPr>
          <a:xfrm>
            <a:off x="8229600" y="2011680"/>
            <a:ext cx="3169920" cy="975360"/>
          </a:xfrm>
          <a:prstGeom prst="rect">
            <a:avLst/>
          </a:prstGeom>
          <a:solidFill>
            <a:srgbClr val="FFF8E6"/>
          </a:solidFill>
          <a:ln w="12700">
            <a:solidFill>
              <a:srgbClr val="E0E6F0"/>
            </a:solidFill>
            <a:prstDash val="solid"/>
          </a:ln>
        </p:spPr>
        <p:txBody>
          <a:bodyPr/>
          <a:lstStyle/>
          <a:p>
            <a:endParaRPr lang="en-US" sz="2400"/>
          </a:p>
        </p:txBody>
      </p:sp>
      <p:sp>
        <p:nvSpPr>
          <p:cNvPr id="27" name="Text 25"/>
          <p:cNvSpPr/>
          <p:nvPr/>
        </p:nvSpPr>
        <p:spPr>
          <a:xfrm>
            <a:off x="8229600" y="2048256"/>
            <a:ext cx="3169920" cy="585216"/>
          </a:xfrm>
          <a:prstGeom prst="rect">
            <a:avLst/>
          </a:prstGeom>
          <a:noFill/>
          <a:ln/>
        </p:spPr>
        <p:txBody>
          <a:bodyPr wrap="square" lIns="0" tIns="0" rIns="0" bIns="0" rtlCol="0" anchor="ctr"/>
          <a:lstStyle/>
          <a:p>
            <a:pPr algn="ctr"/>
            <a:r>
              <a:rPr lang="en-US" sz="3467" b="1">
                <a:solidFill>
                  <a:srgbClr val="B8962E"/>
                </a:solidFill>
                <a:latin typeface="Inter" panose="02000503000000020004" pitchFamily="2" charset="0"/>
                <a:ea typeface="Inter" panose="02000503000000020004" pitchFamily="2" charset="0"/>
                <a:cs typeface="Inter" panose="02000503000000020004" pitchFamily="2" charset="0"/>
              </a:rPr>
              <a:t>&lt;10%</a:t>
            </a:r>
            <a:endParaRPr lang="en-US" sz="3467">
              <a:latin typeface="Inter" panose="02000503000000020004" pitchFamily="2" charset="0"/>
              <a:ea typeface="Inter" panose="02000503000000020004" pitchFamily="2" charset="0"/>
              <a:cs typeface="Inter" panose="02000503000000020004" pitchFamily="2" charset="0"/>
            </a:endParaRPr>
          </a:p>
        </p:txBody>
      </p:sp>
      <p:sp>
        <p:nvSpPr>
          <p:cNvPr id="28" name="Text 26"/>
          <p:cNvSpPr/>
          <p:nvPr/>
        </p:nvSpPr>
        <p:spPr>
          <a:xfrm>
            <a:off x="8229600" y="2560320"/>
            <a:ext cx="3169920" cy="390144"/>
          </a:xfrm>
          <a:prstGeom prst="rect">
            <a:avLst/>
          </a:prstGeom>
          <a:noFill/>
          <a:ln/>
        </p:spPr>
        <p:txBody>
          <a:bodyPr wrap="square" lIns="0" tIns="0" rIns="0" bIns="0" rtlCol="0" anchor="ctr"/>
          <a:lstStyle/>
          <a:p>
            <a:pPr algn="ctr"/>
            <a:r>
              <a:rPr lang="en-US" sz="1067">
                <a:solidFill>
                  <a:srgbClr val="2D3A4E"/>
                </a:solidFill>
                <a:latin typeface="Inter" panose="02000503000000020004" pitchFamily="2" charset="0"/>
                <a:ea typeface="Inter" panose="02000503000000020004" pitchFamily="2" charset="0"/>
                <a:cs typeface="Inter" panose="02000503000000020004" pitchFamily="2" charset="0"/>
              </a:rPr>
              <a:t>Combined share</a:t>
            </a:r>
            <a:endParaRPr lang="en-US" sz="1067">
              <a:latin typeface="Inter" panose="02000503000000020004" pitchFamily="2" charset="0"/>
              <a:ea typeface="Inter" panose="02000503000000020004" pitchFamily="2" charset="0"/>
              <a:cs typeface="Inter" panose="02000503000000020004" pitchFamily="2" charset="0"/>
            </a:endParaRPr>
          </a:p>
          <a:p>
            <a:pPr algn="ctr"/>
            <a:r>
              <a:rPr lang="en-US" sz="1067">
                <a:solidFill>
                  <a:srgbClr val="2D3A4E"/>
                </a:solidFill>
                <a:latin typeface="Inter" panose="02000503000000020004" pitchFamily="2" charset="0"/>
                <a:ea typeface="Inter" panose="02000503000000020004" pitchFamily="2" charset="0"/>
                <a:cs typeface="Inter" panose="02000503000000020004" pitchFamily="2" charset="0"/>
              </a:rPr>
              <a:t>top 5 players</a:t>
            </a:r>
            <a:endParaRPr lang="en-US" sz="1067">
              <a:latin typeface="Inter" panose="02000503000000020004" pitchFamily="2" charset="0"/>
              <a:ea typeface="Inter" panose="02000503000000020004" pitchFamily="2" charset="0"/>
              <a:cs typeface="Inter" panose="02000503000000020004" pitchFamily="2" charset="0"/>
            </a:endParaRPr>
          </a:p>
        </p:txBody>
      </p:sp>
      <p:sp>
        <p:nvSpPr>
          <p:cNvPr id="29" name="Text 27"/>
          <p:cNvSpPr/>
          <p:nvPr/>
        </p:nvSpPr>
        <p:spPr>
          <a:xfrm>
            <a:off x="8193024" y="3108960"/>
            <a:ext cx="3389376" cy="3108960"/>
          </a:xfrm>
          <a:prstGeom prst="rect">
            <a:avLst/>
          </a:prstGeom>
          <a:noFill/>
          <a:ln/>
        </p:spPr>
        <p:txBody>
          <a:bodyPr wrap="square" rtlCol="0" anchor="t"/>
          <a:lstStyle/>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Top 5 manufacturers hold &lt;10% combined market share in target segments</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Most suppliers lack scale &amp; engineering depth for scaling OEMs</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No dominant national platforms in our target segments</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Strategic consolidation, organic growth, and our operational playbook will drive margin &amp; multiple uplift</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2" name="Title 1">
            <a:extLst>
              <a:ext uri="{FF2B5EF4-FFF2-40B4-BE49-F238E27FC236}">
                <a16:creationId xmlns:a16="http://schemas.microsoft.com/office/drawing/2014/main" id="{E13EB29A-D305-4143-DA8E-7C66C2EDE25D}"/>
              </a:ext>
            </a:extLst>
          </p:cNvPr>
          <p:cNvSpPr txBox="1">
            <a:spLocks/>
          </p:cNvSpPr>
          <p:nvPr/>
        </p:nvSpPr>
        <p:spPr>
          <a:xfrm>
            <a:off x="942561" y="509286"/>
            <a:ext cx="10515600" cy="496260"/>
          </a:xfrm>
          <a:prstGeom prst="rect">
            <a:avLst/>
          </a:prstGeom>
        </p:spPr>
        <p:txBody>
          <a:bodyPr/>
          <a:lstStyle>
            <a:lvl1pPr algn="l" defTabSz="914400" rtl="0" eaLnBrk="1" latinLnBrk="0" hangingPunct="1">
              <a:lnSpc>
                <a:spcPct val="90000"/>
              </a:lnSpc>
              <a:spcBef>
                <a:spcPct val="0"/>
              </a:spcBef>
              <a:buNone/>
              <a:defRPr sz="3000" kern="1200" baseline="0">
                <a:solidFill>
                  <a:schemeClr val="tx1"/>
                </a:solidFill>
                <a:latin typeface="Inter ExtraBold" panose="02000503000000020004" pitchFamily="2" charset="0"/>
                <a:ea typeface="+mj-ea"/>
                <a:cs typeface="+mj-cs"/>
              </a:defRPr>
            </a:lvl1pPr>
          </a:lstStyle>
          <a:p>
            <a:r>
              <a:rPr lang="en-US">
                <a:latin typeface="Inter" panose="02000503000000020004" pitchFamily="2" charset="0"/>
                <a:ea typeface="Inter" panose="02000503000000020004" pitchFamily="2" charset="0"/>
                <a:cs typeface="Inter" panose="02000503000000020004" pitchFamily="2" charset="0"/>
              </a:rPr>
              <a:t>A Convergence of Market Forces</a:t>
            </a:r>
          </a:p>
        </p:txBody>
      </p:sp>
      <p:sp>
        <p:nvSpPr>
          <p:cNvPr id="4" name="TextBox 3">
            <a:extLst>
              <a:ext uri="{FF2B5EF4-FFF2-40B4-BE49-F238E27FC236}">
                <a16:creationId xmlns:a16="http://schemas.microsoft.com/office/drawing/2014/main" id="{DB9D4112-6A97-7951-A3FA-6655D001A7B0}"/>
              </a:ext>
            </a:extLst>
          </p:cNvPr>
          <p:cNvSpPr txBox="1"/>
          <p:nvPr/>
        </p:nvSpPr>
        <p:spPr>
          <a:xfrm>
            <a:off x="391398" y="5418101"/>
            <a:ext cx="11287283" cy="646331"/>
          </a:xfrm>
          <a:prstGeom prst="rect">
            <a:avLst/>
          </a:prstGeom>
          <a:noFill/>
        </p:spPr>
        <p:txBody>
          <a:bodyPr wrap="square">
            <a:spAutoFit/>
          </a:bodyPr>
          <a:lstStyle/>
          <a:p>
            <a:pPr algn="ctr"/>
            <a:r>
              <a:rPr lang="en-US"/>
              <a:t>Operator credibility. Deep market expertise.  Underwriting discipline. </a:t>
            </a:r>
          </a:p>
          <a:p>
            <a:pPr algn="ctr"/>
            <a:r>
              <a:rPr lang="en-US"/>
              <a:t>A thesis built precisely for this convergence.</a:t>
            </a:r>
            <a:endParaRPr lang="en-US" i="1">
              <a:latin typeface="Inter" panose="02000503000000020004" pitchFamily="2" charset="0"/>
              <a:ea typeface="Inter" panose="02000503000000020004" pitchFamily="2" charset="0"/>
              <a:cs typeface="Inter" panose="02000503000000020004"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487680" y="1280160"/>
            <a:ext cx="2621280" cy="1280160"/>
          </a:xfrm>
          <a:prstGeom prst="rect">
            <a:avLst/>
          </a:prstGeom>
          <a:solidFill>
            <a:schemeClr val="accent1">
              <a:lumMod val="20000"/>
              <a:lumOff val="80000"/>
            </a:schemeClr>
          </a:solidFill>
          <a:ln w="12700">
            <a:solidFill>
              <a:srgbClr val="1E3A5F"/>
            </a:solidFill>
            <a:prstDash val="solid"/>
          </a:ln>
        </p:spPr>
        <p:txBody>
          <a:bodyPr/>
          <a:lstStyle/>
          <a:p>
            <a:endParaRPr lang="en-US" sz="2400">
              <a:solidFill>
                <a:schemeClr val="tx2">
                  <a:lumMod val="50000"/>
                </a:schemeClr>
              </a:solidFill>
            </a:endParaRPr>
          </a:p>
        </p:txBody>
      </p:sp>
      <p:sp>
        <p:nvSpPr>
          <p:cNvPr id="7" name="Text 5"/>
          <p:cNvSpPr/>
          <p:nvPr/>
        </p:nvSpPr>
        <p:spPr>
          <a:xfrm>
            <a:off x="487680" y="1426464"/>
            <a:ext cx="2621280" cy="665683"/>
          </a:xfrm>
          <a:prstGeom prst="rect">
            <a:avLst/>
          </a:prstGeom>
          <a:noFill/>
          <a:ln/>
        </p:spPr>
        <p:txBody>
          <a:bodyPr wrap="square" lIns="0" tIns="0" rIns="0" bIns="0" rtlCol="0" anchor="ctr"/>
          <a:lstStyle/>
          <a:p>
            <a:pPr algn="ctr"/>
            <a:r>
              <a:rPr lang="en-US" sz="4267"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1,700+</a:t>
            </a:r>
            <a:endParaRPr lang="en-US" sz="4267">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8" name="Text 6"/>
          <p:cNvSpPr/>
          <p:nvPr/>
        </p:nvSpPr>
        <p:spPr>
          <a:xfrm>
            <a:off x="487680" y="2075879"/>
            <a:ext cx="2621280" cy="320040"/>
          </a:xfrm>
          <a:prstGeom prst="rect">
            <a:avLst/>
          </a:prstGeom>
          <a:noFill/>
          <a:ln/>
        </p:spPr>
        <p:txBody>
          <a:bodyPr wrap="square" lIns="0" tIns="0" rIns="0" bIns="0" rtlCol="0" anchor="ctr"/>
          <a:lstStyle/>
          <a:p>
            <a:pPr algn="ctr"/>
            <a:r>
              <a:rPr lang="en-US" sz="1333"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Proprietary Owner </a:t>
            </a:r>
            <a:endParaRPr lang="en-US" sz="1333">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a:p>
            <a:pPr algn="ctr"/>
            <a:r>
              <a:rPr lang="en-US" sz="1333"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Data base </a:t>
            </a:r>
            <a:endParaRPr lang="en-US" sz="1333">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9" name="Shape 7"/>
          <p:cNvSpPr/>
          <p:nvPr/>
        </p:nvSpPr>
        <p:spPr>
          <a:xfrm>
            <a:off x="3352800" y="1280160"/>
            <a:ext cx="2621280" cy="1280160"/>
          </a:xfrm>
          <a:prstGeom prst="rect">
            <a:avLst/>
          </a:prstGeom>
          <a:solidFill>
            <a:schemeClr val="accent1">
              <a:lumMod val="20000"/>
              <a:lumOff val="80000"/>
            </a:schemeClr>
          </a:solidFill>
          <a:ln w="12700">
            <a:solidFill>
              <a:srgbClr val="1E3A5F"/>
            </a:solidFill>
            <a:prstDash val="solid"/>
          </a:ln>
        </p:spPr>
        <p:txBody>
          <a:bodyPr/>
          <a:lstStyle/>
          <a:p>
            <a:endParaRPr lang="en-US" sz="2400">
              <a:solidFill>
                <a:schemeClr val="tx2">
                  <a:lumMod val="50000"/>
                </a:schemeClr>
              </a:solidFill>
            </a:endParaRPr>
          </a:p>
        </p:txBody>
      </p:sp>
      <p:sp>
        <p:nvSpPr>
          <p:cNvPr id="10" name="Text 8"/>
          <p:cNvSpPr/>
          <p:nvPr/>
        </p:nvSpPr>
        <p:spPr>
          <a:xfrm>
            <a:off x="3352800" y="1426464"/>
            <a:ext cx="2621280" cy="665683"/>
          </a:xfrm>
          <a:prstGeom prst="rect">
            <a:avLst/>
          </a:prstGeom>
          <a:noFill/>
          <a:ln/>
        </p:spPr>
        <p:txBody>
          <a:bodyPr wrap="square" lIns="0" tIns="0" rIns="0" bIns="0" rtlCol="0" anchor="ctr"/>
          <a:lstStyle/>
          <a:p>
            <a:pPr algn="ctr"/>
            <a:r>
              <a:rPr lang="en-US" sz="4267"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14</a:t>
            </a:r>
            <a:endParaRPr lang="en-US" sz="4267">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11" name="Text 9"/>
          <p:cNvSpPr/>
          <p:nvPr/>
        </p:nvSpPr>
        <p:spPr>
          <a:xfrm>
            <a:off x="3352800" y="2075879"/>
            <a:ext cx="2621280" cy="320040"/>
          </a:xfrm>
          <a:prstGeom prst="rect">
            <a:avLst/>
          </a:prstGeom>
          <a:noFill/>
          <a:ln/>
        </p:spPr>
        <p:txBody>
          <a:bodyPr wrap="square" lIns="0" tIns="0" rIns="0" bIns="0" rtlCol="0" anchor="ctr"/>
          <a:lstStyle/>
          <a:p>
            <a:pPr algn="ctr"/>
            <a:r>
              <a:rPr lang="en-US" sz="1333"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Active Opportunities</a:t>
            </a:r>
            <a:endParaRPr lang="en-US" sz="1333">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a:p>
            <a:pPr algn="ctr"/>
            <a:r>
              <a:rPr lang="en-US" sz="1333"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(March 2026)</a:t>
            </a:r>
            <a:endParaRPr lang="en-US" sz="1333">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12" name="Shape 10"/>
          <p:cNvSpPr/>
          <p:nvPr/>
        </p:nvSpPr>
        <p:spPr>
          <a:xfrm>
            <a:off x="6217920" y="1280160"/>
            <a:ext cx="2621280" cy="1280160"/>
          </a:xfrm>
          <a:prstGeom prst="rect">
            <a:avLst/>
          </a:prstGeom>
          <a:solidFill>
            <a:schemeClr val="accent1">
              <a:lumMod val="20000"/>
              <a:lumOff val="80000"/>
            </a:schemeClr>
          </a:solidFill>
          <a:ln w="12700">
            <a:solidFill>
              <a:srgbClr val="1E3A5F"/>
            </a:solidFill>
            <a:prstDash val="solid"/>
          </a:ln>
        </p:spPr>
        <p:txBody>
          <a:bodyPr/>
          <a:lstStyle/>
          <a:p>
            <a:endParaRPr lang="en-US" sz="2400">
              <a:solidFill>
                <a:schemeClr val="tx2">
                  <a:lumMod val="50000"/>
                </a:schemeClr>
              </a:solidFill>
            </a:endParaRPr>
          </a:p>
        </p:txBody>
      </p:sp>
      <p:sp>
        <p:nvSpPr>
          <p:cNvPr id="13" name="Text 11"/>
          <p:cNvSpPr/>
          <p:nvPr/>
        </p:nvSpPr>
        <p:spPr>
          <a:xfrm>
            <a:off x="6217920" y="1426464"/>
            <a:ext cx="2621280" cy="665683"/>
          </a:xfrm>
          <a:prstGeom prst="rect">
            <a:avLst/>
          </a:prstGeom>
          <a:noFill/>
          <a:ln/>
        </p:spPr>
        <p:txBody>
          <a:bodyPr wrap="square" lIns="0" tIns="0" rIns="0" bIns="0" rtlCol="0" anchor="ctr"/>
          <a:lstStyle/>
          <a:p>
            <a:pPr algn="ctr"/>
            <a:r>
              <a:rPr lang="en-US" sz="4267"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&gt;50%</a:t>
            </a:r>
            <a:endParaRPr lang="en-US" sz="4267">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14" name="Text 12"/>
          <p:cNvSpPr/>
          <p:nvPr/>
        </p:nvSpPr>
        <p:spPr>
          <a:xfrm>
            <a:off x="6217920" y="2075879"/>
            <a:ext cx="2621280" cy="320040"/>
          </a:xfrm>
          <a:prstGeom prst="rect">
            <a:avLst/>
          </a:prstGeom>
          <a:noFill/>
          <a:ln/>
        </p:spPr>
        <p:txBody>
          <a:bodyPr wrap="square" lIns="0" tIns="0" rIns="0" bIns="0" rtlCol="0" anchor="ctr"/>
          <a:lstStyle/>
          <a:p>
            <a:pPr algn="ctr"/>
            <a:r>
              <a:rPr lang="en-US" sz="1333"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Proprietary</a:t>
            </a:r>
            <a:endParaRPr lang="en-US" sz="1333">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a:p>
            <a:pPr algn="ctr"/>
            <a:r>
              <a:rPr lang="en-US" sz="1333"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Sourcing</a:t>
            </a:r>
            <a:endParaRPr lang="en-US" sz="1333">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15" name="Shape 13"/>
          <p:cNvSpPr/>
          <p:nvPr/>
        </p:nvSpPr>
        <p:spPr>
          <a:xfrm>
            <a:off x="9083040" y="1280160"/>
            <a:ext cx="2621280" cy="1280160"/>
          </a:xfrm>
          <a:prstGeom prst="rect">
            <a:avLst/>
          </a:prstGeom>
          <a:solidFill>
            <a:schemeClr val="accent1">
              <a:lumMod val="20000"/>
              <a:lumOff val="80000"/>
            </a:schemeClr>
          </a:solidFill>
          <a:ln w="12700">
            <a:solidFill>
              <a:srgbClr val="1E3A5F"/>
            </a:solidFill>
            <a:prstDash val="solid"/>
          </a:ln>
        </p:spPr>
        <p:txBody>
          <a:bodyPr/>
          <a:lstStyle/>
          <a:p>
            <a:endParaRPr lang="en-US" sz="2400">
              <a:solidFill>
                <a:schemeClr val="tx2">
                  <a:lumMod val="50000"/>
                </a:schemeClr>
              </a:solidFill>
            </a:endParaRPr>
          </a:p>
        </p:txBody>
      </p:sp>
      <p:sp>
        <p:nvSpPr>
          <p:cNvPr id="16" name="Text 14"/>
          <p:cNvSpPr/>
          <p:nvPr/>
        </p:nvSpPr>
        <p:spPr>
          <a:xfrm>
            <a:off x="9083040" y="1426464"/>
            <a:ext cx="2621280" cy="665683"/>
          </a:xfrm>
          <a:prstGeom prst="rect">
            <a:avLst/>
          </a:prstGeom>
          <a:noFill/>
          <a:ln/>
        </p:spPr>
        <p:txBody>
          <a:bodyPr wrap="square" lIns="0" tIns="0" rIns="0" bIns="0" rtlCol="0" anchor="ctr"/>
          <a:lstStyle/>
          <a:p>
            <a:pPr algn="ctr"/>
            <a:r>
              <a:rPr lang="en-US" sz="4267"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1</a:t>
            </a:r>
            <a:endParaRPr lang="en-US" sz="4267">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17" name="Text 15"/>
          <p:cNvSpPr/>
          <p:nvPr/>
        </p:nvSpPr>
        <p:spPr>
          <a:xfrm>
            <a:off x="9083040" y="2075879"/>
            <a:ext cx="2621280" cy="320040"/>
          </a:xfrm>
          <a:prstGeom prst="rect">
            <a:avLst/>
          </a:prstGeom>
          <a:noFill/>
          <a:ln/>
        </p:spPr>
        <p:txBody>
          <a:bodyPr wrap="square" lIns="0" tIns="0" rIns="0" bIns="0" rtlCol="0" anchor="ctr"/>
          <a:lstStyle/>
          <a:p>
            <a:pPr algn="ctr"/>
            <a:r>
              <a:rPr lang="en-US" sz="1333"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IOI Submitted</a:t>
            </a:r>
            <a:endParaRPr lang="en-US" sz="1333">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a:p>
            <a:pPr algn="ctr"/>
            <a:r>
              <a:rPr lang="en-US" sz="1333" b="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&amp; Accepted</a:t>
            </a:r>
            <a:endParaRPr lang="en-US" sz="1333">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18" name="Shape 16"/>
          <p:cNvSpPr/>
          <p:nvPr/>
        </p:nvSpPr>
        <p:spPr>
          <a:xfrm>
            <a:off x="487680" y="2706624"/>
            <a:ext cx="3535680" cy="3223554"/>
          </a:xfrm>
          <a:prstGeom prst="rect">
            <a:avLst/>
          </a:prstGeom>
          <a:solidFill>
            <a:srgbClr val="FFFFFF"/>
          </a:solidFill>
          <a:ln w="12700">
            <a:solidFill>
              <a:srgbClr val="E8ECF2"/>
            </a:solidFill>
            <a:prstDash val="solid"/>
          </a:ln>
          <a:effectLst>
            <a:outerShdw blurRad="101600" dist="25400" dir="8100000" algn="bl" rotWithShape="0">
              <a:srgbClr val="000000">
                <a:alpha val="7000"/>
              </a:srgbClr>
            </a:outerShdw>
          </a:effectLst>
        </p:spPr>
        <p:txBody>
          <a:bodyPr/>
          <a:lstStyle/>
          <a:p>
            <a:endParaRPr lang="en-US" sz="2400"/>
          </a:p>
        </p:txBody>
      </p:sp>
      <p:sp>
        <p:nvSpPr>
          <p:cNvPr id="19" name="Shape 17"/>
          <p:cNvSpPr/>
          <p:nvPr/>
        </p:nvSpPr>
        <p:spPr>
          <a:xfrm>
            <a:off x="487680" y="2706624"/>
            <a:ext cx="3535680" cy="60960"/>
          </a:xfrm>
          <a:prstGeom prst="rect">
            <a:avLst/>
          </a:prstGeom>
          <a:solidFill>
            <a:schemeClr val="accent1">
              <a:lumMod val="50000"/>
            </a:schemeClr>
          </a:solidFill>
          <a:ln w="12700">
            <a:solidFill>
              <a:srgbClr val="2D6A4F"/>
            </a:solidFill>
            <a:prstDash val="solid"/>
          </a:ln>
        </p:spPr>
        <p:txBody>
          <a:bodyPr/>
          <a:lstStyle/>
          <a:p>
            <a:endParaRPr lang="en-US" sz="2400"/>
          </a:p>
        </p:txBody>
      </p:sp>
      <p:sp>
        <p:nvSpPr>
          <p:cNvPr id="20" name="Text 18"/>
          <p:cNvSpPr/>
          <p:nvPr/>
        </p:nvSpPr>
        <p:spPr>
          <a:xfrm>
            <a:off x="658368" y="2804160"/>
            <a:ext cx="3194304" cy="463296"/>
          </a:xfrm>
          <a:prstGeom prst="rect">
            <a:avLst/>
          </a:prstGeom>
          <a:noFill/>
          <a:ln/>
        </p:spPr>
        <p:txBody>
          <a:bodyPr wrap="square" lIns="0" tIns="0" rIns="0" bIns="0" rtlCol="0" anchor="ctr"/>
          <a:lstStyle/>
          <a:p>
            <a:pPr algn="ctr"/>
            <a:r>
              <a:rPr lang="en-US" sz="1100" b="1" kern="0" spc="67">
                <a:solidFill>
                  <a:srgbClr val="132240"/>
                </a:solidFill>
                <a:latin typeface="Inter" panose="02000503000000020004" pitchFamily="2" charset="0"/>
                <a:ea typeface="Inter" panose="02000503000000020004" pitchFamily="2" charset="0"/>
                <a:cs typeface="Inter" panose="02000503000000020004" pitchFamily="2" charset="0"/>
              </a:rPr>
              <a:t>HYPERSCALER &amp; OEM RELATIONSHIPS</a:t>
            </a:r>
            <a:endParaRPr lang="en-US" sz="1100">
              <a:latin typeface="Inter" panose="02000503000000020004" pitchFamily="2" charset="0"/>
              <a:ea typeface="Inter" panose="02000503000000020004" pitchFamily="2" charset="0"/>
              <a:cs typeface="Inter" panose="02000503000000020004" pitchFamily="2" charset="0"/>
            </a:endParaRPr>
          </a:p>
        </p:txBody>
      </p:sp>
      <p:sp>
        <p:nvSpPr>
          <p:cNvPr id="21" name="Shape 19"/>
          <p:cNvSpPr/>
          <p:nvPr/>
        </p:nvSpPr>
        <p:spPr>
          <a:xfrm>
            <a:off x="853440" y="3316224"/>
            <a:ext cx="2804160" cy="268224"/>
          </a:xfrm>
          <a:prstGeom prst="rect">
            <a:avLst/>
          </a:prstGeom>
          <a:solidFill>
            <a:srgbClr val="EBF5EE"/>
          </a:solidFill>
          <a:ln w="12700">
            <a:solidFill>
              <a:srgbClr val="C8E6C9"/>
            </a:solidFill>
            <a:prstDash val="solid"/>
          </a:ln>
        </p:spPr>
        <p:txBody>
          <a:bodyPr/>
          <a:lstStyle/>
          <a:p>
            <a:endParaRPr lang="en-US" sz="2400"/>
          </a:p>
        </p:txBody>
      </p:sp>
      <p:sp>
        <p:nvSpPr>
          <p:cNvPr id="22" name="Text 20"/>
          <p:cNvSpPr/>
          <p:nvPr/>
        </p:nvSpPr>
        <p:spPr>
          <a:xfrm>
            <a:off x="853440" y="3316224"/>
            <a:ext cx="2804160" cy="268224"/>
          </a:xfrm>
          <a:prstGeom prst="rect">
            <a:avLst/>
          </a:prstGeom>
          <a:noFill/>
          <a:ln/>
        </p:spPr>
        <p:txBody>
          <a:bodyPr wrap="square" lIns="0" tIns="0" rIns="0" bIns="0" rtlCol="0" anchor="ctr"/>
          <a:lstStyle/>
          <a:p>
            <a:pPr algn="ctr"/>
            <a:r>
              <a:rPr lang="en-US" sz="1067" b="1">
                <a:solidFill>
                  <a:srgbClr val="2D6A4F"/>
                </a:solidFill>
                <a:latin typeface="Inter" panose="02000503000000020004" pitchFamily="2" charset="0"/>
                <a:ea typeface="Inter" panose="02000503000000020004" pitchFamily="2" charset="0"/>
                <a:cs typeface="Inter" panose="02000503000000020004" pitchFamily="2" charset="0"/>
              </a:rPr>
              <a:t>Primary Differentiator</a:t>
            </a:r>
            <a:endParaRPr lang="en-US" sz="1067">
              <a:latin typeface="Inter" panose="02000503000000020004" pitchFamily="2" charset="0"/>
              <a:ea typeface="Inter" panose="02000503000000020004" pitchFamily="2" charset="0"/>
              <a:cs typeface="Inter" panose="02000503000000020004" pitchFamily="2" charset="0"/>
            </a:endParaRPr>
          </a:p>
        </p:txBody>
      </p:sp>
      <p:sp>
        <p:nvSpPr>
          <p:cNvPr id="23" name="Text 21"/>
          <p:cNvSpPr/>
          <p:nvPr/>
        </p:nvSpPr>
        <p:spPr>
          <a:xfrm>
            <a:off x="633984" y="3657600"/>
            <a:ext cx="3389376" cy="2657856"/>
          </a:xfrm>
          <a:prstGeom prst="rect">
            <a:avLst/>
          </a:prstGeom>
          <a:noFill/>
          <a:ln/>
        </p:spPr>
        <p:txBody>
          <a:bodyPr wrap="square" rtlCol="0" anchor="t"/>
          <a:lstStyle/>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25+ years inside the world's largest data center, OEM, and automation buyers</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Access to forward-looking demand roadmaps before public disclosure</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b="1">
                <a:solidFill>
                  <a:srgbClr val="2D3A4E"/>
                </a:solidFill>
                <a:latin typeface="Inter" panose="02000503000000020004" pitchFamily="2" charset="0"/>
                <a:ea typeface="Inter" panose="02000503000000020004" pitchFamily="2" charset="0"/>
                <a:cs typeface="Inter" panose="02000503000000020004" pitchFamily="2" charset="0"/>
              </a:rPr>
              <a:t>OEMs refer suppliers directly; 5 of 14 active deals sourced this way</a:t>
            </a:r>
            <a:endParaRPr lang="en-US" sz="1200" b="1">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Many of the 1700+ owners we are nurturing have been developed over years</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24" name="Shape 22"/>
          <p:cNvSpPr/>
          <p:nvPr/>
        </p:nvSpPr>
        <p:spPr>
          <a:xfrm>
            <a:off x="4267200" y="2706624"/>
            <a:ext cx="3535680" cy="3223554"/>
          </a:xfrm>
          <a:prstGeom prst="rect">
            <a:avLst/>
          </a:prstGeom>
          <a:solidFill>
            <a:srgbClr val="FFFFFF"/>
          </a:solidFill>
          <a:ln w="12700">
            <a:solidFill>
              <a:srgbClr val="E8ECF2"/>
            </a:solidFill>
            <a:prstDash val="solid"/>
          </a:ln>
          <a:effectLst>
            <a:outerShdw blurRad="101600" dist="25400" dir="8100000" algn="bl" rotWithShape="0">
              <a:srgbClr val="000000">
                <a:alpha val="7000"/>
              </a:srgbClr>
            </a:outerShdw>
          </a:effectLst>
        </p:spPr>
        <p:txBody>
          <a:bodyPr/>
          <a:lstStyle/>
          <a:p>
            <a:endParaRPr lang="en-US" sz="2400"/>
          </a:p>
        </p:txBody>
      </p:sp>
      <p:sp>
        <p:nvSpPr>
          <p:cNvPr id="25" name="Shape 23"/>
          <p:cNvSpPr/>
          <p:nvPr/>
        </p:nvSpPr>
        <p:spPr>
          <a:xfrm>
            <a:off x="4267200" y="2706624"/>
            <a:ext cx="3535680" cy="60960"/>
          </a:xfrm>
          <a:prstGeom prst="rect">
            <a:avLst/>
          </a:prstGeom>
          <a:solidFill>
            <a:schemeClr val="accent1">
              <a:lumMod val="50000"/>
            </a:schemeClr>
          </a:solidFill>
          <a:ln w="12700">
            <a:solidFill>
              <a:srgbClr val="2D6A4F"/>
            </a:solidFill>
            <a:prstDash val="solid"/>
          </a:ln>
        </p:spPr>
        <p:txBody>
          <a:bodyPr/>
          <a:lstStyle/>
          <a:p>
            <a:endParaRPr lang="en-US" sz="2400"/>
          </a:p>
        </p:txBody>
      </p:sp>
      <p:sp>
        <p:nvSpPr>
          <p:cNvPr id="26" name="Text 24"/>
          <p:cNvSpPr/>
          <p:nvPr/>
        </p:nvSpPr>
        <p:spPr>
          <a:xfrm>
            <a:off x="4437888" y="2804160"/>
            <a:ext cx="3194304" cy="463296"/>
          </a:xfrm>
          <a:prstGeom prst="rect">
            <a:avLst/>
          </a:prstGeom>
          <a:noFill/>
          <a:ln/>
        </p:spPr>
        <p:txBody>
          <a:bodyPr wrap="square" lIns="0" tIns="0" rIns="0" bIns="0" rtlCol="0" anchor="ctr"/>
          <a:lstStyle/>
          <a:p>
            <a:pPr algn="ctr"/>
            <a:r>
              <a:rPr lang="en-US" sz="1100" b="1" kern="0" spc="67">
                <a:solidFill>
                  <a:srgbClr val="132240"/>
                </a:solidFill>
                <a:latin typeface="Inter" panose="02000503000000020004" pitchFamily="2" charset="0"/>
                <a:ea typeface="Inter" panose="02000503000000020004" pitchFamily="2" charset="0"/>
                <a:cs typeface="Inter" panose="02000503000000020004" pitchFamily="2" charset="0"/>
              </a:rPr>
              <a:t>OPERATOR-TO-OPERATOR OUTREACH</a:t>
            </a:r>
            <a:endParaRPr lang="en-US" sz="1100">
              <a:latin typeface="Inter" panose="02000503000000020004" pitchFamily="2" charset="0"/>
              <a:ea typeface="Inter" panose="02000503000000020004" pitchFamily="2" charset="0"/>
              <a:cs typeface="Inter" panose="02000503000000020004" pitchFamily="2" charset="0"/>
            </a:endParaRPr>
          </a:p>
        </p:txBody>
      </p:sp>
      <p:sp>
        <p:nvSpPr>
          <p:cNvPr id="27" name="Shape 25"/>
          <p:cNvSpPr/>
          <p:nvPr/>
        </p:nvSpPr>
        <p:spPr>
          <a:xfrm>
            <a:off x="4626864" y="3325983"/>
            <a:ext cx="2804160" cy="268224"/>
          </a:xfrm>
          <a:prstGeom prst="rect">
            <a:avLst/>
          </a:prstGeom>
          <a:solidFill>
            <a:srgbClr val="EBF5EE"/>
          </a:solidFill>
          <a:ln w="12700">
            <a:solidFill>
              <a:srgbClr val="C8E6C9"/>
            </a:solidFill>
            <a:prstDash val="solid"/>
          </a:ln>
        </p:spPr>
        <p:txBody>
          <a:bodyPr/>
          <a:lstStyle/>
          <a:p>
            <a:endParaRPr lang="en-US" sz="2400"/>
          </a:p>
        </p:txBody>
      </p:sp>
      <p:sp>
        <p:nvSpPr>
          <p:cNvPr id="28" name="Text 26"/>
          <p:cNvSpPr/>
          <p:nvPr/>
        </p:nvSpPr>
        <p:spPr>
          <a:xfrm>
            <a:off x="4626864" y="3334247"/>
            <a:ext cx="2804160" cy="268224"/>
          </a:xfrm>
          <a:prstGeom prst="rect">
            <a:avLst/>
          </a:prstGeom>
          <a:noFill/>
          <a:ln/>
        </p:spPr>
        <p:txBody>
          <a:bodyPr wrap="square" lIns="0" tIns="0" rIns="0" bIns="0" rtlCol="0" anchor="ctr"/>
          <a:lstStyle/>
          <a:p>
            <a:pPr algn="ctr"/>
            <a:r>
              <a:rPr lang="en-US" sz="1067" b="1">
                <a:solidFill>
                  <a:srgbClr val="2D6A4F"/>
                </a:solidFill>
                <a:latin typeface="Inter" panose="02000503000000020004" pitchFamily="2" charset="0"/>
                <a:ea typeface="Inter" panose="02000503000000020004" pitchFamily="2" charset="0"/>
                <a:cs typeface="Inter" panose="02000503000000020004" pitchFamily="2" charset="0"/>
              </a:rPr>
              <a:t>Proprietary Channel</a:t>
            </a:r>
            <a:endParaRPr lang="en-US" sz="1067">
              <a:latin typeface="Inter" panose="02000503000000020004" pitchFamily="2" charset="0"/>
              <a:ea typeface="Inter" panose="02000503000000020004" pitchFamily="2" charset="0"/>
              <a:cs typeface="Inter" panose="02000503000000020004" pitchFamily="2" charset="0"/>
            </a:endParaRPr>
          </a:p>
        </p:txBody>
      </p:sp>
      <p:sp>
        <p:nvSpPr>
          <p:cNvPr id="29" name="Text 27"/>
          <p:cNvSpPr/>
          <p:nvPr/>
        </p:nvSpPr>
        <p:spPr>
          <a:xfrm>
            <a:off x="4413504" y="3657600"/>
            <a:ext cx="3230880" cy="2657856"/>
          </a:xfrm>
          <a:prstGeom prst="rect">
            <a:avLst/>
          </a:prstGeom>
          <a:noFill/>
          <a:ln/>
        </p:spPr>
        <p:txBody>
          <a:bodyPr wrap="square" rtlCol="0" anchor="t"/>
          <a:lstStyle/>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CEO level-to-CEO outreach creates credibility</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Value proposition: we bring market access and decades of operating experience, not just capital</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Systematic conversations with 1,700+ owner-operators in focus segments</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Warm referrals from operators &amp; management teams in our network</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30" name="Shape 28"/>
          <p:cNvSpPr/>
          <p:nvPr/>
        </p:nvSpPr>
        <p:spPr>
          <a:xfrm>
            <a:off x="8046720" y="2706624"/>
            <a:ext cx="3535680" cy="3223554"/>
          </a:xfrm>
          <a:prstGeom prst="rect">
            <a:avLst/>
          </a:prstGeom>
          <a:solidFill>
            <a:srgbClr val="FFFFFF"/>
          </a:solidFill>
          <a:ln w="12700">
            <a:solidFill>
              <a:srgbClr val="E8ECF2"/>
            </a:solidFill>
            <a:prstDash val="solid"/>
          </a:ln>
          <a:effectLst>
            <a:outerShdw blurRad="101600" dist="25400" dir="8100000" algn="bl" rotWithShape="0">
              <a:srgbClr val="000000">
                <a:alpha val="7000"/>
              </a:srgbClr>
            </a:outerShdw>
          </a:effectLst>
        </p:spPr>
        <p:txBody>
          <a:bodyPr/>
          <a:lstStyle/>
          <a:p>
            <a:endParaRPr lang="en-US" sz="2400"/>
          </a:p>
        </p:txBody>
      </p:sp>
      <p:sp>
        <p:nvSpPr>
          <p:cNvPr id="31" name="Shape 29"/>
          <p:cNvSpPr/>
          <p:nvPr/>
        </p:nvSpPr>
        <p:spPr>
          <a:xfrm>
            <a:off x="8046720" y="2706624"/>
            <a:ext cx="3535680" cy="60960"/>
          </a:xfrm>
          <a:prstGeom prst="rect">
            <a:avLst/>
          </a:prstGeom>
          <a:solidFill>
            <a:schemeClr val="accent1">
              <a:lumMod val="50000"/>
            </a:schemeClr>
          </a:solidFill>
          <a:ln w="12700">
            <a:solidFill>
              <a:srgbClr val="2D6A4F"/>
            </a:solidFill>
            <a:prstDash val="solid"/>
          </a:ln>
        </p:spPr>
        <p:txBody>
          <a:bodyPr/>
          <a:lstStyle/>
          <a:p>
            <a:endParaRPr lang="en-US" sz="2400"/>
          </a:p>
        </p:txBody>
      </p:sp>
      <p:sp>
        <p:nvSpPr>
          <p:cNvPr id="32" name="Text 30"/>
          <p:cNvSpPr/>
          <p:nvPr/>
        </p:nvSpPr>
        <p:spPr>
          <a:xfrm>
            <a:off x="8217408" y="2804160"/>
            <a:ext cx="3194304" cy="463296"/>
          </a:xfrm>
          <a:prstGeom prst="rect">
            <a:avLst/>
          </a:prstGeom>
          <a:noFill/>
          <a:ln/>
        </p:spPr>
        <p:txBody>
          <a:bodyPr wrap="square" lIns="0" tIns="0" rIns="0" bIns="0" rtlCol="0" anchor="ctr"/>
          <a:lstStyle/>
          <a:p>
            <a:pPr algn="ctr"/>
            <a:r>
              <a:rPr lang="en-US" sz="1100" b="1" kern="0" spc="67">
                <a:solidFill>
                  <a:srgbClr val="132240"/>
                </a:solidFill>
                <a:latin typeface="Inter" panose="02000503000000020004" pitchFamily="2" charset="0"/>
                <a:ea typeface="Inter" panose="02000503000000020004" pitchFamily="2" charset="0"/>
                <a:cs typeface="Inter" panose="02000503000000020004" pitchFamily="2" charset="0"/>
              </a:rPr>
              <a:t>INVESTMENT BANKER RELATIONSHIPS</a:t>
            </a:r>
            <a:endParaRPr lang="en-US" sz="1100">
              <a:latin typeface="Inter" panose="02000503000000020004" pitchFamily="2" charset="0"/>
              <a:ea typeface="Inter" panose="02000503000000020004" pitchFamily="2" charset="0"/>
              <a:cs typeface="Inter" panose="02000503000000020004" pitchFamily="2" charset="0"/>
            </a:endParaRPr>
          </a:p>
        </p:txBody>
      </p:sp>
      <p:sp>
        <p:nvSpPr>
          <p:cNvPr id="33" name="Shape 31"/>
          <p:cNvSpPr/>
          <p:nvPr/>
        </p:nvSpPr>
        <p:spPr>
          <a:xfrm>
            <a:off x="8388096" y="3316224"/>
            <a:ext cx="2804160" cy="268224"/>
          </a:xfrm>
          <a:prstGeom prst="rect">
            <a:avLst/>
          </a:prstGeom>
          <a:solidFill>
            <a:srgbClr val="EBF5EE"/>
          </a:solidFill>
          <a:ln w="12700">
            <a:solidFill>
              <a:srgbClr val="C8E6C9"/>
            </a:solidFill>
            <a:prstDash val="solid"/>
          </a:ln>
        </p:spPr>
        <p:txBody>
          <a:bodyPr/>
          <a:lstStyle/>
          <a:p>
            <a:endParaRPr lang="en-US" sz="2400"/>
          </a:p>
        </p:txBody>
      </p:sp>
      <p:sp>
        <p:nvSpPr>
          <p:cNvPr id="34" name="Text 32"/>
          <p:cNvSpPr/>
          <p:nvPr/>
        </p:nvSpPr>
        <p:spPr>
          <a:xfrm>
            <a:off x="8388096" y="3330496"/>
            <a:ext cx="2804160" cy="268224"/>
          </a:xfrm>
          <a:prstGeom prst="rect">
            <a:avLst/>
          </a:prstGeom>
          <a:noFill/>
          <a:ln/>
        </p:spPr>
        <p:txBody>
          <a:bodyPr wrap="square" lIns="0" tIns="0" rIns="0" bIns="0" rtlCol="0" anchor="ctr"/>
          <a:lstStyle/>
          <a:p>
            <a:pPr algn="ctr"/>
            <a:r>
              <a:rPr lang="en-US" sz="1067" b="1">
                <a:solidFill>
                  <a:srgbClr val="2D6A4F"/>
                </a:solidFill>
                <a:latin typeface="Inter" panose="02000503000000020004" pitchFamily="2" charset="0"/>
                <a:ea typeface="Inter" panose="02000503000000020004" pitchFamily="2" charset="0"/>
                <a:cs typeface="Inter" panose="02000503000000020004" pitchFamily="2" charset="0"/>
              </a:rPr>
              <a:t>Process Advantage</a:t>
            </a:r>
            <a:endParaRPr lang="en-US" sz="1067">
              <a:latin typeface="Inter" panose="02000503000000020004" pitchFamily="2" charset="0"/>
              <a:ea typeface="Inter" panose="02000503000000020004" pitchFamily="2" charset="0"/>
              <a:cs typeface="Inter" panose="02000503000000020004" pitchFamily="2" charset="0"/>
            </a:endParaRPr>
          </a:p>
        </p:txBody>
      </p:sp>
      <p:sp>
        <p:nvSpPr>
          <p:cNvPr id="35" name="Text 33"/>
          <p:cNvSpPr/>
          <p:nvPr/>
        </p:nvSpPr>
        <p:spPr>
          <a:xfrm>
            <a:off x="8193024" y="3657600"/>
            <a:ext cx="3230880" cy="2657856"/>
          </a:xfrm>
          <a:prstGeom prst="rect">
            <a:avLst/>
          </a:prstGeom>
          <a:noFill/>
          <a:ln/>
        </p:spPr>
        <p:txBody>
          <a:bodyPr wrap="square" rtlCol="0" anchor="t"/>
          <a:lstStyle/>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Decade+ relationships at LMM industrial-focused IBs</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Known as serious, executable operators  get early-look access</a:t>
            </a:r>
            <a:endParaRPr lang="en-US" sz="1200">
              <a:latin typeface="Inter" panose="02000503000000020004" pitchFamily="2" charset="0"/>
              <a:ea typeface="Inter" panose="02000503000000020004" pitchFamily="2" charset="0"/>
              <a:cs typeface="Inter" panose="02000503000000020004" pitchFamily="2" charset="0"/>
            </a:endParaRPr>
          </a:p>
          <a:p>
            <a:pPr marL="457189" indent="-457189">
              <a:spcAft>
                <a:spcPts val="667"/>
              </a:spcAft>
              <a:buSzPct val="100000"/>
              <a:buChar char="•"/>
            </a:pPr>
            <a:r>
              <a:rPr lang="en-US" sz="1200">
                <a:solidFill>
                  <a:srgbClr val="2D3A4E"/>
                </a:solidFill>
                <a:latin typeface="Inter" panose="02000503000000020004" pitchFamily="2" charset="0"/>
                <a:ea typeface="Inter" panose="02000503000000020004" pitchFamily="2" charset="0"/>
                <a:cs typeface="Inter" panose="02000503000000020004" pitchFamily="2" charset="0"/>
              </a:rPr>
              <a:t>Proprietary buy-side brokers targeting ”strategic buyer exhaust" opportunities</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36" name="Title 1">
            <a:extLst>
              <a:ext uri="{FF2B5EF4-FFF2-40B4-BE49-F238E27FC236}">
                <a16:creationId xmlns:a16="http://schemas.microsoft.com/office/drawing/2014/main" id="{C700BDCA-C315-E432-DD0E-88B2750FDFCC}"/>
              </a:ext>
            </a:extLst>
          </p:cNvPr>
          <p:cNvSpPr txBox="1">
            <a:spLocks/>
          </p:cNvSpPr>
          <p:nvPr/>
        </p:nvSpPr>
        <p:spPr>
          <a:xfrm>
            <a:off x="1046922" y="603664"/>
            <a:ext cx="10515600" cy="529397"/>
          </a:xfrm>
          <a:prstGeom prst="rect">
            <a:avLst/>
          </a:prstGeom>
        </p:spPr>
        <p:txBody>
          <a:bodyPr/>
          <a:lstStyle>
            <a:lvl1pPr algn="l" defTabSz="914400" rtl="0" eaLnBrk="1" latinLnBrk="0" hangingPunct="1">
              <a:lnSpc>
                <a:spcPct val="90000"/>
              </a:lnSpc>
              <a:spcBef>
                <a:spcPct val="0"/>
              </a:spcBef>
              <a:buNone/>
              <a:defRPr sz="3000" kern="1200" baseline="0">
                <a:solidFill>
                  <a:schemeClr val="tx1"/>
                </a:solidFill>
                <a:latin typeface="Inter ExtraBold" panose="02000503000000020004" pitchFamily="2" charset="0"/>
                <a:ea typeface="+mj-ea"/>
                <a:cs typeface="+mj-cs"/>
              </a:defRPr>
            </a:lvl1pPr>
          </a:lstStyle>
          <a:p>
            <a:r>
              <a:rPr lang="en-US">
                <a:latin typeface="Inter" panose="02000503000000020004" pitchFamily="2" charset="0"/>
                <a:ea typeface="Inter" panose="02000503000000020004" pitchFamily="2" charset="0"/>
                <a:cs typeface="Inter" panose="02000503000000020004" pitchFamily="2" charset="0"/>
              </a:rPr>
              <a:t>Sourcing Advantage: How we see deals others don’t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9939"/>
            <a:ext cx="12192000" cy="1280160"/>
          </a:xfrm>
          <a:prstGeom prst="rect">
            <a:avLst/>
          </a:prstGeom>
          <a:solidFill>
            <a:schemeClr val="tx1"/>
          </a:solidFill>
          <a:ln w="12700">
            <a:solidFill>
              <a:srgbClr val="132240"/>
            </a:solidFill>
            <a:prstDash val="solid"/>
          </a:ln>
        </p:spPr>
        <p:txBody>
          <a:bodyPr/>
          <a:lstStyle/>
          <a:p>
            <a:endParaRPr lang="en-US" sz="2400">
              <a:latin typeface="Inter" panose="02000503000000020004" pitchFamily="2" charset="0"/>
              <a:ea typeface="Inter" panose="02000503000000020004" pitchFamily="2" charset="0"/>
              <a:cs typeface="Inter" panose="02000503000000020004" pitchFamily="2" charset="0"/>
            </a:endParaRPr>
          </a:p>
        </p:txBody>
      </p:sp>
      <p:sp>
        <p:nvSpPr>
          <p:cNvPr id="5" name="Text 3"/>
          <p:cNvSpPr/>
          <p:nvPr/>
        </p:nvSpPr>
        <p:spPr>
          <a:xfrm>
            <a:off x="463296" y="97536"/>
            <a:ext cx="4267200" cy="365760"/>
          </a:xfrm>
          <a:prstGeom prst="rect">
            <a:avLst/>
          </a:prstGeom>
          <a:noFill/>
          <a:ln/>
        </p:spPr>
        <p:txBody>
          <a:bodyPr wrap="square" lIns="0" tIns="0" rIns="0" bIns="0" rtlCol="0" anchor="ctr"/>
          <a:lstStyle/>
          <a:p>
            <a:r>
              <a:rPr lang="en-US" sz="1200" b="1" kern="0" spc="400">
                <a:solidFill>
                  <a:schemeClr val="bg1"/>
                </a:solidFill>
              </a:rPr>
              <a:t>CATSKILL PARTNERS</a:t>
            </a:r>
            <a:endParaRPr lang="en-US" sz="1200">
              <a:solidFill>
                <a:schemeClr val="bg1"/>
              </a:solidFill>
            </a:endParaRPr>
          </a:p>
        </p:txBody>
      </p:sp>
      <p:sp>
        <p:nvSpPr>
          <p:cNvPr id="6" name="Text 4"/>
          <p:cNvSpPr/>
          <p:nvPr/>
        </p:nvSpPr>
        <p:spPr>
          <a:xfrm>
            <a:off x="463296" y="438912"/>
            <a:ext cx="6705600" cy="512064"/>
          </a:xfrm>
          <a:prstGeom prst="rect">
            <a:avLst/>
          </a:prstGeom>
          <a:noFill/>
          <a:ln/>
        </p:spPr>
        <p:txBody>
          <a:bodyPr wrap="square" lIns="0" tIns="0" rIns="0" bIns="0" rtlCol="0" anchor="ctr"/>
          <a:lstStyle/>
          <a:p>
            <a:r>
              <a:rPr lang="en-US" sz="2933" b="1">
                <a:solidFill>
                  <a:srgbClr val="FFFFFF"/>
                </a:solidFill>
              </a:rPr>
              <a:t>Deal Flow Funnel — YTD 2026</a:t>
            </a:r>
            <a:endParaRPr lang="en-US" sz="2933"/>
          </a:p>
        </p:txBody>
      </p:sp>
      <p:sp>
        <p:nvSpPr>
          <p:cNvPr id="7" name="Text 5"/>
          <p:cNvSpPr/>
          <p:nvPr/>
        </p:nvSpPr>
        <p:spPr>
          <a:xfrm>
            <a:off x="463296" y="926592"/>
            <a:ext cx="7315200" cy="304800"/>
          </a:xfrm>
          <a:prstGeom prst="rect">
            <a:avLst/>
          </a:prstGeom>
          <a:noFill/>
          <a:ln/>
        </p:spPr>
        <p:txBody>
          <a:bodyPr wrap="square" lIns="0" tIns="0" rIns="0" bIns="0" rtlCol="0" anchor="ctr"/>
          <a:lstStyle/>
          <a:p>
            <a:r>
              <a:rPr lang="en-US" sz="1267">
                <a:solidFill>
                  <a:schemeClr val="bg1"/>
                </a:solidFill>
              </a:rPr>
              <a:t>Jan 1 – Mar 13, 2026  ·  72 days  ·  Platform Sourcing</a:t>
            </a:r>
          </a:p>
        </p:txBody>
      </p:sp>
      <p:sp>
        <p:nvSpPr>
          <p:cNvPr id="8" name="Shape 6"/>
          <p:cNvSpPr/>
          <p:nvPr/>
        </p:nvSpPr>
        <p:spPr>
          <a:xfrm>
            <a:off x="8046720" y="146304"/>
            <a:ext cx="1280160" cy="950976"/>
          </a:xfrm>
          <a:prstGeom prst="rect">
            <a:avLst/>
          </a:prstGeom>
          <a:solidFill>
            <a:schemeClr val="accent1">
              <a:lumMod val="20000"/>
              <a:lumOff val="80000"/>
            </a:schemeClr>
          </a:solidFill>
          <a:ln w="12700">
            <a:solidFill>
              <a:srgbClr val="1E3A5C"/>
            </a:solidFill>
            <a:prstDash val="solid"/>
          </a:ln>
        </p:spPr>
        <p:txBody>
          <a:bodyPr/>
          <a:lstStyle/>
          <a:p>
            <a:endParaRPr lang="en-US" sz="2400">
              <a:solidFill>
                <a:srgbClr val="000000"/>
              </a:solidFill>
              <a:latin typeface="Inter" panose="02000503000000020004" pitchFamily="2" charset="0"/>
              <a:ea typeface="Inter" panose="02000503000000020004" pitchFamily="2" charset="0"/>
              <a:cs typeface="Inter" panose="02000503000000020004" pitchFamily="2" charset="0"/>
            </a:endParaRPr>
          </a:p>
        </p:txBody>
      </p:sp>
      <p:sp>
        <p:nvSpPr>
          <p:cNvPr id="9" name="Text 7"/>
          <p:cNvSpPr/>
          <p:nvPr/>
        </p:nvSpPr>
        <p:spPr>
          <a:xfrm>
            <a:off x="8046720" y="170688"/>
            <a:ext cx="1280160" cy="487680"/>
          </a:xfrm>
          <a:prstGeom prst="rect">
            <a:avLst/>
          </a:prstGeom>
          <a:noFill/>
          <a:ln/>
        </p:spPr>
        <p:txBody>
          <a:bodyPr wrap="square" lIns="0" tIns="0" rIns="0" bIns="0" rtlCol="0" anchor="ctr"/>
          <a:lstStyle/>
          <a:p>
            <a:pPr algn="ctr"/>
            <a:r>
              <a:rPr lang="en-US" sz="2000" b="1">
                <a:solidFill>
                  <a:srgbClr val="000000"/>
                </a:solidFill>
              </a:rPr>
              <a:t>44</a:t>
            </a:r>
            <a:endParaRPr lang="en-US" sz="2000">
              <a:solidFill>
                <a:srgbClr val="000000"/>
              </a:solidFill>
            </a:endParaRPr>
          </a:p>
        </p:txBody>
      </p:sp>
      <p:sp>
        <p:nvSpPr>
          <p:cNvPr id="10" name="Text 8"/>
          <p:cNvSpPr/>
          <p:nvPr/>
        </p:nvSpPr>
        <p:spPr>
          <a:xfrm>
            <a:off x="8046720" y="633984"/>
            <a:ext cx="1280160" cy="304800"/>
          </a:xfrm>
          <a:prstGeom prst="rect">
            <a:avLst/>
          </a:prstGeom>
          <a:noFill/>
          <a:ln/>
        </p:spPr>
        <p:txBody>
          <a:bodyPr wrap="square" lIns="0" tIns="0" rIns="0" bIns="0" rtlCol="0" anchor="ctr"/>
          <a:lstStyle/>
          <a:p>
            <a:pPr algn="ctr"/>
            <a:r>
              <a:rPr lang="en-US" sz="1067">
                <a:solidFill>
                  <a:srgbClr val="000000"/>
                </a:solidFill>
              </a:rPr>
              <a:t>Screened</a:t>
            </a:r>
          </a:p>
        </p:txBody>
      </p:sp>
      <p:sp>
        <p:nvSpPr>
          <p:cNvPr id="11" name="Shape 9"/>
          <p:cNvSpPr/>
          <p:nvPr/>
        </p:nvSpPr>
        <p:spPr>
          <a:xfrm>
            <a:off x="9448800" y="146304"/>
            <a:ext cx="1280160" cy="950976"/>
          </a:xfrm>
          <a:prstGeom prst="rect">
            <a:avLst/>
          </a:prstGeom>
          <a:solidFill>
            <a:schemeClr val="accent1">
              <a:lumMod val="20000"/>
              <a:lumOff val="80000"/>
            </a:schemeClr>
          </a:solidFill>
          <a:ln w="12700">
            <a:solidFill>
              <a:srgbClr val="1E3A5C"/>
            </a:solidFill>
            <a:prstDash val="solid"/>
          </a:ln>
        </p:spPr>
        <p:txBody>
          <a:bodyPr/>
          <a:lstStyle/>
          <a:p>
            <a:endParaRPr lang="en-US" sz="2400">
              <a:latin typeface="Inter" panose="02000503000000020004" pitchFamily="2" charset="0"/>
              <a:ea typeface="Inter" panose="02000503000000020004" pitchFamily="2" charset="0"/>
              <a:cs typeface="Inter" panose="02000503000000020004" pitchFamily="2" charset="0"/>
            </a:endParaRPr>
          </a:p>
        </p:txBody>
      </p:sp>
      <p:sp>
        <p:nvSpPr>
          <p:cNvPr id="12" name="Text 10"/>
          <p:cNvSpPr/>
          <p:nvPr/>
        </p:nvSpPr>
        <p:spPr>
          <a:xfrm>
            <a:off x="9448800" y="170688"/>
            <a:ext cx="1280160" cy="487680"/>
          </a:xfrm>
          <a:prstGeom prst="rect">
            <a:avLst/>
          </a:prstGeom>
          <a:noFill/>
          <a:ln/>
        </p:spPr>
        <p:txBody>
          <a:bodyPr wrap="square" lIns="0" tIns="0" rIns="0" bIns="0" rtlCol="0" anchor="ctr"/>
          <a:lstStyle/>
          <a:p>
            <a:pPr algn="ctr"/>
            <a:r>
              <a:rPr lang="en-US" sz="2000" b="1">
                <a:solidFill>
                  <a:srgbClr val="000000"/>
                </a:solidFill>
              </a:rPr>
              <a:t>20.5%</a:t>
            </a:r>
            <a:endParaRPr lang="en-US" sz="2000">
              <a:solidFill>
                <a:srgbClr val="000000"/>
              </a:solidFill>
            </a:endParaRPr>
          </a:p>
        </p:txBody>
      </p:sp>
      <p:sp>
        <p:nvSpPr>
          <p:cNvPr id="13" name="Text 11"/>
          <p:cNvSpPr/>
          <p:nvPr/>
        </p:nvSpPr>
        <p:spPr>
          <a:xfrm>
            <a:off x="9448800" y="633984"/>
            <a:ext cx="1280160" cy="304800"/>
          </a:xfrm>
          <a:prstGeom prst="rect">
            <a:avLst/>
          </a:prstGeom>
          <a:noFill/>
          <a:ln/>
        </p:spPr>
        <p:txBody>
          <a:bodyPr wrap="square" lIns="0" tIns="0" rIns="0" bIns="0" rtlCol="0" anchor="ctr"/>
          <a:lstStyle/>
          <a:p>
            <a:pPr algn="ctr"/>
            <a:r>
              <a:rPr lang="en-US" sz="1067">
                <a:solidFill>
                  <a:srgbClr val="000000"/>
                </a:solidFill>
              </a:rPr>
              <a:t>NDA rate</a:t>
            </a:r>
          </a:p>
        </p:txBody>
      </p:sp>
      <p:sp>
        <p:nvSpPr>
          <p:cNvPr id="14" name="Shape 12"/>
          <p:cNvSpPr/>
          <p:nvPr/>
        </p:nvSpPr>
        <p:spPr>
          <a:xfrm>
            <a:off x="10850880" y="146304"/>
            <a:ext cx="1280160" cy="950976"/>
          </a:xfrm>
          <a:prstGeom prst="rect">
            <a:avLst/>
          </a:prstGeom>
          <a:solidFill>
            <a:schemeClr val="accent1">
              <a:lumMod val="20000"/>
              <a:lumOff val="80000"/>
            </a:schemeClr>
          </a:solidFill>
          <a:ln w="12700">
            <a:solidFill>
              <a:srgbClr val="1E3A5C"/>
            </a:solidFill>
            <a:prstDash val="solid"/>
          </a:ln>
        </p:spPr>
        <p:txBody>
          <a:bodyPr/>
          <a:lstStyle/>
          <a:p>
            <a:endParaRPr lang="en-US" sz="2400">
              <a:latin typeface="Inter" panose="02000503000000020004" pitchFamily="2" charset="0"/>
              <a:ea typeface="Inter" panose="02000503000000020004" pitchFamily="2" charset="0"/>
              <a:cs typeface="Inter" panose="02000503000000020004" pitchFamily="2" charset="0"/>
            </a:endParaRPr>
          </a:p>
        </p:txBody>
      </p:sp>
      <p:sp>
        <p:nvSpPr>
          <p:cNvPr id="15" name="Text 13"/>
          <p:cNvSpPr/>
          <p:nvPr/>
        </p:nvSpPr>
        <p:spPr>
          <a:xfrm>
            <a:off x="10850880" y="170688"/>
            <a:ext cx="1280160" cy="487680"/>
          </a:xfrm>
          <a:prstGeom prst="rect">
            <a:avLst/>
          </a:prstGeom>
          <a:noFill/>
          <a:ln/>
        </p:spPr>
        <p:txBody>
          <a:bodyPr wrap="square" lIns="0" tIns="0" rIns="0" bIns="0" rtlCol="0" anchor="ctr"/>
          <a:lstStyle/>
          <a:p>
            <a:pPr algn="ctr"/>
            <a:r>
              <a:rPr lang="en-US" sz="2000" b="1">
                <a:solidFill>
                  <a:srgbClr val="000000"/>
                </a:solidFill>
              </a:rPr>
              <a:t>~223/yr</a:t>
            </a:r>
            <a:endParaRPr lang="en-US" sz="2000">
              <a:solidFill>
                <a:srgbClr val="000000"/>
              </a:solidFill>
            </a:endParaRPr>
          </a:p>
        </p:txBody>
      </p:sp>
      <p:sp>
        <p:nvSpPr>
          <p:cNvPr id="16" name="Text 14"/>
          <p:cNvSpPr/>
          <p:nvPr/>
        </p:nvSpPr>
        <p:spPr>
          <a:xfrm>
            <a:off x="10850880" y="633984"/>
            <a:ext cx="1280160" cy="304800"/>
          </a:xfrm>
          <a:prstGeom prst="rect">
            <a:avLst/>
          </a:prstGeom>
          <a:noFill/>
          <a:ln/>
        </p:spPr>
        <p:txBody>
          <a:bodyPr wrap="square" lIns="0" tIns="0" rIns="0" bIns="0" rtlCol="0" anchor="ctr"/>
          <a:lstStyle/>
          <a:p>
            <a:pPr algn="ctr"/>
            <a:r>
              <a:rPr lang="en-US" sz="1067">
                <a:solidFill>
                  <a:srgbClr val="000000"/>
                </a:solidFill>
              </a:rPr>
              <a:t>Ann. pace</a:t>
            </a:r>
          </a:p>
        </p:txBody>
      </p:sp>
      <p:sp>
        <p:nvSpPr>
          <p:cNvPr id="17" name="Shape 15"/>
          <p:cNvSpPr/>
          <p:nvPr/>
        </p:nvSpPr>
        <p:spPr>
          <a:xfrm>
            <a:off x="0" y="1307254"/>
            <a:ext cx="12192000" cy="402336"/>
          </a:xfrm>
          <a:prstGeom prst="rect">
            <a:avLst/>
          </a:prstGeom>
          <a:solidFill>
            <a:srgbClr val="E8E8E4"/>
          </a:solidFill>
          <a:ln w="12700">
            <a:solidFill>
              <a:srgbClr val="E8E8E4"/>
            </a:solidFill>
            <a:prstDash val="solid"/>
          </a:ln>
        </p:spPr>
        <p:txBody>
          <a:bodyPr/>
          <a:lstStyle/>
          <a:p>
            <a:endParaRPr lang="en-US" sz="2400"/>
          </a:p>
        </p:txBody>
      </p:sp>
      <p:sp>
        <p:nvSpPr>
          <p:cNvPr id="18" name="Text 16"/>
          <p:cNvSpPr/>
          <p:nvPr/>
        </p:nvSpPr>
        <p:spPr>
          <a:xfrm>
            <a:off x="304800" y="1365504"/>
            <a:ext cx="2926080" cy="341376"/>
          </a:xfrm>
          <a:prstGeom prst="rect">
            <a:avLst/>
          </a:prstGeom>
          <a:noFill/>
          <a:ln/>
        </p:spPr>
        <p:txBody>
          <a:bodyPr wrap="square" lIns="0" tIns="0" rIns="0" bIns="0" rtlCol="0" anchor="ctr"/>
          <a:lstStyle/>
          <a:p>
            <a:r>
              <a:rPr lang="en-US" sz="1000" b="1" kern="0" spc="133">
                <a:solidFill>
                  <a:srgbClr val="7A7A74"/>
                </a:solidFill>
              </a:rPr>
              <a:t>Stage</a:t>
            </a:r>
            <a:endParaRPr lang="en-US" sz="1000"/>
          </a:p>
        </p:txBody>
      </p:sp>
      <p:sp>
        <p:nvSpPr>
          <p:cNvPr id="19" name="Text 17"/>
          <p:cNvSpPr/>
          <p:nvPr/>
        </p:nvSpPr>
        <p:spPr>
          <a:xfrm>
            <a:off x="3230880" y="1365504"/>
            <a:ext cx="6278880" cy="341376"/>
          </a:xfrm>
          <a:prstGeom prst="rect">
            <a:avLst/>
          </a:prstGeom>
          <a:noFill/>
          <a:ln/>
        </p:spPr>
        <p:txBody>
          <a:bodyPr wrap="square" lIns="0" tIns="0" rIns="0" bIns="0" rtlCol="0" anchor="ctr"/>
          <a:lstStyle/>
          <a:p>
            <a:pPr algn="ctr"/>
            <a:r>
              <a:rPr lang="en-US" sz="1000" b="1" kern="0" spc="133">
                <a:solidFill>
                  <a:srgbClr val="7A7A74"/>
                </a:solidFill>
              </a:rPr>
              <a:t>Volume</a:t>
            </a:r>
            <a:endParaRPr lang="en-US" sz="1000"/>
          </a:p>
        </p:txBody>
      </p:sp>
      <p:sp>
        <p:nvSpPr>
          <p:cNvPr id="20" name="Text 18"/>
          <p:cNvSpPr/>
          <p:nvPr/>
        </p:nvSpPr>
        <p:spPr>
          <a:xfrm>
            <a:off x="9509760" y="1365504"/>
            <a:ext cx="914400" cy="341376"/>
          </a:xfrm>
          <a:prstGeom prst="rect">
            <a:avLst/>
          </a:prstGeom>
          <a:noFill/>
          <a:ln/>
        </p:spPr>
        <p:txBody>
          <a:bodyPr wrap="square" lIns="0" tIns="0" rIns="0" bIns="0" rtlCol="0" anchor="ctr"/>
          <a:lstStyle/>
          <a:p>
            <a:pPr algn="ctr"/>
            <a:r>
              <a:rPr lang="en-US" sz="1000" b="1" kern="0" spc="133">
                <a:solidFill>
                  <a:srgbClr val="7A7A74"/>
                </a:solidFill>
              </a:rPr>
              <a:t>Count</a:t>
            </a:r>
            <a:endParaRPr lang="en-US" sz="1000"/>
          </a:p>
        </p:txBody>
      </p:sp>
      <p:sp>
        <p:nvSpPr>
          <p:cNvPr id="21" name="Text 19"/>
          <p:cNvSpPr/>
          <p:nvPr/>
        </p:nvSpPr>
        <p:spPr>
          <a:xfrm>
            <a:off x="10424160" y="1365504"/>
            <a:ext cx="1036320" cy="341376"/>
          </a:xfrm>
          <a:prstGeom prst="rect">
            <a:avLst/>
          </a:prstGeom>
          <a:noFill/>
          <a:ln/>
        </p:spPr>
        <p:txBody>
          <a:bodyPr wrap="square" lIns="0" tIns="0" rIns="0" bIns="0" rtlCol="0" anchor="ctr"/>
          <a:lstStyle/>
          <a:p>
            <a:pPr algn="ctr"/>
            <a:r>
              <a:rPr lang="en-US" sz="1000" b="1" kern="0" spc="133">
                <a:solidFill>
                  <a:srgbClr val="7A7A74"/>
                </a:solidFill>
              </a:rPr>
              <a:t>% Total</a:t>
            </a:r>
            <a:endParaRPr lang="en-US" sz="1000"/>
          </a:p>
        </p:txBody>
      </p:sp>
      <p:sp>
        <p:nvSpPr>
          <p:cNvPr id="22" name="Text 20"/>
          <p:cNvSpPr/>
          <p:nvPr/>
        </p:nvSpPr>
        <p:spPr>
          <a:xfrm>
            <a:off x="11460480" y="1365504"/>
            <a:ext cx="609600" cy="341376"/>
          </a:xfrm>
          <a:prstGeom prst="rect">
            <a:avLst/>
          </a:prstGeom>
          <a:noFill/>
          <a:ln/>
        </p:spPr>
        <p:txBody>
          <a:bodyPr wrap="square" lIns="0" tIns="0" rIns="0" bIns="0" rtlCol="0" anchor="ctr"/>
          <a:lstStyle/>
          <a:p>
            <a:pPr algn="ctr"/>
            <a:r>
              <a:rPr lang="en-US" sz="1000" b="1" kern="0" spc="133">
                <a:solidFill>
                  <a:srgbClr val="7A7A74"/>
                </a:solidFill>
              </a:rPr>
              <a:t>Step conv.</a:t>
            </a:r>
            <a:endParaRPr lang="en-US" sz="1000"/>
          </a:p>
        </p:txBody>
      </p:sp>
      <p:sp>
        <p:nvSpPr>
          <p:cNvPr id="23" name="Shape 21"/>
          <p:cNvSpPr/>
          <p:nvPr/>
        </p:nvSpPr>
        <p:spPr>
          <a:xfrm>
            <a:off x="0" y="1743456"/>
            <a:ext cx="12192000" cy="829056"/>
          </a:xfrm>
          <a:prstGeom prst="rect">
            <a:avLst/>
          </a:prstGeom>
          <a:solidFill>
            <a:srgbClr val="FFFFFF"/>
          </a:solidFill>
          <a:ln w="12700">
            <a:solidFill>
              <a:srgbClr val="E4E4E0"/>
            </a:solidFill>
            <a:prstDash val="solid"/>
          </a:ln>
        </p:spPr>
        <p:txBody>
          <a:bodyPr/>
          <a:lstStyle/>
          <a:p>
            <a:endParaRPr lang="en-US" sz="2400"/>
          </a:p>
        </p:txBody>
      </p:sp>
      <p:sp>
        <p:nvSpPr>
          <p:cNvPr id="24" name="Text 22"/>
          <p:cNvSpPr/>
          <p:nvPr/>
        </p:nvSpPr>
        <p:spPr>
          <a:xfrm>
            <a:off x="341376" y="1840992"/>
            <a:ext cx="2804160" cy="341376"/>
          </a:xfrm>
          <a:prstGeom prst="rect">
            <a:avLst/>
          </a:prstGeom>
          <a:noFill/>
          <a:ln/>
        </p:spPr>
        <p:txBody>
          <a:bodyPr wrap="square" lIns="0" tIns="0" rIns="0" bIns="0" rtlCol="0" anchor="ctr"/>
          <a:lstStyle/>
          <a:p>
            <a:r>
              <a:rPr lang="en-US" sz="1467" b="1">
                <a:solidFill>
                  <a:schemeClr val="accent1">
                    <a:lumMod val="50000"/>
                  </a:schemeClr>
                </a:solidFill>
                <a:latin typeface="Inter" panose="02000503000000020004" pitchFamily="2" charset="0"/>
                <a:ea typeface="Inter" panose="02000503000000020004" pitchFamily="2" charset="0"/>
                <a:cs typeface="Inter" panose="02000503000000020004" pitchFamily="2" charset="0"/>
              </a:rPr>
              <a:t>Deals Screened</a:t>
            </a:r>
            <a:endParaRPr lang="en-US" sz="1467">
              <a:solidFill>
                <a:schemeClr val="accent1">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25" name="Text 23"/>
          <p:cNvSpPr/>
          <p:nvPr/>
        </p:nvSpPr>
        <p:spPr>
          <a:xfrm>
            <a:off x="341376" y="2182368"/>
            <a:ext cx="2804160" cy="268224"/>
          </a:xfrm>
          <a:prstGeom prst="rect">
            <a:avLst/>
          </a:prstGeom>
          <a:noFill/>
          <a:ln/>
        </p:spPr>
        <p:txBody>
          <a:bodyPr wrap="square" lIns="0" tIns="0" rIns="0" bIns="0" rtlCol="0" anchor="ctr"/>
          <a:lstStyle/>
          <a:p>
            <a:r>
              <a:rPr lang="en-US" sz="1067">
                <a:solidFill>
                  <a:srgbClr val="7A7A74"/>
                </a:solidFill>
                <a:latin typeface="Inter" panose="02000503000000020004" pitchFamily="2" charset="0"/>
                <a:ea typeface="Inter" panose="02000503000000020004" pitchFamily="2" charset="0"/>
                <a:cs typeface="Inter" panose="02000503000000020004" pitchFamily="2" charset="0"/>
              </a:rPr>
              <a:t>Universe evaluated</a:t>
            </a:r>
            <a:endParaRPr lang="en-US" sz="1067">
              <a:latin typeface="Inter" panose="02000503000000020004" pitchFamily="2" charset="0"/>
              <a:ea typeface="Inter" panose="02000503000000020004" pitchFamily="2" charset="0"/>
              <a:cs typeface="Inter" panose="02000503000000020004" pitchFamily="2" charset="0"/>
            </a:endParaRPr>
          </a:p>
        </p:txBody>
      </p:sp>
      <p:sp>
        <p:nvSpPr>
          <p:cNvPr id="26" name="Shape 24"/>
          <p:cNvSpPr/>
          <p:nvPr/>
        </p:nvSpPr>
        <p:spPr>
          <a:xfrm>
            <a:off x="3230880" y="2011680"/>
            <a:ext cx="6096000" cy="316992"/>
          </a:xfrm>
          <a:prstGeom prst="rect">
            <a:avLst/>
          </a:prstGeom>
          <a:solidFill>
            <a:srgbClr val="EBEBE7"/>
          </a:solidFill>
          <a:ln w="12700">
            <a:solidFill>
              <a:srgbClr val="DDDDD9"/>
            </a:solidFill>
            <a:prstDash val="solid"/>
          </a:ln>
        </p:spPr>
        <p:txBody>
          <a:bodyPr/>
          <a:lstStyle/>
          <a:p>
            <a:endParaRPr lang="en-US" sz="2400"/>
          </a:p>
        </p:txBody>
      </p:sp>
      <p:sp>
        <p:nvSpPr>
          <p:cNvPr id="27" name="Shape 25"/>
          <p:cNvSpPr/>
          <p:nvPr/>
        </p:nvSpPr>
        <p:spPr>
          <a:xfrm>
            <a:off x="3230880" y="2011680"/>
            <a:ext cx="6096000" cy="316992"/>
          </a:xfrm>
          <a:prstGeom prst="rect">
            <a:avLst/>
          </a:prstGeom>
          <a:solidFill>
            <a:srgbClr val="132240"/>
          </a:solidFill>
          <a:ln w="12700">
            <a:solidFill>
              <a:srgbClr val="132240"/>
            </a:solidFill>
            <a:prstDash val="solid"/>
          </a:ln>
        </p:spPr>
        <p:txBody>
          <a:bodyPr/>
          <a:lstStyle/>
          <a:p>
            <a:endParaRPr lang="en-US" sz="2400"/>
          </a:p>
        </p:txBody>
      </p:sp>
      <p:sp>
        <p:nvSpPr>
          <p:cNvPr id="28" name="Text 26"/>
          <p:cNvSpPr/>
          <p:nvPr/>
        </p:nvSpPr>
        <p:spPr>
          <a:xfrm>
            <a:off x="3304032" y="2011680"/>
            <a:ext cx="487680" cy="316992"/>
          </a:xfrm>
          <a:prstGeom prst="rect">
            <a:avLst/>
          </a:prstGeom>
          <a:noFill/>
          <a:ln/>
        </p:spPr>
        <p:txBody>
          <a:bodyPr wrap="square" lIns="0" tIns="0" rIns="0" bIns="0" rtlCol="0" anchor="ctr"/>
          <a:lstStyle/>
          <a:p>
            <a:r>
              <a:rPr lang="en-US" sz="1267" b="1">
                <a:solidFill>
                  <a:srgbClr val="FFFFFF"/>
                </a:solidFill>
              </a:rPr>
              <a:t>44</a:t>
            </a:r>
            <a:endParaRPr lang="en-US" sz="1267"/>
          </a:p>
        </p:txBody>
      </p:sp>
      <p:sp>
        <p:nvSpPr>
          <p:cNvPr id="29" name="Text 27"/>
          <p:cNvSpPr/>
          <p:nvPr/>
        </p:nvSpPr>
        <p:spPr>
          <a:xfrm>
            <a:off x="3230880" y="2353056"/>
            <a:ext cx="6096000" cy="207264"/>
          </a:xfrm>
          <a:prstGeom prst="rect">
            <a:avLst/>
          </a:prstGeom>
          <a:noFill/>
          <a:ln/>
        </p:spPr>
        <p:txBody>
          <a:bodyPr wrap="square" lIns="0" tIns="0" rIns="0" bIns="0" rtlCol="0" anchor="ctr"/>
          <a:lstStyle/>
          <a:p>
            <a:r>
              <a:rPr lang="en-US" sz="1000" i="1">
                <a:solidFill>
                  <a:srgbClr val="7A7A74"/>
                </a:solidFill>
                <a:latin typeface="Inter" panose="02000503000000020004" pitchFamily="2" charset="0"/>
                <a:ea typeface="Inter" panose="02000503000000020004" pitchFamily="2" charset="0"/>
                <a:cs typeface="Inter" panose="02000503000000020004" pitchFamily="2" charset="0"/>
              </a:rPr>
              <a:t>21 passed screening process, not advanced (47.7% based on mandate discipline)</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30" name="Text 28"/>
          <p:cNvSpPr/>
          <p:nvPr/>
        </p:nvSpPr>
        <p:spPr>
          <a:xfrm>
            <a:off x="9509760" y="1987296"/>
            <a:ext cx="914400" cy="365760"/>
          </a:xfrm>
          <a:prstGeom prst="rect">
            <a:avLst/>
          </a:prstGeom>
          <a:noFill/>
          <a:ln/>
        </p:spPr>
        <p:txBody>
          <a:bodyPr wrap="square" lIns="0" tIns="0" rIns="0" bIns="0" rtlCol="0" anchor="ctr"/>
          <a:lstStyle/>
          <a:p>
            <a:pPr algn="ctr"/>
            <a:r>
              <a:rPr lang="en-US" sz="2133" b="1">
                <a:solidFill>
                  <a:srgbClr val="132240"/>
                </a:solidFill>
              </a:rPr>
              <a:t>44</a:t>
            </a:r>
            <a:endParaRPr lang="en-US" sz="2133"/>
          </a:p>
        </p:txBody>
      </p:sp>
      <p:sp>
        <p:nvSpPr>
          <p:cNvPr id="31" name="Text 29"/>
          <p:cNvSpPr/>
          <p:nvPr/>
        </p:nvSpPr>
        <p:spPr>
          <a:xfrm>
            <a:off x="10424160" y="2011680"/>
            <a:ext cx="1036320" cy="316992"/>
          </a:xfrm>
          <a:prstGeom prst="rect">
            <a:avLst/>
          </a:prstGeom>
          <a:noFill/>
          <a:ln/>
        </p:spPr>
        <p:txBody>
          <a:bodyPr wrap="square" lIns="0" tIns="0" rIns="0" bIns="0" rtlCol="0" anchor="ctr"/>
          <a:lstStyle/>
          <a:p>
            <a:pPr algn="ctr"/>
            <a:r>
              <a:rPr lang="en-US" sz="1333">
                <a:solidFill>
                  <a:srgbClr val="7A7A74"/>
                </a:solidFill>
              </a:rPr>
              <a:t>100.0%</a:t>
            </a:r>
            <a:endParaRPr lang="en-US" sz="1333"/>
          </a:p>
        </p:txBody>
      </p:sp>
      <p:sp>
        <p:nvSpPr>
          <p:cNvPr id="32" name="Text 30"/>
          <p:cNvSpPr/>
          <p:nvPr/>
        </p:nvSpPr>
        <p:spPr>
          <a:xfrm>
            <a:off x="11460480" y="2011680"/>
            <a:ext cx="609600" cy="316992"/>
          </a:xfrm>
          <a:prstGeom prst="rect">
            <a:avLst/>
          </a:prstGeom>
          <a:noFill/>
          <a:ln/>
        </p:spPr>
        <p:txBody>
          <a:bodyPr wrap="square" lIns="0" tIns="0" rIns="0" bIns="0" rtlCol="0" anchor="ctr"/>
          <a:lstStyle/>
          <a:p>
            <a:pPr algn="ctr"/>
            <a:r>
              <a:rPr lang="en-US" sz="1333">
                <a:solidFill>
                  <a:srgbClr val="C8C8C3"/>
                </a:solidFill>
              </a:rPr>
              <a:t>—</a:t>
            </a:r>
            <a:endParaRPr lang="en-US" sz="1333"/>
          </a:p>
        </p:txBody>
      </p:sp>
      <p:sp>
        <p:nvSpPr>
          <p:cNvPr id="34" name="Shape 32"/>
          <p:cNvSpPr/>
          <p:nvPr/>
        </p:nvSpPr>
        <p:spPr>
          <a:xfrm>
            <a:off x="0" y="2621280"/>
            <a:ext cx="12192000" cy="829056"/>
          </a:xfrm>
          <a:prstGeom prst="rect">
            <a:avLst/>
          </a:prstGeom>
          <a:solidFill>
            <a:srgbClr val="F9F9F7"/>
          </a:solidFill>
          <a:ln w="12700">
            <a:solidFill>
              <a:srgbClr val="E4E4E0"/>
            </a:solidFill>
            <a:prstDash val="solid"/>
          </a:ln>
        </p:spPr>
        <p:txBody>
          <a:bodyPr/>
          <a:lstStyle/>
          <a:p>
            <a:endParaRPr lang="en-US" sz="2400"/>
          </a:p>
        </p:txBody>
      </p:sp>
      <p:sp>
        <p:nvSpPr>
          <p:cNvPr id="35" name="Text 33"/>
          <p:cNvSpPr/>
          <p:nvPr/>
        </p:nvSpPr>
        <p:spPr>
          <a:xfrm>
            <a:off x="341376" y="2718816"/>
            <a:ext cx="2804160" cy="341376"/>
          </a:xfrm>
          <a:prstGeom prst="rect">
            <a:avLst/>
          </a:prstGeom>
          <a:noFill/>
          <a:ln/>
        </p:spPr>
        <p:txBody>
          <a:bodyPr wrap="square" lIns="0" tIns="0" rIns="0" bIns="0" rtlCol="0" anchor="ctr"/>
          <a:lstStyle/>
          <a:p>
            <a:r>
              <a:rPr lang="en-US" sz="1467" b="1">
                <a:solidFill>
                  <a:schemeClr val="accent1">
                    <a:lumMod val="50000"/>
                  </a:schemeClr>
                </a:solidFill>
                <a:latin typeface="Inter" panose="02000503000000020004" pitchFamily="2" charset="0"/>
                <a:ea typeface="Inter" panose="02000503000000020004" pitchFamily="2" charset="0"/>
                <a:cs typeface="Inter" panose="02000503000000020004" pitchFamily="2" charset="0"/>
              </a:rPr>
              <a:t>Advanced to NDA</a:t>
            </a:r>
            <a:endParaRPr lang="en-US" sz="1467">
              <a:solidFill>
                <a:schemeClr val="accent1">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36" name="Text 34"/>
          <p:cNvSpPr/>
          <p:nvPr/>
        </p:nvSpPr>
        <p:spPr>
          <a:xfrm>
            <a:off x="341376" y="3060192"/>
            <a:ext cx="2804160" cy="268224"/>
          </a:xfrm>
          <a:prstGeom prst="rect">
            <a:avLst/>
          </a:prstGeom>
          <a:noFill/>
          <a:ln/>
        </p:spPr>
        <p:txBody>
          <a:bodyPr wrap="square" lIns="0" tIns="0" rIns="0" bIns="0" rtlCol="0" anchor="ctr"/>
          <a:lstStyle/>
          <a:p>
            <a:r>
              <a:rPr lang="en-US" sz="1067">
                <a:solidFill>
                  <a:srgbClr val="7A7A74"/>
                </a:solidFill>
                <a:latin typeface="Inter" panose="02000503000000020004" pitchFamily="2" charset="0"/>
                <a:ea typeface="Inter" panose="02000503000000020004" pitchFamily="2" charset="0"/>
                <a:cs typeface="Inter" panose="02000503000000020004" pitchFamily="2" charset="0"/>
              </a:rPr>
              <a:t>Full diligence evaluation</a:t>
            </a:r>
            <a:endParaRPr lang="en-US" sz="1067">
              <a:latin typeface="Inter" panose="02000503000000020004" pitchFamily="2" charset="0"/>
              <a:ea typeface="Inter" panose="02000503000000020004" pitchFamily="2" charset="0"/>
              <a:cs typeface="Inter" panose="02000503000000020004" pitchFamily="2" charset="0"/>
            </a:endParaRPr>
          </a:p>
        </p:txBody>
      </p:sp>
      <p:sp>
        <p:nvSpPr>
          <p:cNvPr id="37" name="Shape 35"/>
          <p:cNvSpPr/>
          <p:nvPr/>
        </p:nvSpPr>
        <p:spPr>
          <a:xfrm>
            <a:off x="3230880" y="2889504"/>
            <a:ext cx="6096000" cy="316992"/>
          </a:xfrm>
          <a:prstGeom prst="rect">
            <a:avLst/>
          </a:prstGeom>
          <a:solidFill>
            <a:srgbClr val="EBEBE7"/>
          </a:solidFill>
          <a:ln w="12700">
            <a:solidFill>
              <a:srgbClr val="DDDDD9"/>
            </a:solidFill>
            <a:prstDash val="solid"/>
          </a:ln>
        </p:spPr>
        <p:txBody>
          <a:bodyPr/>
          <a:lstStyle/>
          <a:p>
            <a:endParaRPr lang="en-US" sz="2400"/>
          </a:p>
        </p:txBody>
      </p:sp>
      <p:sp>
        <p:nvSpPr>
          <p:cNvPr id="38" name="Shape 36"/>
          <p:cNvSpPr/>
          <p:nvPr/>
        </p:nvSpPr>
        <p:spPr>
          <a:xfrm>
            <a:off x="3230880" y="2889504"/>
            <a:ext cx="1018032" cy="316992"/>
          </a:xfrm>
          <a:prstGeom prst="rect">
            <a:avLst/>
          </a:prstGeom>
          <a:solidFill>
            <a:srgbClr val="B8962E"/>
          </a:solidFill>
          <a:ln w="12700">
            <a:solidFill>
              <a:srgbClr val="B8962E"/>
            </a:solidFill>
            <a:prstDash val="solid"/>
          </a:ln>
        </p:spPr>
        <p:txBody>
          <a:bodyPr/>
          <a:lstStyle/>
          <a:p>
            <a:endParaRPr lang="en-US" sz="2400"/>
          </a:p>
        </p:txBody>
      </p:sp>
      <p:sp>
        <p:nvSpPr>
          <p:cNvPr id="39" name="Text 37"/>
          <p:cNvSpPr/>
          <p:nvPr/>
        </p:nvSpPr>
        <p:spPr>
          <a:xfrm>
            <a:off x="3304032" y="2889504"/>
            <a:ext cx="487680" cy="316992"/>
          </a:xfrm>
          <a:prstGeom prst="rect">
            <a:avLst/>
          </a:prstGeom>
          <a:noFill/>
          <a:ln/>
        </p:spPr>
        <p:txBody>
          <a:bodyPr wrap="square" lIns="0" tIns="0" rIns="0" bIns="0" rtlCol="0" anchor="ctr"/>
          <a:lstStyle/>
          <a:p>
            <a:r>
              <a:rPr lang="en-US" sz="1267" b="1">
                <a:solidFill>
                  <a:srgbClr val="FFFFFF"/>
                </a:solidFill>
              </a:rPr>
              <a:t>9</a:t>
            </a:r>
            <a:endParaRPr lang="en-US" sz="1267"/>
          </a:p>
        </p:txBody>
      </p:sp>
      <p:sp>
        <p:nvSpPr>
          <p:cNvPr id="40" name="Text 38"/>
          <p:cNvSpPr/>
          <p:nvPr/>
        </p:nvSpPr>
        <p:spPr>
          <a:xfrm>
            <a:off x="9509760" y="2865120"/>
            <a:ext cx="914400" cy="365760"/>
          </a:xfrm>
          <a:prstGeom prst="rect">
            <a:avLst/>
          </a:prstGeom>
          <a:noFill/>
          <a:ln/>
        </p:spPr>
        <p:txBody>
          <a:bodyPr wrap="square" lIns="0" tIns="0" rIns="0" bIns="0" rtlCol="0" anchor="ctr"/>
          <a:lstStyle/>
          <a:p>
            <a:pPr algn="ctr"/>
            <a:r>
              <a:rPr lang="en-US" sz="2133" b="1">
                <a:solidFill>
                  <a:srgbClr val="132240"/>
                </a:solidFill>
              </a:rPr>
              <a:t>9</a:t>
            </a:r>
            <a:endParaRPr lang="en-US" sz="2133"/>
          </a:p>
        </p:txBody>
      </p:sp>
      <p:sp>
        <p:nvSpPr>
          <p:cNvPr id="41" name="Text 39"/>
          <p:cNvSpPr/>
          <p:nvPr/>
        </p:nvSpPr>
        <p:spPr>
          <a:xfrm>
            <a:off x="10424160" y="2889504"/>
            <a:ext cx="1036320" cy="316992"/>
          </a:xfrm>
          <a:prstGeom prst="rect">
            <a:avLst/>
          </a:prstGeom>
          <a:noFill/>
          <a:ln/>
        </p:spPr>
        <p:txBody>
          <a:bodyPr wrap="square" lIns="0" tIns="0" rIns="0" bIns="0" rtlCol="0" anchor="ctr"/>
          <a:lstStyle/>
          <a:p>
            <a:pPr algn="ctr"/>
            <a:r>
              <a:rPr lang="en-US" sz="1333">
                <a:solidFill>
                  <a:srgbClr val="7A7A74"/>
                </a:solidFill>
              </a:rPr>
              <a:t>20.5%</a:t>
            </a:r>
            <a:endParaRPr lang="en-US" sz="1333"/>
          </a:p>
        </p:txBody>
      </p:sp>
      <p:sp>
        <p:nvSpPr>
          <p:cNvPr id="42" name="Text 40"/>
          <p:cNvSpPr/>
          <p:nvPr/>
        </p:nvSpPr>
        <p:spPr>
          <a:xfrm>
            <a:off x="11460480" y="2889504"/>
            <a:ext cx="609600" cy="316992"/>
          </a:xfrm>
          <a:prstGeom prst="rect">
            <a:avLst/>
          </a:prstGeom>
          <a:noFill/>
          <a:ln/>
        </p:spPr>
        <p:txBody>
          <a:bodyPr wrap="square" lIns="0" tIns="0" rIns="0" bIns="0" rtlCol="0" anchor="ctr"/>
          <a:lstStyle/>
          <a:p>
            <a:pPr algn="ctr"/>
            <a:r>
              <a:rPr lang="en-US" sz="1333" b="1">
                <a:solidFill>
                  <a:srgbClr val="7A7A74"/>
                </a:solidFill>
              </a:rPr>
              <a:t>20.5%</a:t>
            </a:r>
            <a:endParaRPr lang="en-US" sz="1333"/>
          </a:p>
        </p:txBody>
      </p:sp>
      <p:sp>
        <p:nvSpPr>
          <p:cNvPr id="44" name="Shape 42"/>
          <p:cNvSpPr/>
          <p:nvPr/>
        </p:nvSpPr>
        <p:spPr>
          <a:xfrm>
            <a:off x="0" y="3499104"/>
            <a:ext cx="12192000" cy="829056"/>
          </a:xfrm>
          <a:prstGeom prst="rect">
            <a:avLst/>
          </a:prstGeom>
          <a:solidFill>
            <a:srgbClr val="EDF7F2"/>
          </a:solidFill>
          <a:ln w="12700">
            <a:solidFill>
              <a:srgbClr val="E4E4E0"/>
            </a:solidFill>
            <a:prstDash val="solid"/>
          </a:ln>
        </p:spPr>
        <p:txBody>
          <a:bodyPr/>
          <a:lstStyle/>
          <a:p>
            <a:endParaRPr lang="en-US" sz="2400"/>
          </a:p>
        </p:txBody>
      </p:sp>
      <p:sp>
        <p:nvSpPr>
          <p:cNvPr id="46" name="Text 44"/>
          <p:cNvSpPr/>
          <p:nvPr/>
        </p:nvSpPr>
        <p:spPr>
          <a:xfrm>
            <a:off x="341376" y="3596640"/>
            <a:ext cx="2804160" cy="341376"/>
          </a:xfrm>
          <a:prstGeom prst="rect">
            <a:avLst/>
          </a:prstGeom>
          <a:noFill/>
          <a:ln/>
        </p:spPr>
        <p:txBody>
          <a:bodyPr wrap="square" lIns="0" tIns="0" rIns="0" bIns="0" rtlCol="0" anchor="ctr"/>
          <a:lstStyle/>
          <a:p>
            <a:r>
              <a:rPr lang="en-US" sz="1467" b="1">
                <a:solidFill>
                  <a:schemeClr val="accent1">
                    <a:lumMod val="50000"/>
                  </a:schemeClr>
                </a:solidFill>
                <a:latin typeface="Inter" panose="02000503000000020004" pitchFamily="2" charset="0"/>
                <a:ea typeface="Inter" panose="02000503000000020004" pitchFamily="2" charset="0"/>
                <a:cs typeface="Inter" panose="02000503000000020004" pitchFamily="2" charset="0"/>
              </a:rPr>
              <a:t>IOI Submitted</a:t>
            </a:r>
            <a:endParaRPr lang="en-US" sz="1467">
              <a:solidFill>
                <a:schemeClr val="accent1">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47" name="Text 45"/>
          <p:cNvSpPr/>
          <p:nvPr/>
        </p:nvSpPr>
        <p:spPr>
          <a:xfrm>
            <a:off x="341376" y="3938016"/>
            <a:ext cx="2804160" cy="268224"/>
          </a:xfrm>
          <a:prstGeom prst="rect">
            <a:avLst/>
          </a:prstGeom>
          <a:noFill/>
          <a:ln/>
        </p:spPr>
        <p:txBody>
          <a:bodyPr wrap="square" lIns="0" tIns="0" rIns="0" bIns="0" rtlCol="0" anchor="ctr"/>
          <a:lstStyle/>
          <a:p>
            <a:r>
              <a:rPr lang="en-US" sz="1067" i="1">
                <a:solidFill>
                  <a:srgbClr val="2D6A4F"/>
                </a:solidFill>
                <a:latin typeface="Inter" panose="02000503000000020004" pitchFamily="2" charset="0"/>
                <a:ea typeface="Inter" panose="02000503000000020004" pitchFamily="2" charset="0"/>
                <a:cs typeface="Inter" panose="02000503000000020004" pitchFamily="2" charset="0"/>
              </a:rPr>
              <a:t>Active</a:t>
            </a:r>
            <a:endParaRPr lang="en-US" sz="1067">
              <a:latin typeface="Inter" panose="02000503000000020004" pitchFamily="2" charset="0"/>
              <a:ea typeface="Inter" panose="02000503000000020004" pitchFamily="2" charset="0"/>
              <a:cs typeface="Inter" panose="02000503000000020004" pitchFamily="2" charset="0"/>
            </a:endParaRPr>
          </a:p>
        </p:txBody>
      </p:sp>
      <p:sp>
        <p:nvSpPr>
          <p:cNvPr id="48" name="Shape 46"/>
          <p:cNvSpPr/>
          <p:nvPr/>
        </p:nvSpPr>
        <p:spPr>
          <a:xfrm>
            <a:off x="3230880" y="3767328"/>
            <a:ext cx="6096000" cy="316992"/>
          </a:xfrm>
          <a:prstGeom prst="rect">
            <a:avLst/>
          </a:prstGeom>
          <a:solidFill>
            <a:srgbClr val="EBEBE7"/>
          </a:solidFill>
          <a:ln w="12700">
            <a:solidFill>
              <a:srgbClr val="DDDDD9"/>
            </a:solidFill>
            <a:prstDash val="solid"/>
          </a:ln>
        </p:spPr>
        <p:txBody>
          <a:bodyPr/>
          <a:lstStyle/>
          <a:p>
            <a:endParaRPr lang="en-US" sz="2400"/>
          </a:p>
        </p:txBody>
      </p:sp>
      <p:sp>
        <p:nvSpPr>
          <p:cNvPr id="49" name="Shape 47"/>
          <p:cNvSpPr/>
          <p:nvPr/>
        </p:nvSpPr>
        <p:spPr>
          <a:xfrm>
            <a:off x="3230880" y="3767328"/>
            <a:ext cx="146304" cy="316992"/>
          </a:xfrm>
          <a:prstGeom prst="rect">
            <a:avLst/>
          </a:prstGeom>
          <a:solidFill>
            <a:srgbClr val="2D6A4F"/>
          </a:solidFill>
          <a:ln w="12700">
            <a:solidFill>
              <a:srgbClr val="2D6A4F"/>
            </a:solidFill>
            <a:prstDash val="solid"/>
          </a:ln>
        </p:spPr>
        <p:txBody>
          <a:bodyPr/>
          <a:lstStyle/>
          <a:p>
            <a:endParaRPr lang="en-US" sz="2400"/>
          </a:p>
        </p:txBody>
      </p:sp>
      <p:sp>
        <p:nvSpPr>
          <p:cNvPr id="50" name="Text 48"/>
          <p:cNvSpPr/>
          <p:nvPr/>
        </p:nvSpPr>
        <p:spPr>
          <a:xfrm>
            <a:off x="3450336" y="3767328"/>
            <a:ext cx="487680" cy="316992"/>
          </a:xfrm>
          <a:prstGeom prst="rect">
            <a:avLst/>
          </a:prstGeom>
          <a:noFill/>
          <a:ln/>
        </p:spPr>
        <p:txBody>
          <a:bodyPr wrap="square" lIns="0" tIns="0" rIns="0" bIns="0" rtlCol="0" anchor="ctr"/>
          <a:lstStyle/>
          <a:p>
            <a:r>
              <a:rPr lang="en-US" sz="1267" b="1">
                <a:solidFill>
                  <a:srgbClr val="132240"/>
                </a:solidFill>
              </a:rPr>
              <a:t>1</a:t>
            </a:r>
            <a:endParaRPr lang="en-US" sz="1267"/>
          </a:p>
        </p:txBody>
      </p:sp>
      <p:sp>
        <p:nvSpPr>
          <p:cNvPr id="51" name="Text 49"/>
          <p:cNvSpPr/>
          <p:nvPr/>
        </p:nvSpPr>
        <p:spPr>
          <a:xfrm>
            <a:off x="9509760" y="3742944"/>
            <a:ext cx="914400" cy="365760"/>
          </a:xfrm>
          <a:prstGeom prst="rect">
            <a:avLst/>
          </a:prstGeom>
          <a:noFill/>
          <a:ln/>
        </p:spPr>
        <p:txBody>
          <a:bodyPr wrap="square" lIns="0" tIns="0" rIns="0" bIns="0" rtlCol="0" anchor="ctr"/>
          <a:lstStyle/>
          <a:p>
            <a:pPr algn="ctr"/>
            <a:r>
              <a:rPr lang="en-US" sz="2133" b="1">
                <a:solidFill>
                  <a:srgbClr val="132240"/>
                </a:solidFill>
              </a:rPr>
              <a:t>1</a:t>
            </a:r>
            <a:endParaRPr lang="en-US" sz="2133"/>
          </a:p>
        </p:txBody>
      </p:sp>
      <p:sp>
        <p:nvSpPr>
          <p:cNvPr id="52" name="Text 50"/>
          <p:cNvSpPr/>
          <p:nvPr/>
        </p:nvSpPr>
        <p:spPr>
          <a:xfrm>
            <a:off x="10424160" y="3767328"/>
            <a:ext cx="1036320" cy="316992"/>
          </a:xfrm>
          <a:prstGeom prst="rect">
            <a:avLst/>
          </a:prstGeom>
          <a:noFill/>
          <a:ln/>
        </p:spPr>
        <p:txBody>
          <a:bodyPr wrap="square" lIns="0" tIns="0" rIns="0" bIns="0" rtlCol="0" anchor="ctr"/>
          <a:lstStyle/>
          <a:p>
            <a:pPr algn="ctr"/>
            <a:r>
              <a:rPr lang="en-US" sz="1333">
                <a:solidFill>
                  <a:srgbClr val="7A7A74"/>
                </a:solidFill>
              </a:rPr>
              <a:t>2.3%</a:t>
            </a:r>
            <a:endParaRPr lang="en-US" sz="1333"/>
          </a:p>
        </p:txBody>
      </p:sp>
      <p:sp>
        <p:nvSpPr>
          <p:cNvPr id="53" name="Text 51"/>
          <p:cNvSpPr/>
          <p:nvPr/>
        </p:nvSpPr>
        <p:spPr>
          <a:xfrm>
            <a:off x="11460480" y="3767328"/>
            <a:ext cx="609600" cy="316992"/>
          </a:xfrm>
          <a:prstGeom prst="rect">
            <a:avLst/>
          </a:prstGeom>
          <a:noFill/>
          <a:ln/>
        </p:spPr>
        <p:txBody>
          <a:bodyPr wrap="square" lIns="0" tIns="0" rIns="0" bIns="0" rtlCol="0" anchor="ctr"/>
          <a:lstStyle/>
          <a:p>
            <a:pPr algn="ctr"/>
            <a:r>
              <a:rPr lang="en-US" sz="1333" b="1">
                <a:solidFill>
                  <a:srgbClr val="2D6A4F"/>
                </a:solidFill>
              </a:rPr>
              <a:t>11.1%</a:t>
            </a:r>
            <a:endParaRPr lang="en-US" sz="1333"/>
          </a:p>
        </p:txBody>
      </p:sp>
      <p:sp>
        <p:nvSpPr>
          <p:cNvPr id="55" name="Shape 53"/>
          <p:cNvSpPr/>
          <p:nvPr/>
        </p:nvSpPr>
        <p:spPr>
          <a:xfrm>
            <a:off x="0" y="4376928"/>
            <a:ext cx="12192000" cy="829056"/>
          </a:xfrm>
          <a:prstGeom prst="rect">
            <a:avLst/>
          </a:prstGeom>
          <a:solidFill>
            <a:srgbClr val="F9F9F7"/>
          </a:solidFill>
          <a:ln w="12700">
            <a:solidFill>
              <a:srgbClr val="E4E4E0"/>
            </a:solidFill>
            <a:prstDash val="solid"/>
          </a:ln>
        </p:spPr>
        <p:txBody>
          <a:bodyPr/>
          <a:lstStyle/>
          <a:p>
            <a:endParaRPr lang="en-US" sz="2400"/>
          </a:p>
        </p:txBody>
      </p:sp>
      <p:sp>
        <p:nvSpPr>
          <p:cNvPr id="56" name="Text 54"/>
          <p:cNvSpPr/>
          <p:nvPr/>
        </p:nvSpPr>
        <p:spPr>
          <a:xfrm>
            <a:off x="341376" y="4474464"/>
            <a:ext cx="2804160" cy="341376"/>
          </a:xfrm>
          <a:prstGeom prst="rect">
            <a:avLst/>
          </a:prstGeom>
          <a:noFill/>
          <a:ln/>
        </p:spPr>
        <p:txBody>
          <a:bodyPr wrap="square" lIns="0" tIns="0" rIns="0" bIns="0" rtlCol="0" anchor="ctr"/>
          <a:lstStyle/>
          <a:p>
            <a:r>
              <a:rPr lang="en-US" sz="1467">
                <a:solidFill>
                  <a:srgbClr val="7A7A74"/>
                </a:solidFill>
                <a:latin typeface="Inter" panose="02000503000000020004" pitchFamily="2" charset="0"/>
                <a:ea typeface="Inter" panose="02000503000000020004" pitchFamily="2" charset="0"/>
                <a:cs typeface="Inter" panose="02000503000000020004" pitchFamily="2" charset="0"/>
              </a:rPr>
              <a:t>LOI Executed</a:t>
            </a:r>
            <a:endParaRPr lang="en-US" sz="1467">
              <a:latin typeface="Inter" panose="02000503000000020004" pitchFamily="2" charset="0"/>
              <a:ea typeface="Inter" panose="02000503000000020004" pitchFamily="2" charset="0"/>
              <a:cs typeface="Inter" panose="02000503000000020004" pitchFamily="2" charset="0"/>
            </a:endParaRPr>
          </a:p>
        </p:txBody>
      </p:sp>
      <p:sp>
        <p:nvSpPr>
          <p:cNvPr id="57" name="Text 55"/>
          <p:cNvSpPr/>
          <p:nvPr/>
        </p:nvSpPr>
        <p:spPr>
          <a:xfrm>
            <a:off x="341376" y="4815840"/>
            <a:ext cx="2804160" cy="268224"/>
          </a:xfrm>
          <a:prstGeom prst="rect">
            <a:avLst/>
          </a:prstGeom>
          <a:noFill/>
          <a:ln/>
        </p:spPr>
        <p:txBody>
          <a:bodyPr wrap="square" lIns="0" tIns="0" rIns="0" bIns="0" rtlCol="0" anchor="ctr"/>
          <a:lstStyle/>
          <a:p>
            <a:r>
              <a:rPr lang="en-US" sz="1067">
                <a:solidFill>
                  <a:srgbClr val="7A7A74"/>
                </a:solidFill>
                <a:latin typeface="Inter" panose="02000503000000020004" pitchFamily="2" charset="0"/>
                <a:ea typeface="Inter" panose="02000503000000020004" pitchFamily="2" charset="0"/>
                <a:cs typeface="Inter" panose="02000503000000020004" pitchFamily="2" charset="0"/>
              </a:rPr>
              <a:t>Exclusivity secured</a:t>
            </a:r>
            <a:endParaRPr lang="en-US" sz="1067">
              <a:latin typeface="Inter" panose="02000503000000020004" pitchFamily="2" charset="0"/>
              <a:ea typeface="Inter" panose="02000503000000020004" pitchFamily="2" charset="0"/>
              <a:cs typeface="Inter" panose="02000503000000020004" pitchFamily="2" charset="0"/>
            </a:endParaRPr>
          </a:p>
        </p:txBody>
      </p:sp>
      <p:sp>
        <p:nvSpPr>
          <p:cNvPr id="58" name="Shape 56"/>
          <p:cNvSpPr/>
          <p:nvPr/>
        </p:nvSpPr>
        <p:spPr>
          <a:xfrm>
            <a:off x="3230880" y="4645152"/>
            <a:ext cx="6096000" cy="316992"/>
          </a:xfrm>
          <a:prstGeom prst="rect">
            <a:avLst/>
          </a:prstGeom>
          <a:solidFill>
            <a:srgbClr val="EBEBE7"/>
          </a:solidFill>
          <a:ln w="12700">
            <a:solidFill>
              <a:srgbClr val="DDDDD9"/>
            </a:solidFill>
            <a:prstDash val="solid"/>
          </a:ln>
        </p:spPr>
        <p:txBody>
          <a:bodyPr/>
          <a:lstStyle/>
          <a:p>
            <a:endParaRPr lang="en-US" sz="2400"/>
          </a:p>
        </p:txBody>
      </p:sp>
      <p:sp>
        <p:nvSpPr>
          <p:cNvPr id="59" name="Text 57"/>
          <p:cNvSpPr/>
          <p:nvPr/>
        </p:nvSpPr>
        <p:spPr>
          <a:xfrm>
            <a:off x="9509760" y="4620768"/>
            <a:ext cx="914400" cy="365760"/>
          </a:xfrm>
          <a:prstGeom prst="rect">
            <a:avLst/>
          </a:prstGeom>
          <a:noFill/>
          <a:ln/>
        </p:spPr>
        <p:txBody>
          <a:bodyPr wrap="square" lIns="0" tIns="0" rIns="0" bIns="0" rtlCol="0" anchor="ctr"/>
          <a:lstStyle/>
          <a:p>
            <a:pPr algn="ctr"/>
            <a:r>
              <a:rPr lang="en-US" sz="2133">
                <a:solidFill>
                  <a:srgbClr val="C8C8C3"/>
                </a:solidFill>
              </a:rPr>
              <a:t>—</a:t>
            </a:r>
            <a:endParaRPr lang="en-US" sz="2133"/>
          </a:p>
        </p:txBody>
      </p:sp>
      <p:sp>
        <p:nvSpPr>
          <p:cNvPr id="60" name="Text 58"/>
          <p:cNvSpPr/>
          <p:nvPr/>
        </p:nvSpPr>
        <p:spPr>
          <a:xfrm>
            <a:off x="10424160" y="4645152"/>
            <a:ext cx="1036320" cy="316992"/>
          </a:xfrm>
          <a:prstGeom prst="rect">
            <a:avLst/>
          </a:prstGeom>
          <a:noFill/>
          <a:ln/>
        </p:spPr>
        <p:txBody>
          <a:bodyPr wrap="square" lIns="0" tIns="0" rIns="0" bIns="0" rtlCol="0" anchor="ctr"/>
          <a:lstStyle/>
          <a:p>
            <a:pPr algn="ctr"/>
            <a:r>
              <a:rPr lang="en-US" sz="1333">
                <a:solidFill>
                  <a:srgbClr val="C8C8C3"/>
                </a:solidFill>
              </a:rPr>
              <a:t>—</a:t>
            </a:r>
            <a:endParaRPr lang="en-US" sz="1333"/>
          </a:p>
        </p:txBody>
      </p:sp>
      <p:sp>
        <p:nvSpPr>
          <p:cNvPr id="61" name="Text 59"/>
          <p:cNvSpPr/>
          <p:nvPr/>
        </p:nvSpPr>
        <p:spPr>
          <a:xfrm>
            <a:off x="11460480" y="4645152"/>
            <a:ext cx="609600" cy="316992"/>
          </a:xfrm>
          <a:prstGeom prst="rect">
            <a:avLst/>
          </a:prstGeom>
          <a:noFill/>
          <a:ln/>
        </p:spPr>
        <p:txBody>
          <a:bodyPr wrap="square" lIns="0" tIns="0" rIns="0" bIns="0" rtlCol="0" anchor="ctr"/>
          <a:lstStyle/>
          <a:p>
            <a:pPr algn="ctr"/>
            <a:r>
              <a:rPr lang="en-US" sz="1333">
                <a:solidFill>
                  <a:srgbClr val="C8C8C3"/>
                </a:solidFill>
              </a:rPr>
              <a:t>—</a:t>
            </a:r>
            <a:endParaRPr lang="en-US" sz="1333"/>
          </a:p>
        </p:txBody>
      </p:sp>
      <p:sp>
        <p:nvSpPr>
          <p:cNvPr id="63" name="Shape 61"/>
          <p:cNvSpPr/>
          <p:nvPr/>
        </p:nvSpPr>
        <p:spPr>
          <a:xfrm>
            <a:off x="0" y="5254752"/>
            <a:ext cx="12192000" cy="829056"/>
          </a:xfrm>
          <a:prstGeom prst="rect">
            <a:avLst/>
          </a:prstGeom>
          <a:solidFill>
            <a:srgbClr val="FFFFFF"/>
          </a:solidFill>
          <a:ln w="12700">
            <a:solidFill>
              <a:srgbClr val="E4E4E0"/>
            </a:solidFill>
            <a:prstDash val="solid"/>
          </a:ln>
        </p:spPr>
        <p:txBody>
          <a:bodyPr/>
          <a:lstStyle/>
          <a:p>
            <a:endParaRPr lang="en-US" sz="2400"/>
          </a:p>
        </p:txBody>
      </p:sp>
      <p:sp>
        <p:nvSpPr>
          <p:cNvPr id="64" name="Text 62"/>
          <p:cNvSpPr/>
          <p:nvPr/>
        </p:nvSpPr>
        <p:spPr>
          <a:xfrm>
            <a:off x="341376" y="5352288"/>
            <a:ext cx="2804160" cy="341376"/>
          </a:xfrm>
          <a:prstGeom prst="rect">
            <a:avLst/>
          </a:prstGeom>
          <a:noFill/>
          <a:ln/>
        </p:spPr>
        <p:txBody>
          <a:bodyPr wrap="square" lIns="0" tIns="0" rIns="0" bIns="0" rtlCol="0" anchor="ctr"/>
          <a:lstStyle/>
          <a:p>
            <a:r>
              <a:rPr lang="en-US" sz="1467">
                <a:solidFill>
                  <a:srgbClr val="7A7A74"/>
                </a:solidFill>
                <a:latin typeface="Inter" panose="02000503000000020004" pitchFamily="2" charset="0"/>
                <a:ea typeface="Inter" panose="02000503000000020004" pitchFamily="2" charset="0"/>
                <a:cs typeface="Inter" panose="02000503000000020004" pitchFamily="2" charset="0"/>
              </a:rPr>
              <a:t>Deal Closed</a:t>
            </a:r>
            <a:endParaRPr lang="en-US" sz="1467">
              <a:latin typeface="Inter" panose="02000503000000020004" pitchFamily="2" charset="0"/>
              <a:ea typeface="Inter" panose="02000503000000020004" pitchFamily="2" charset="0"/>
              <a:cs typeface="Inter" panose="02000503000000020004" pitchFamily="2" charset="0"/>
            </a:endParaRPr>
          </a:p>
        </p:txBody>
      </p:sp>
      <p:sp>
        <p:nvSpPr>
          <p:cNvPr id="65" name="Text 63"/>
          <p:cNvSpPr/>
          <p:nvPr/>
        </p:nvSpPr>
        <p:spPr>
          <a:xfrm>
            <a:off x="341376" y="5693664"/>
            <a:ext cx="2804160" cy="268224"/>
          </a:xfrm>
          <a:prstGeom prst="rect">
            <a:avLst/>
          </a:prstGeom>
          <a:noFill/>
          <a:ln/>
        </p:spPr>
        <p:txBody>
          <a:bodyPr wrap="square" lIns="0" tIns="0" rIns="0" bIns="0" rtlCol="0" anchor="ctr"/>
          <a:lstStyle/>
          <a:p>
            <a:r>
              <a:rPr lang="en-US" sz="1067">
                <a:solidFill>
                  <a:srgbClr val="7A7A74"/>
                </a:solidFill>
                <a:latin typeface="Inter" panose="02000503000000020004" pitchFamily="2" charset="0"/>
                <a:ea typeface="Inter" panose="02000503000000020004" pitchFamily="2" charset="0"/>
                <a:cs typeface="Inter" panose="02000503000000020004" pitchFamily="2" charset="0"/>
              </a:rPr>
              <a:t>Platform investment</a:t>
            </a:r>
            <a:endParaRPr lang="en-US" sz="1067">
              <a:latin typeface="Inter" panose="02000503000000020004" pitchFamily="2" charset="0"/>
              <a:ea typeface="Inter" panose="02000503000000020004" pitchFamily="2" charset="0"/>
              <a:cs typeface="Inter" panose="02000503000000020004" pitchFamily="2" charset="0"/>
            </a:endParaRPr>
          </a:p>
        </p:txBody>
      </p:sp>
      <p:sp>
        <p:nvSpPr>
          <p:cNvPr id="66" name="Shape 64"/>
          <p:cNvSpPr/>
          <p:nvPr/>
        </p:nvSpPr>
        <p:spPr>
          <a:xfrm>
            <a:off x="3230880" y="5522976"/>
            <a:ext cx="6096000" cy="316992"/>
          </a:xfrm>
          <a:prstGeom prst="rect">
            <a:avLst/>
          </a:prstGeom>
          <a:solidFill>
            <a:srgbClr val="EBEBE7"/>
          </a:solidFill>
          <a:ln w="12700">
            <a:solidFill>
              <a:srgbClr val="DDDDD9"/>
            </a:solidFill>
            <a:prstDash val="solid"/>
          </a:ln>
        </p:spPr>
        <p:txBody>
          <a:bodyPr/>
          <a:lstStyle/>
          <a:p>
            <a:endParaRPr lang="en-US" sz="2400"/>
          </a:p>
        </p:txBody>
      </p:sp>
      <p:sp>
        <p:nvSpPr>
          <p:cNvPr id="67" name="Text 65"/>
          <p:cNvSpPr/>
          <p:nvPr/>
        </p:nvSpPr>
        <p:spPr>
          <a:xfrm>
            <a:off x="9509760" y="5498592"/>
            <a:ext cx="914400" cy="365760"/>
          </a:xfrm>
          <a:prstGeom prst="rect">
            <a:avLst/>
          </a:prstGeom>
          <a:noFill/>
          <a:ln/>
        </p:spPr>
        <p:txBody>
          <a:bodyPr wrap="square" lIns="0" tIns="0" rIns="0" bIns="0" rtlCol="0" anchor="ctr"/>
          <a:lstStyle/>
          <a:p>
            <a:pPr algn="ctr"/>
            <a:r>
              <a:rPr lang="en-US" sz="2133">
                <a:solidFill>
                  <a:srgbClr val="C8C8C3"/>
                </a:solidFill>
              </a:rPr>
              <a:t>—</a:t>
            </a:r>
            <a:endParaRPr lang="en-US" sz="2133"/>
          </a:p>
        </p:txBody>
      </p:sp>
      <p:sp>
        <p:nvSpPr>
          <p:cNvPr id="68" name="Text 66"/>
          <p:cNvSpPr/>
          <p:nvPr/>
        </p:nvSpPr>
        <p:spPr>
          <a:xfrm>
            <a:off x="10424160" y="5522976"/>
            <a:ext cx="1036320" cy="316992"/>
          </a:xfrm>
          <a:prstGeom prst="rect">
            <a:avLst/>
          </a:prstGeom>
          <a:noFill/>
          <a:ln/>
        </p:spPr>
        <p:txBody>
          <a:bodyPr wrap="square" lIns="0" tIns="0" rIns="0" bIns="0" rtlCol="0" anchor="ctr"/>
          <a:lstStyle/>
          <a:p>
            <a:pPr algn="ctr"/>
            <a:r>
              <a:rPr lang="en-US" sz="1333">
                <a:solidFill>
                  <a:srgbClr val="C8C8C3"/>
                </a:solidFill>
              </a:rPr>
              <a:t>—</a:t>
            </a:r>
            <a:endParaRPr lang="en-US" sz="1333"/>
          </a:p>
        </p:txBody>
      </p:sp>
      <p:sp>
        <p:nvSpPr>
          <p:cNvPr id="69" name="Text 67"/>
          <p:cNvSpPr/>
          <p:nvPr/>
        </p:nvSpPr>
        <p:spPr>
          <a:xfrm>
            <a:off x="11460480" y="5522976"/>
            <a:ext cx="609600" cy="316992"/>
          </a:xfrm>
          <a:prstGeom prst="rect">
            <a:avLst/>
          </a:prstGeom>
          <a:noFill/>
          <a:ln/>
        </p:spPr>
        <p:txBody>
          <a:bodyPr wrap="square" lIns="0" tIns="0" rIns="0" bIns="0" rtlCol="0" anchor="ctr"/>
          <a:lstStyle/>
          <a:p>
            <a:pPr algn="ctr"/>
            <a:r>
              <a:rPr lang="en-US" sz="1333">
                <a:solidFill>
                  <a:srgbClr val="C8C8C3"/>
                </a:solidFill>
              </a:rPr>
              <a:t>—</a:t>
            </a:r>
            <a:endParaRPr lang="en-US" sz="1333"/>
          </a:p>
        </p:txBody>
      </p:sp>
      <p:sp>
        <p:nvSpPr>
          <p:cNvPr id="70" name="Shape 68"/>
          <p:cNvSpPr/>
          <p:nvPr/>
        </p:nvSpPr>
        <p:spPr>
          <a:xfrm>
            <a:off x="0" y="6096000"/>
            <a:ext cx="12192000" cy="762000"/>
          </a:xfrm>
          <a:prstGeom prst="rect">
            <a:avLst/>
          </a:prstGeom>
          <a:solidFill>
            <a:schemeClr val="tx1"/>
          </a:solidFill>
          <a:ln w="12700">
            <a:solidFill>
              <a:srgbClr val="132240"/>
            </a:solidFill>
            <a:prstDash val="solid"/>
          </a:ln>
        </p:spPr>
        <p:txBody>
          <a:bodyPr/>
          <a:lstStyle/>
          <a:p>
            <a:endParaRPr lang="en-US" sz="2400"/>
          </a:p>
        </p:txBody>
      </p:sp>
      <p:sp>
        <p:nvSpPr>
          <p:cNvPr id="71" name="Text 69"/>
          <p:cNvSpPr/>
          <p:nvPr/>
        </p:nvSpPr>
        <p:spPr>
          <a:xfrm>
            <a:off x="365760" y="6302890"/>
            <a:ext cx="2185178" cy="48768"/>
          </a:xfrm>
          <a:prstGeom prst="rect">
            <a:avLst/>
          </a:prstGeom>
          <a:noFill/>
          <a:ln/>
        </p:spPr>
        <p:txBody>
          <a:bodyPr wrap="square" lIns="0" tIns="0" rIns="0" bIns="0" rtlCol="0" anchor="ctr"/>
          <a:lstStyle/>
          <a:p>
            <a:r>
              <a:rPr lang="en-US" sz="1400" b="1">
                <a:solidFill>
                  <a:schemeClr val="bg1"/>
                </a:solidFill>
                <a:latin typeface="Inter" panose="02000503000000020004" pitchFamily="2" charset="0"/>
                <a:ea typeface="Inter" panose="02000503000000020004" pitchFamily="2" charset="0"/>
                <a:cs typeface="Inter" panose="02000503000000020004" pitchFamily="2" charset="0"/>
              </a:rPr>
              <a:t>Annualized screen rate:  </a:t>
            </a:r>
          </a:p>
        </p:txBody>
      </p:sp>
      <p:sp>
        <p:nvSpPr>
          <p:cNvPr id="72" name="Text 70"/>
          <p:cNvSpPr/>
          <p:nvPr/>
        </p:nvSpPr>
        <p:spPr>
          <a:xfrm>
            <a:off x="365760" y="6427402"/>
            <a:ext cx="3747008" cy="195072"/>
          </a:xfrm>
          <a:prstGeom prst="rect">
            <a:avLst/>
          </a:prstGeom>
          <a:noFill/>
          <a:ln/>
        </p:spPr>
        <p:txBody>
          <a:bodyPr wrap="square" lIns="0" tIns="0" rIns="0" bIns="0" rtlCol="0" anchor="ctr"/>
          <a:lstStyle/>
          <a:p>
            <a:r>
              <a:rPr lang="en-US" sz="1400" b="1">
                <a:solidFill>
                  <a:schemeClr val="bg1"/>
                </a:solidFill>
                <a:latin typeface="Inter" panose="02000503000000020004" pitchFamily="2" charset="0"/>
                <a:ea typeface="Inter" panose="02000503000000020004" pitchFamily="2" charset="0"/>
                <a:cs typeface="Inter" panose="02000503000000020004" pitchFamily="2" charset="0"/>
              </a:rPr>
              <a:t>~223 deals / yr</a:t>
            </a:r>
          </a:p>
        </p:txBody>
      </p:sp>
      <p:sp>
        <p:nvSpPr>
          <p:cNvPr id="73" name="Shape 71"/>
          <p:cNvSpPr/>
          <p:nvPr/>
        </p:nvSpPr>
        <p:spPr>
          <a:xfrm>
            <a:off x="4210304" y="6242304"/>
            <a:ext cx="12192" cy="304800"/>
          </a:xfrm>
          <a:prstGeom prst="rect">
            <a:avLst/>
          </a:prstGeom>
          <a:solidFill>
            <a:srgbClr val="2D4A6A"/>
          </a:solidFill>
          <a:ln w="12700">
            <a:solidFill>
              <a:srgbClr val="2D4A6A"/>
            </a:solidFill>
            <a:prstDash val="solid"/>
          </a:ln>
        </p:spPr>
        <p:txBody>
          <a:bodyPr/>
          <a:lstStyle/>
          <a:p>
            <a:endParaRPr lang="en-US" sz="2400"/>
          </a:p>
        </p:txBody>
      </p:sp>
      <p:sp>
        <p:nvSpPr>
          <p:cNvPr id="74" name="Text 72"/>
          <p:cNvSpPr/>
          <p:nvPr/>
        </p:nvSpPr>
        <p:spPr>
          <a:xfrm>
            <a:off x="4320032" y="6150490"/>
            <a:ext cx="2812288" cy="304800"/>
          </a:xfrm>
          <a:prstGeom prst="rect">
            <a:avLst/>
          </a:prstGeom>
          <a:noFill/>
          <a:ln/>
        </p:spPr>
        <p:txBody>
          <a:bodyPr wrap="square" lIns="0" tIns="0" rIns="0" bIns="0" rtlCol="0" anchor="ctr"/>
          <a:lstStyle/>
          <a:p>
            <a:r>
              <a:rPr lang="en-US" sz="1400" b="1">
                <a:solidFill>
                  <a:schemeClr val="bg1"/>
                </a:solidFill>
                <a:latin typeface="Inter" panose="02000503000000020004" pitchFamily="2" charset="0"/>
                <a:ea typeface="Inter" panose="02000503000000020004" pitchFamily="2" charset="0"/>
                <a:cs typeface="Inter" panose="02000503000000020004" pitchFamily="2" charset="0"/>
              </a:rPr>
              <a:t>Projected year 1 closes at pace:  </a:t>
            </a:r>
          </a:p>
        </p:txBody>
      </p:sp>
      <p:sp>
        <p:nvSpPr>
          <p:cNvPr id="75" name="Text 73"/>
          <p:cNvSpPr/>
          <p:nvPr/>
        </p:nvSpPr>
        <p:spPr>
          <a:xfrm>
            <a:off x="4356608" y="6412992"/>
            <a:ext cx="3747008" cy="195072"/>
          </a:xfrm>
          <a:prstGeom prst="rect">
            <a:avLst/>
          </a:prstGeom>
          <a:noFill/>
          <a:ln/>
        </p:spPr>
        <p:txBody>
          <a:bodyPr wrap="square" lIns="0" tIns="0" rIns="0" bIns="0" rtlCol="0" anchor="ctr"/>
          <a:lstStyle/>
          <a:p>
            <a:r>
              <a:rPr lang="en-US" sz="1400" b="1">
                <a:solidFill>
                  <a:schemeClr val="bg1"/>
                </a:solidFill>
                <a:latin typeface="Inter" panose="02000503000000020004" pitchFamily="2" charset="0"/>
                <a:ea typeface="Inter" panose="02000503000000020004" pitchFamily="2" charset="0"/>
                <a:cs typeface="Inter" panose="02000503000000020004" pitchFamily="2" charset="0"/>
              </a:rPr>
              <a:t>~ 1–2 closes / yr</a:t>
            </a:r>
          </a:p>
        </p:txBody>
      </p:sp>
      <p:sp>
        <p:nvSpPr>
          <p:cNvPr id="76" name="Shape 74"/>
          <p:cNvSpPr/>
          <p:nvPr/>
        </p:nvSpPr>
        <p:spPr>
          <a:xfrm>
            <a:off x="8201152" y="6242304"/>
            <a:ext cx="12192" cy="304800"/>
          </a:xfrm>
          <a:prstGeom prst="rect">
            <a:avLst/>
          </a:prstGeom>
          <a:solidFill>
            <a:srgbClr val="2D4A6A"/>
          </a:solidFill>
          <a:ln w="12700">
            <a:solidFill>
              <a:srgbClr val="2D4A6A"/>
            </a:solidFill>
            <a:prstDash val="solid"/>
          </a:ln>
        </p:spPr>
        <p:txBody>
          <a:bodyPr/>
          <a:lstStyle/>
          <a:p>
            <a:endParaRPr lang="en-US" sz="2400"/>
          </a:p>
        </p:txBody>
      </p:sp>
      <p:sp>
        <p:nvSpPr>
          <p:cNvPr id="77" name="Text 75"/>
          <p:cNvSpPr/>
          <p:nvPr/>
        </p:nvSpPr>
        <p:spPr>
          <a:xfrm>
            <a:off x="8347456" y="6230112"/>
            <a:ext cx="1706880" cy="195072"/>
          </a:xfrm>
          <a:prstGeom prst="rect">
            <a:avLst/>
          </a:prstGeom>
          <a:noFill/>
          <a:ln/>
        </p:spPr>
        <p:txBody>
          <a:bodyPr wrap="square" lIns="0" tIns="0" rIns="0" bIns="0" rtlCol="0" anchor="ctr"/>
          <a:lstStyle/>
          <a:p>
            <a:r>
              <a:rPr lang="en-US" sz="1400" b="1">
                <a:solidFill>
                  <a:schemeClr val="bg1"/>
                </a:solidFill>
                <a:latin typeface="Inter" panose="02000503000000020004" pitchFamily="2" charset="0"/>
                <a:ea typeface="Inter" panose="02000503000000020004" pitchFamily="2" charset="0"/>
                <a:cs typeface="Inter" panose="02000503000000020004" pitchFamily="2" charset="0"/>
              </a:rPr>
              <a:t>Fund I target:  </a:t>
            </a:r>
          </a:p>
        </p:txBody>
      </p:sp>
      <p:sp>
        <p:nvSpPr>
          <p:cNvPr id="78" name="Text 76"/>
          <p:cNvSpPr/>
          <p:nvPr/>
        </p:nvSpPr>
        <p:spPr>
          <a:xfrm>
            <a:off x="8347456" y="6412992"/>
            <a:ext cx="3747008" cy="195072"/>
          </a:xfrm>
          <a:prstGeom prst="rect">
            <a:avLst/>
          </a:prstGeom>
          <a:noFill/>
          <a:ln/>
        </p:spPr>
        <p:txBody>
          <a:bodyPr wrap="square" lIns="0" tIns="0" rIns="0" bIns="0" rtlCol="0" anchor="ctr"/>
          <a:lstStyle/>
          <a:p>
            <a:r>
              <a:rPr lang="en-US" sz="1400" b="1">
                <a:solidFill>
                  <a:schemeClr val="bg1"/>
                </a:solidFill>
                <a:latin typeface="Inter" panose="02000503000000020004" pitchFamily="2" charset="0"/>
                <a:ea typeface="Inter" panose="02000503000000020004" pitchFamily="2" charset="0"/>
                <a:cs typeface="Inter" panose="02000503000000020004" pitchFamily="2" charset="0"/>
              </a:rPr>
              <a:t>6–8 platforms over 60 months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82E0D-C04C-57FF-7722-AAD663206BE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3FE916A-FB13-4235-C811-9222A0E4C286}"/>
              </a:ext>
            </a:extLst>
          </p:cNvPr>
          <p:cNvSpPr/>
          <p:nvPr/>
        </p:nvSpPr>
        <p:spPr>
          <a:xfrm>
            <a:off x="-7002" y="0"/>
            <a:ext cx="3426790" cy="607086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3B5B0F-33DE-340F-DB20-5E87037E140F}"/>
              </a:ext>
            </a:extLst>
          </p:cNvPr>
          <p:cNvSpPr>
            <a:spLocks noGrp="1"/>
          </p:cNvSpPr>
          <p:nvPr>
            <p:ph type="title"/>
          </p:nvPr>
        </p:nvSpPr>
        <p:spPr>
          <a:xfrm>
            <a:off x="605220" y="1791093"/>
            <a:ext cx="2684632" cy="1941381"/>
          </a:xfrm>
        </p:spPr>
        <p:txBody>
          <a:bodyPr/>
          <a:lstStyle/>
          <a:p>
            <a:r>
              <a:rPr lang="en-US">
                <a:latin typeface="Inter" panose="02000503000000020004" pitchFamily="2" charset="0"/>
                <a:ea typeface="Inter" panose="02000503000000020004" pitchFamily="2" charset="0"/>
                <a:cs typeface="Inter" panose="02000503000000020004" pitchFamily="2" charset="0"/>
              </a:rPr>
              <a:t>Underwriting Discipline</a:t>
            </a:r>
          </a:p>
        </p:txBody>
      </p:sp>
      <p:sp>
        <p:nvSpPr>
          <p:cNvPr id="6" name="TextBox 5">
            <a:extLst>
              <a:ext uri="{FF2B5EF4-FFF2-40B4-BE49-F238E27FC236}">
                <a16:creationId xmlns:a16="http://schemas.microsoft.com/office/drawing/2014/main" id="{297FCFDD-AB08-96E5-4E26-1EEE9D2CBEF3}"/>
              </a:ext>
            </a:extLst>
          </p:cNvPr>
          <p:cNvSpPr txBox="1"/>
          <p:nvPr/>
        </p:nvSpPr>
        <p:spPr>
          <a:xfrm>
            <a:off x="3643994" y="423612"/>
            <a:ext cx="8349609" cy="461665"/>
          </a:xfrm>
          <a:prstGeom prst="rect">
            <a:avLst/>
          </a:prstGeom>
          <a:noFill/>
        </p:spPr>
        <p:txBody>
          <a:bodyPr wrap="square">
            <a:spAutoFit/>
          </a:bodyPr>
          <a:lstStyle/>
          <a:p>
            <a:pPr marL="0" indent="0" algn="ctr">
              <a:buNone/>
            </a:pPr>
            <a:r>
              <a:rPr lang="en-US" sz="2400">
                <a:solidFill>
                  <a:srgbClr val="1A4731"/>
                </a:solidFill>
                <a:latin typeface="Inter" panose="02000503000000020004" pitchFamily="2" charset="0"/>
                <a:ea typeface="Inter" panose="02000503000000020004" pitchFamily="2" charset="0"/>
                <a:cs typeface="Inter" panose="02000503000000020004" pitchFamily="2" charset="0"/>
              </a:rPr>
              <a:t>How We Underwrite Risk &amp; Earnings Power</a:t>
            </a:r>
            <a:endParaRPr lang="en-US" sz="2400">
              <a:latin typeface="Inter" panose="02000503000000020004" pitchFamily="2" charset="0"/>
              <a:ea typeface="Inter" panose="02000503000000020004" pitchFamily="2" charset="0"/>
              <a:cs typeface="Inter" panose="02000503000000020004" pitchFamily="2" charset="0"/>
            </a:endParaRPr>
          </a:p>
        </p:txBody>
      </p:sp>
      <p:sp>
        <p:nvSpPr>
          <p:cNvPr id="4" name="Shape 3">
            <a:extLst>
              <a:ext uri="{FF2B5EF4-FFF2-40B4-BE49-F238E27FC236}">
                <a16:creationId xmlns:a16="http://schemas.microsoft.com/office/drawing/2014/main" id="{A0656370-83B4-4CDA-7C3C-27341BA44E1A}"/>
              </a:ext>
            </a:extLst>
          </p:cNvPr>
          <p:cNvSpPr/>
          <p:nvPr/>
        </p:nvSpPr>
        <p:spPr>
          <a:xfrm>
            <a:off x="4608361" y="1632363"/>
            <a:ext cx="2821289" cy="523954"/>
          </a:xfrm>
          <a:prstGeom prst="roundRect">
            <a:avLst>
              <a:gd name="adj" fmla="val 15385"/>
            </a:avLst>
          </a:prstGeom>
          <a:solidFill>
            <a:schemeClr val="tx1"/>
          </a:solidFill>
          <a:ln/>
        </p:spPr>
        <p:txBody>
          <a:bodyPr/>
          <a:lstStyle/>
          <a:p>
            <a:pPr defTabSz="1219170"/>
            <a:endParaRPr lang="en-US" sz="2400">
              <a:solidFill>
                <a:prstClr val="black"/>
              </a:solidFill>
              <a:latin typeface="Calibri" panose="020F0502020204030204"/>
            </a:endParaRPr>
          </a:p>
        </p:txBody>
      </p:sp>
      <p:sp>
        <p:nvSpPr>
          <p:cNvPr id="7" name="Text 4">
            <a:extLst>
              <a:ext uri="{FF2B5EF4-FFF2-40B4-BE49-F238E27FC236}">
                <a16:creationId xmlns:a16="http://schemas.microsoft.com/office/drawing/2014/main" id="{CBB9C5E6-E406-2A8A-2FDA-A3D34DB1AF95}"/>
              </a:ext>
            </a:extLst>
          </p:cNvPr>
          <p:cNvSpPr/>
          <p:nvPr/>
        </p:nvSpPr>
        <p:spPr>
          <a:xfrm>
            <a:off x="4608361" y="1628194"/>
            <a:ext cx="2821289" cy="523954"/>
          </a:xfrm>
          <a:prstGeom prst="rect">
            <a:avLst/>
          </a:prstGeom>
          <a:noFill/>
          <a:ln/>
        </p:spPr>
        <p:txBody>
          <a:bodyPr wrap="square" lIns="0" tIns="0" rIns="0" bIns="0" rtlCol="0" anchor="ctr"/>
          <a:lstStyle/>
          <a:p>
            <a:pPr algn="ctr" defTabSz="1219170"/>
            <a:r>
              <a:rPr lang="en-US" sz="1600">
                <a:solidFill>
                  <a:srgbClr val="FFFFFF"/>
                </a:solidFill>
                <a:latin typeface="Inter" panose="02000503000000020004" pitchFamily="2" charset="0"/>
                <a:ea typeface="Inter" panose="02000503000000020004" pitchFamily="2" charset="0"/>
                <a:cs typeface="Inter" panose="02000503000000020004" pitchFamily="2" charset="0"/>
              </a:rPr>
              <a:t>Reported EBITDA</a:t>
            </a:r>
            <a:endParaRPr lang="en-US" sz="1600">
              <a:solidFill>
                <a:prstClr val="black"/>
              </a:solidFill>
              <a:latin typeface="Inter" panose="02000503000000020004" pitchFamily="2" charset="0"/>
              <a:ea typeface="Inter" panose="02000503000000020004" pitchFamily="2" charset="0"/>
              <a:cs typeface="Inter" panose="02000503000000020004" pitchFamily="2" charset="0"/>
            </a:endParaRPr>
          </a:p>
        </p:txBody>
      </p:sp>
      <p:sp>
        <p:nvSpPr>
          <p:cNvPr id="8" name="Shape 5">
            <a:extLst>
              <a:ext uri="{FF2B5EF4-FFF2-40B4-BE49-F238E27FC236}">
                <a16:creationId xmlns:a16="http://schemas.microsoft.com/office/drawing/2014/main" id="{AAE40F05-724C-B1CF-34D8-F4ABD9262008}"/>
              </a:ext>
            </a:extLst>
          </p:cNvPr>
          <p:cNvSpPr/>
          <p:nvPr/>
        </p:nvSpPr>
        <p:spPr>
          <a:xfrm>
            <a:off x="6019005" y="2275240"/>
            <a:ext cx="0" cy="151141"/>
          </a:xfrm>
          <a:prstGeom prst="line">
            <a:avLst/>
          </a:prstGeom>
          <a:noFill/>
          <a:ln w="19050">
            <a:solidFill>
              <a:srgbClr val="40916C"/>
            </a:solidFill>
            <a:prstDash val="solid"/>
          </a:ln>
        </p:spPr>
        <p:txBody>
          <a:bodyPr/>
          <a:lstStyle/>
          <a:p>
            <a:pPr defTabSz="1219170"/>
            <a:endParaRPr lang="en-US" sz="2400">
              <a:solidFill>
                <a:prstClr val="black"/>
              </a:solidFill>
              <a:latin typeface="Calibri" panose="020F0502020204030204"/>
            </a:endParaRPr>
          </a:p>
        </p:txBody>
      </p:sp>
      <p:sp>
        <p:nvSpPr>
          <p:cNvPr id="10" name="Shape 6">
            <a:extLst>
              <a:ext uri="{FF2B5EF4-FFF2-40B4-BE49-F238E27FC236}">
                <a16:creationId xmlns:a16="http://schemas.microsoft.com/office/drawing/2014/main" id="{CB00855E-63BE-E429-F8E1-AEEFF02414A6}"/>
              </a:ext>
            </a:extLst>
          </p:cNvPr>
          <p:cNvSpPr/>
          <p:nvPr/>
        </p:nvSpPr>
        <p:spPr>
          <a:xfrm>
            <a:off x="4608361" y="2547960"/>
            <a:ext cx="2821289" cy="523954"/>
          </a:xfrm>
          <a:prstGeom prst="roundRect">
            <a:avLst>
              <a:gd name="adj" fmla="val 15385"/>
            </a:avLst>
          </a:prstGeom>
          <a:solidFill>
            <a:schemeClr val="tx1"/>
          </a:solidFill>
          <a:ln/>
        </p:spPr>
        <p:txBody>
          <a:bodyPr/>
          <a:lstStyle/>
          <a:p>
            <a:pPr defTabSz="1219170"/>
            <a:endParaRPr lang="en-US" sz="2400">
              <a:solidFill>
                <a:prstClr val="black"/>
              </a:solidFill>
              <a:latin typeface="Calibri" panose="020F0502020204030204"/>
            </a:endParaRPr>
          </a:p>
        </p:txBody>
      </p:sp>
      <p:sp>
        <p:nvSpPr>
          <p:cNvPr id="11" name="Text 7">
            <a:extLst>
              <a:ext uri="{FF2B5EF4-FFF2-40B4-BE49-F238E27FC236}">
                <a16:creationId xmlns:a16="http://schemas.microsoft.com/office/drawing/2014/main" id="{CBFA4B7C-0E78-E769-C5AD-AEEB036AC160}"/>
              </a:ext>
            </a:extLst>
          </p:cNvPr>
          <p:cNvSpPr/>
          <p:nvPr/>
        </p:nvSpPr>
        <p:spPr>
          <a:xfrm>
            <a:off x="4608361" y="2589373"/>
            <a:ext cx="2821289" cy="221673"/>
          </a:xfrm>
          <a:prstGeom prst="rect">
            <a:avLst/>
          </a:prstGeom>
          <a:noFill/>
          <a:ln/>
        </p:spPr>
        <p:txBody>
          <a:bodyPr wrap="square" lIns="0" tIns="0" rIns="0" bIns="0" rtlCol="0" anchor="ctr"/>
          <a:lstStyle/>
          <a:p>
            <a:pPr algn="ctr" defTabSz="1219170"/>
            <a:r>
              <a:rPr lang="en-US" sz="1600">
                <a:solidFill>
                  <a:srgbClr val="FFFFFF"/>
                </a:solidFill>
                <a:latin typeface="Inter" panose="02000503000000020004" pitchFamily="2" charset="0"/>
                <a:ea typeface="Inter" panose="02000503000000020004" pitchFamily="2" charset="0"/>
                <a:cs typeface="Inter" panose="02000503000000020004" pitchFamily="2" charset="0"/>
              </a:rPr>
              <a:t>Earnings validation</a:t>
            </a:r>
            <a:endParaRPr lang="en-US" sz="1600">
              <a:solidFill>
                <a:prstClr val="black"/>
              </a:solidFill>
              <a:latin typeface="Inter" panose="02000503000000020004" pitchFamily="2" charset="0"/>
              <a:ea typeface="Inter" panose="02000503000000020004" pitchFamily="2" charset="0"/>
              <a:cs typeface="Inter" panose="02000503000000020004" pitchFamily="2" charset="0"/>
            </a:endParaRPr>
          </a:p>
        </p:txBody>
      </p:sp>
      <p:sp>
        <p:nvSpPr>
          <p:cNvPr id="12" name="Text 8">
            <a:extLst>
              <a:ext uri="{FF2B5EF4-FFF2-40B4-BE49-F238E27FC236}">
                <a16:creationId xmlns:a16="http://schemas.microsoft.com/office/drawing/2014/main" id="{653F9E4D-8E15-6EEE-D3EB-A3BE936502ED}"/>
              </a:ext>
            </a:extLst>
          </p:cNvPr>
          <p:cNvSpPr/>
          <p:nvPr/>
        </p:nvSpPr>
        <p:spPr>
          <a:xfrm>
            <a:off x="4608361" y="2853365"/>
            <a:ext cx="2821289" cy="181368"/>
          </a:xfrm>
          <a:prstGeom prst="rect">
            <a:avLst/>
          </a:prstGeom>
          <a:noFill/>
          <a:ln/>
        </p:spPr>
        <p:txBody>
          <a:bodyPr wrap="square" lIns="0" tIns="0" rIns="0" bIns="0" rtlCol="0" anchor="ctr"/>
          <a:lstStyle/>
          <a:p>
            <a:pPr algn="ctr" defTabSz="1219170"/>
            <a:r>
              <a:rPr lang="en-US" sz="1200">
                <a:solidFill>
                  <a:srgbClr val="C8D6C0"/>
                </a:solidFill>
                <a:latin typeface="Inter" panose="02000503000000020004" pitchFamily="2" charset="0"/>
                <a:ea typeface="Inter" panose="02000503000000020004" pitchFamily="2" charset="0"/>
                <a:cs typeface="Inter" panose="02000503000000020004" pitchFamily="2" charset="0"/>
              </a:rPr>
              <a:t>QofE, normalization, adjustments</a:t>
            </a:r>
            <a:endParaRPr lang="en-US" sz="1200">
              <a:solidFill>
                <a:prstClr val="black"/>
              </a:solidFill>
              <a:latin typeface="Inter" panose="02000503000000020004" pitchFamily="2" charset="0"/>
              <a:ea typeface="Inter" panose="02000503000000020004" pitchFamily="2" charset="0"/>
              <a:cs typeface="Inter" panose="02000503000000020004" pitchFamily="2" charset="0"/>
            </a:endParaRPr>
          </a:p>
        </p:txBody>
      </p:sp>
      <p:sp>
        <p:nvSpPr>
          <p:cNvPr id="13" name="Shape 9">
            <a:extLst>
              <a:ext uri="{FF2B5EF4-FFF2-40B4-BE49-F238E27FC236}">
                <a16:creationId xmlns:a16="http://schemas.microsoft.com/office/drawing/2014/main" id="{79BB06DF-8E42-B0E2-E1CC-3A6FD6613453}"/>
              </a:ext>
            </a:extLst>
          </p:cNvPr>
          <p:cNvSpPr/>
          <p:nvPr/>
        </p:nvSpPr>
        <p:spPr>
          <a:xfrm>
            <a:off x="6019005" y="3191246"/>
            <a:ext cx="0" cy="151141"/>
          </a:xfrm>
          <a:prstGeom prst="line">
            <a:avLst/>
          </a:prstGeom>
          <a:noFill/>
          <a:ln w="19050">
            <a:solidFill>
              <a:srgbClr val="40916C"/>
            </a:solidFill>
            <a:prstDash val="solid"/>
          </a:ln>
        </p:spPr>
        <p:txBody>
          <a:bodyPr/>
          <a:lstStyle/>
          <a:p>
            <a:pPr defTabSz="1219170"/>
            <a:endParaRPr lang="en-US" sz="2400">
              <a:solidFill>
                <a:prstClr val="black"/>
              </a:solidFill>
              <a:latin typeface="Calibri" panose="020F0502020204030204"/>
            </a:endParaRPr>
          </a:p>
        </p:txBody>
      </p:sp>
      <p:sp>
        <p:nvSpPr>
          <p:cNvPr id="14" name="Shape 10">
            <a:extLst>
              <a:ext uri="{FF2B5EF4-FFF2-40B4-BE49-F238E27FC236}">
                <a16:creationId xmlns:a16="http://schemas.microsoft.com/office/drawing/2014/main" id="{679EAFC3-EAA8-7C98-590D-8125F9E751C1}"/>
              </a:ext>
            </a:extLst>
          </p:cNvPr>
          <p:cNvSpPr/>
          <p:nvPr/>
        </p:nvSpPr>
        <p:spPr>
          <a:xfrm>
            <a:off x="4547904" y="3471786"/>
            <a:ext cx="2942202" cy="604562"/>
          </a:xfrm>
          <a:prstGeom prst="roundRect">
            <a:avLst>
              <a:gd name="adj" fmla="val 16667"/>
            </a:avLst>
          </a:prstGeom>
          <a:solidFill>
            <a:schemeClr val="bg2">
              <a:lumMod val="10000"/>
            </a:schemeClr>
          </a:solidFill>
          <a:ln w="19050">
            <a:solidFill>
              <a:schemeClr val="tx2">
                <a:lumMod val="50000"/>
              </a:schemeClr>
            </a:solidFill>
            <a:prstDash val="solid"/>
          </a:ln>
        </p:spPr>
        <p:txBody>
          <a:bodyPr/>
          <a:lstStyle/>
          <a:p>
            <a:pPr defTabSz="1219170"/>
            <a:endParaRPr lang="en-US" sz="2400">
              <a:solidFill>
                <a:schemeClr val="bg2">
                  <a:lumMod val="10000"/>
                </a:schemeClr>
              </a:solidFill>
              <a:latin typeface="Calibri" panose="020F0502020204030204"/>
            </a:endParaRPr>
          </a:p>
        </p:txBody>
      </p:sp>
      <p:sp>
        <p:nvSpPr>
          <p:cNvPr id="15" name="Shape 11">
            <a:extLst>
              <a:ext uri="{FF2B5EF4-FFF2-40B4-BE49-F238E27FC236}">
                <a16:creationId xmlns:a16="http://schemas.microsoft.com/office/drawing/2014/main" id="{C84106CE-BA5D-8FE8-F777-47FB85780053}"/>
              </a:ext>
            </a:extLst>
          </p:cNvPr>
          <p:cNvSpPr/>
          <p:nvPr/>
        </p:nvSpPr>
        <p:spPr>
          <a:xfrm>
            <a:off x="4608361" y="3512090"/>
            <a:ext cx="2821289" cy="523954"/>
          </a:xfrm>
          <a:prstGeom prst="roundRect">
            <a:avLst>
              <a:gd name="adj" fmla="val 15385"/>
            </a:avLst>
          </a:prstGeom>
          <a:solidFill>
            <a:schemeClr val="accent1">
              <a:lumMod val="20000"/>
              <a:lumOff val="80000"/>
            </a:schemeClr>
          </a:solidFill>
          <a:ln/>
        </p:spPr>
        <p:txBody>
          <a:bodyPr/>
          <a:lstStyle/>
          <a:p>
            <a:pPr defTabSz="1219170"/>
            <a:endParaRPr lang="en-US" sz="2400">
              <a:latin typeface="Calibri" panose="020F0502020204030204"/>
            </a:endParaRPr>
          </a:p>
        </p:txBody>
      </p:sp>
      <p:sp>
        <p:nvSpPr>
          <p:cNvPr id="16" name="Text 12">
            <a:extLst>
              <a:ext uri="{FF2B5EF4-FFF2-40B4-BE49-F238E27FC236}">
                <a16:creationId xmlns:a16="http://schemas.microsoft.com/office/drawing/2014/main" id="{C3E87D8A-D186-8D69-CE75-147ECF01CFF1}"/>
              </a:ext>
            </a:extLst>
          </p:cNvPr>
          <p:cNvSpPr/>
          <p:nvPr/>
        </p:nvSpPr>
        <p:spPr>
          <a:xfrm>
            <a:off x="4608361" y="3553503"/>
            <a:ext cx="2821289" cy="221673"/>
          </a:xfrm>
          <a:prstGeom prst="rect">
            <a:avLst/>
          </a:prstGeom>
          <a:noFill/>
          <a:ln/>
        </p:spPr>
        <p:txBody>
          <a:bodyPr wrap="square" lIns="0" tIns="0" rIns="0" bIns="0" rtlCol="0" anchor="ctr"/>
          <a:lstStyle/>
          <a:p>
            <a:pPr algn="ctr" defTabSz="1219170"/>
            <a:r>
              <a:rPr lang="en-US" sz="1600" b="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Full-Potential EBITDA</a:t>
            </a:r>
            <a:endParaRPr lang="en-US" sz="1600">
              <a:solidFill>
                <a:schemeClr val="bg2">
                  <a:lumMod val="10000"/>
                </a:schemeClr>
              </a:solidFill>
              <a:latin typeface="Inter" panose="02000503000000020004" pitchFamily="2" charset="0"/>
              <a:ea typeface="Inter" panose="02000503000000020004" pitchFamily="2" charset="0"/>
              <a:cs typeface="Inter" panose="02000503000000020004" pitchFamily="2" charset="0"/>
            </a:endParaRPr>
          </a:p>
        </p:txBody>
      </p:sp>
      <p:sp>
        <p:nvSpPr>
          <p:cNvPr id="17" name="Text 13">
            <a:extLst>
              <a:ext uri="{FF2B5EF4-FFF2-40B4-BE49-F238E27FC236}">
                <a16:creationId xmlns:a16="http://schemas.microsoft.com/office/drawing/2014/main" id="{EAACF34F-23C4-AEBC-FF2E-F38DA2712FC2}"/>
              </a:ext>
            </a:extLst>
          </p:cNvPr>
          <p:cNvSpPr/>
          <p:nvPr/>
        </p:nvSpPr>
        <p:spPr>
          <a:xfrm>
            <a:off x="4608361" y="3817495"/>
            <a:ext cx="2821289" cy="181368"/>
          </a:xfrm>
          <a:prstGeom prst="rect">
            <a:avLst/>
          </a:prstGeom>
          <a:noFill/>
          <a:ln/>
        </p:spPr>
        <p:txBody>
          <a:bodyPr wrap="square" lIns="0" tIns="0" rIns="0" bIns="0" rtlCol="0" anchor="ctr"/>
          <a:lstStyle/>
          <a:p>
            <a:pPr algn="ctr" defTabSz="1219170"/>
            <a:r>
              <a:rPr lang="en-US" sz="1200">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The number under Catskill ownership</a:t>
            </a:r>
          </a:p>
        </p:txBody>
      </p:sp>
      <p:sp>
        <p:nvSpPr>
          <p:cNvPr id="18" name="Shape 14">
            <a:extLst>
              <a:ext uri="{FF2B5EF4-FFF2-40B4-BE49-F238E27FC236}">
                <a16:creationId xmlns:a16="http://schemas.microsoft.com/office/drawing/2014/main" id="{822547AB-B3AC-799D-C029-BA3EECB8C314}"/>
              </a:ext>
            </a:extLst>
          </p:cNvPr>
          <p:cNvSpPr/>
          <p:nvPr/>
        </p:nvSpPr>
        <p:spPr>
          <a:xfrm>
            <a:off x="6019005" y="4195984"/>
            <a:ext cx="0" cy="151141"/>
          </a:xfrm>
          <a:prstGeom prst="line">
            <a:avLst/>
          </a:prstGeom>
          <a:noFill/>
          <a:ln w="19050">
            <a:solidFill>
              <a:srgbClr val="40916C"/>
            </a:solidFill>
            <a:prstDash val="solid"/>
          </a:ln>
        </p:spPr>
        <p:txBody>
          <a:bodyPr/>
          <a:lstStyle/>
          <a:p>
            <a:pPr defTabSz="1219170"/>
            <a:endParaRPr lang="en-US" sz="2400">
              <a:solidFill>
                <a:prstClr val="black"/>
              </a:solidFill>
              <a:latin typeface="Calibri" panose="020F0502020204030204"/>
            </a:endParaRPr>
          </a:p>
        </p:txBody>
      </p:sp>
      <p:sp>
        <p:nvSpPr>
          <p:cNvPr id="19" name="Shape 15">
            <a:extLst>
              <a:ext uri="{FF2B5EF4-FFF2-40B4-BE49-F238E27FC236}">
                <a16:creationId xmlns:a16="http://schemas.microsoft.com/office/drawing/2014/main" id="{8235E6E1-E006-5D55-7A78-3D2B2087C0BC}"/>
              </a:ext>
            </a:extLst>
          </p:cNvPr>
          <p:cNvSpPr/>
          <p:nvPr/>
        </p:nvSpPr>
        <p:spPr>
          <a:xfrm>
            <a:off x="4608361" y="4482990"/>
            <a:ext cx="2821289" cy="523954"/>
          </a:xfrm>
          <a:prstGeom prst="roundRect">
            <a:avLst>
              <a:gd name="adj" fmla="val 15385"/>
            </a:avLst>
          </a:prstGeom>
          <a:solidFill>
            <a:schemeClr val="tx1"/>
          </a:solidFill>
          <a:ln/>
        </p:spPr>
        <p:txBody>
          <a:bodyPr/>
          <a:lstStyle/>
          <a:p>
            <a:pPr defTabSz="1219170"/>
            <a:endParaRPr lang="en-US" sz="2400">
              <a:solidFill>
                <a:prstClr val="black"/>
              </a:solidFill>
              <a:latin typeface="Calibri" panose="020F0502020204030204"/>
            </a:endParaRPr>
          </a:p>
        </p:txBody>
      </p:sp>
      <p:sp>
        <p:nvSpPr>
          <p:cNvPr id="20" name="Text 16">
            <a:extLst>
              <a:ext uri="{FF2B5EF4-FFF2-40B4-BE49-F238E27FC236}">
                <a16:creationId xmlns:a16="http://schemas.microsoft.com/office/drawing/2014/main" id="{89AA00A2-3E0C-9EB2-4BA7-5F79A260B6D7}"/>
              </a:ext>
            </a:extLst>
          </p:cNvPr>
          <p:cNvSpPr/>
          <p:nvPr/>
        </p:nvSpPr>
        <p:spPr>
          <a:xfrm>
            <a:off x="4608361" y="4524403"/>
            <a:ext cx="2821289" cy="221673"/>
          </a:xfrm>
          <a:prstGeom prst="rect">
            <a:avLst/>
          </a:prstGeom>
          <a:noFill/>
          <a:ln/>
        </p:spPr>
        <p:txBody>
          <a:bodyPr wrap="square" lIns="0" tIns="0" rIns="0" bIns="0" rtlCol="0" anchor="ctr"/>
          <a:lstStyle/>
          <a:p>
            <a:pPr algn="ctr" defTabSz="1219170"/>
            <a:r>
              <a:rPr lang="en-US" sz="1600">
                <a:solidFill>
                  <a:srgbClr val="FFFFFF"/>
                </a:solidFill>
                <a:latin typeface="Inter" panose="02000503000000020004" pitchFamily="2" charset="0"/>
                <a:ea typeface="Inter" panose="02000503000000020004" pitchFamily="2" charset="0"/>
                <a:cs typeface="Inter" panose="02000503000000020004" pitchFamily="2" charset="0"/>
              </a:rPr>
              <a:t>Operational execution plan</a:t>
            </a:r>
            <a:endParaRPr lang="en-US" sz="1600">
              <a:solidFill>
                <a:prstClr val="black"/>
              </a:solidFill>
              <a:latin typeface="Inter" panose="02000503000000020004" pitchFamily="2" charset="0"/>
              <a:ea typeface="Inter" panose="02000503000000020004" pitchFamily="2" charset="0"/>
              <a:cs typeface="Inter" panose="02000503000000020004" pitchFamily="2" charset="0"/>
            </a:endParaRPr>
          </a:p>
        </p:txBody>
      </p:sp>
      <p:sp>
        <p:nvSpPr>
          <p:cNvPr id="21" name="Text 17">
            <a:extLst>
              <a:ext uri="{FF2B5EF4-FFF2-40B4-BE49-F238E27FC236}">
                <a16:creationId xmlns:a16="http://schemas.microsoft.com/office/drawing/2014/main" id="{7107254F-1D40-A73D-47CB-961B31637B59}"/>
              </a:ext>
            </a:extLst>
          </p:cNvPr>
          <p:cNvSpPr/>
          <p:nvPr/>
        </p:nvSpPr>
        <p:spPr>
          <a:xfrm>
            <a:off x="4608361" y="4788395"/>
            <a:ext cx="2821289" cy="181368"/>
          </a:xfrm>
          <a:prstGeom prst="rect">
            <a:avLst/>
          </a:prstGeom>
          <a:noFill/>
          <a:ln/>
        </p:spPr>
        <p:txBody>
          <a:bodyPr wrap="square" lIns="0" tIns="0" rIns="0" bIns="0" rtlCol="0" anchor="ctr"/>
          <a:lstStyle/>
          <a:p>
            <a:pPr algn="ctr" defTabSz="1219170"/>
            <a:r>
              <a:rPr lang="en-US" sz="1200">
                <a:solidFill>
                  <a:srgbClr val="C8D6C0"/>
                </a:solidFill>
                <a:latin typeface="Inter" panose="02000503000000020004" pitchFamily="2" charset="0"/>
                <a:ea typeface="Inter" panose="02000503000000020004" pitchFamily="2" charset="0"/>
                <a:cs typeface="Inter" panose="02000503000000020004" pitchFamily="2" charset="0"/>
              </a:rPr>
              <a:t>Day 1 priorities, 100-day roadmap</a:t>
            </a:r>
            <a:endParaRPr lang="en-US" sz="1200">
              <a:solidFill>
                <a:prstClr val="black"/>
              </a:solidFill>
              <a:latin typeface="Inter" panose="02000503000000020004" pitchFamily="2" charset="0"/>
              <a:ea typeface="Inter" panose="02000503000000020004" pitchFamily="2" charset="0"/>
              <a:cs typeface="Inter" panose="02000503000000020004" pitchFamily="2" charset="0"/>
            </a:endParaRPr>
          </a:p>
        </p:txBody>
      </p:sp>
      <p:sp>
        <p:nvSpPr>
          <p:cNvPr id="22" name="Shape 18">
            <a:extLst>
              <a:ext uri="{FF2B5EF4-FFF2-40B4-BE49-F238E27FC236}">
                <a16:creationId xmlns:a16="http://schemas.microsoft.com/office/drawing/2014/main" id="{0B1A2095-3D0A-0686-5B19-E16C5D337771}"/>
              </a:ext>
            </a:extLst>
          </p:cNvPr>
          <p:cNvSpPr/>
          <p:nvPr/>
        </p:nvSpPr>
        <p:spPr>
          <a:xfrm>
            <a:off x="6019005" y="5133048"/>
            <a:ext cx="0" cy="151141"/>
          </a:xfrm>
          <a:prstGeom prst="line">
            <a:avLst/>
          </a:prstGeom>
          <a:noFill/>
          <a:ln w="19050">
            <a:solidFill>
              <a:srgbClr val="40916C"/>
            </a:solidFill>
            <a:prstDash val="solid"/>
          </a:ln>
        </p:spPr>
        <p:txBody>
          <a:bodyPr/>
          <a:lstStyle/>
          <a:p>
            <a:pPr defTabSz="1219170"/>
            <a:endParaRPr lang="en-US" sz="2400">
              <a:solidFill>
                <a:prstClr val="black"/>
              </a:solidFill>
              <a:latin typeface="Calibri" panose="020F0502020204030204"/>
            </a:endParaRPr>
          </a:p>
        </p:txBody>
      </p:sp>
      <p:sp>
        <p:nvSpPr>
          <p:cNvPr id="23" name="Shape 19">
            <a:extLst>
              <a:ext uri="{FF2B5EF4-FFF2-40B4-BE49-F238E27FC236}">
                <a16:creationId xmlns:a16="http://schemas.microsoft.com/office/drawing/2014/main" id="{5377E612-D888-98AB-EA53-A8062847165C}"/>
              </a:ext>
            </a:extLst>
          </p:cNvPr>
          <p:cNvSpPr/>
          <p:nvPr/>
        </p:nvSpPr>
        <p:spPr>
          <a:xfrm>
            <a:off x="4668817" y="5410293"/>
            <a:ext cx="2821289" cy="523954"/>
          </a:xfrm>
          <a:prstGeom prst="roundRect">
            <a:avLst>
              <a:gd name="adj" fmla="val 15385"/>
            </a:avLst>
          </a:prstGeom>
          <a:solidFill>
            <a:schemeClr val="tx1"/>
          </a:solidFill>
          <a:ln/>
        </p:spPr>
        <p:txBody>
          <a:bodyPr/>
          <a:lstStyle/>
          <a:p>
            <a:pPr defTabSz="1219170"/>
            <a:endParaRPr lang="en-US" sz="2400">
              <a:solidFill>
                <a:prstClr val="black"/>
              </a:solidFill>
              <a:latin typeface="Calibri" panose="020F0502020204030204"/>
            </a:endParaRPr>
          </a:p>
        </p:txBody>
      </p:sp>
      <p:sp>
        <p:nvSpPr>
          <p:cNvPr id="24" name="Text 20">
            <a:extLst>
              <a:ext uri="{FF2B5EF4-FFF2-40B4-BE49-F238E27FC236}">
                <a16:creationId xmlns:a16="http://schemas.microsoft.com/office/drawing/2014/main" id="{C8633A81-FC01-A5B4-914D-1B20661D2827}"/>
              </a:ext>
            </a:extLst>
          </p:cNvPr>
          <p:cNvSpPr/>
          <p:nvPr/>
        </p:nvSpPr>
        <p:spPr>
          <a:xfrm>
            <a:off x="4608361" y="5424561"/>
            <a:ext cx="2821289" cy="523954"/>
          </a:xfrm>
          <a:prstGeom prst="rect">
            <a:avLst/>
          </a:prstGeom>
          <a:noFill/>
          <a:ln/>
        </p:spPr>
        <p:txBody>
          <a:bodyPr wrap="square" lIns="0" tIns="0" rIns="0" bIns="0" rtlCol="0" anchor="ctr"/>
          <a:lstStyle/>
          <a:p>
            <a:pPr algn="ctr" defTabSz="1219170"/>
            <a:r>
              <a:rPr lang="en-US" sz="1600">
                <a:solidFill>
                  <a:srgbClr val="FFFFFF"/>
                </a:solidFill>
                <a:latin typeface="Inter" panose="02000503000000020004" pitchFamily="2" charset="0"/>
                <a:ea typeface="Inter" panose="02000503000000020004" pitchFamily="2" charset="0"/>
                <a:cs typeface="Inter" panose="02000503000000020004" pitchFamily="2" charset="0"/>
              </a:rPr>
              <a:t>Exit value</a:t>
            </a:r>
            <a:endParaRPr lang="en-US" sz="1600">
              <a:solidFill>
                <a:prstClr val="black"/>
              </a:solidFill>
              <a:latin typeface="Inter" panose="02000503000000020004" pitchFamily="2" charset="0"/>
              <a:ea typeface="Inter" panose="02000503000000020004" pitchFamily="2" charset="0"/>
              <a:cs typeface="Inter" panose="02000503000000020004" pitchFamily="2" charset="0"/>
            </a:endParaRPr>
          </a:p>
        </p:txBody>
      </p:sp>
      <p:sp>
        <p:nvSpPr>
          <p:cNvPr id="3" name="Left Brace 2">
            <a:extLst>
              <a:ext uri="{FF2B5EF4-FFF2-40B4-BE49-F238E27FC236}">
                <a16:creationId xmlns:a16="http://schemas.microsoft.com/office/drawing/2014/main" id="{0C6461AE-EBD2-F2B4-8322-2CA0B4AA17B1}"/>
              </a:ext>
            </a:extLst>
          </p:cNvPr>
          <p:cNvSpPr/>
          <p:nvPr/>
        </p:nvSpPr>
        <p:spPr>
          <a:xfrm>
            <a:off x="4208652" y="3643824"/>
            <a:ext cx="278796" cy="1164055"/>
          </a:xfrm>
          <a:prstGeom prst="leftBrace">
            <a:avLst/>
          </a:prstGeom>
          <a:noFill/>
          <a:ln w="25400">
            <a:solidFill>
              <a:schemeClr val="tx2">
                <a:lumMod val="50000"/>
              </a:schemeClr>
            </a:solidFill>
            <a:prstDash val="solid"/>
          </a:ln>
        </p:spPr>
        <p:txBody>
          <a:bodyPr/>
          <a:lstStyle/>
          <a:p>
            <a:pPr defTabSz="1219170"/>
            <a:endParaRPr lang="en-US" sz="2400">
              <a:solidFill>
                <a:schemeClr val="bg2">
                  <a:lumMod val="10000"/>
                </a:schemeClr>
              </a:solidFill>
              <a:latin typeface="Calibri" panose="020F0502020204030204"/>
            </a:endParaRPr>
          </a:p>
        </p:txBody>
      </p:sp>
      <p:sp>
        <p:nvSpPr>
          <p:cNvPr id="29" name="Text 24"/>
          <p:cNvSpPr/>
          <p:nvPr/>
        </p:nvSpPr>
        <p:spPr>
          <a:xfrm>
            <a:off x="3115501" y="3957627"/>
            <a:ext cx="975360" cy="536448"/>
          </a:xfrm>
          <a:prstGeom prst="rect">
            <a:avLst/>
          </a:prstGeom>
          <a:noFill/>
          <a:ln/>
        </p:spPr>
        <p:txBody>
          <a:bodyPr wrap="square" lIns="0" tIns="0" rIns="0" bIns="0" rtlCol="0" anchor="ctr"/>
          <a:lstStyle/>
          <a:p>
            <a:pPr algn="r" defTabSz="1219170"/>
            <a:r>
              <a:rPr lang="en-US" sz="1333" b="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Catskill</a:t>
            </a:r>
            <a:endParaRPr lang="en-US" sz="1333">
              <a:solidFill>
                <a:schemeClr val="bg2">
                  <a:lumMod val="10000"/>
                </a:schemeClr>
              </a:solidFill>
              <a:latin typeface="Inter" panose="02000503000000020004" pitchFamily="2" charset="0"/>
              <a:ea typeface="Inter" panose="02000503000000020004" pitchFamily="2" charset="0"/>
              <a:cs typeface="Inter" panose="02000503000000020004" pitchFamily="2" charset="0"/>
            </a:endParaRPr>
          </a:p>
          <a:p>
            <a:pPr algn="r" defTabSz="1219170"/>
            <a:r>
              <a:rPr lang="en-US" sz="1333" b="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edge</a:t>
            </a:r>
            <a:endParaRPr lang="en-US" sz="1333">
              <a:solidFill>
                <a:schemeClr val="bg2">
                  <a:lumMod val="10000"/>
                </a:schemeClr>
              </a:solidFill>
              <a:latin typeface="Inter" panose="02000503000000020004" pitchFamily="2" charset="0"/>
              <a:ea typeface="Inter" panose="02000503000000020004" pitchFamily="2" charset="0"/>
              <a:cs typeface="Inter" panose="02000503000000020004" pitchFamily="2" charset="0"/>
            </a:endParaRPr>
          </a:p>
        </p:txBody>
      </p:sp>
      <p:sp>
        <p:nvSpPr>
          <p:cNvPr id="31" name="Text 26"/>
          <p:cNvSpPr/>
          <p:nvPr/>
        </p:nvSpPr>
        <p:spPr>
          <a:xfrm>
            <a:off x="8583257" y="1664731"/>
            <a:ext cx="3297611" cy="365760"/>
          </a:xfrm>
          <a:prstGeom prst="rect">
            <a:avLst/>
          </a:prstGeom>
          <a:noFill/>
          <a:ln/>
        </p:spPr>
        <p:txBody>
          <a:bodyPr wrap="square" lIns="0" tIns="0" rIns="0" bIns="0" rtlCol="0" anchor="ctr"/>
          <a:lstStyle/>
          <a:p>
            <a:pPr defTabSz="1219170"/>
            <a:r>
              <a:rPr lang="en-US" sz="1600" b="1">
                <a:solidFill>
                  <a:schemeClr val="tx2"/>
                </a:solidFill>
                <a:latin typeface="Inter" panose="02000503000000020004" pitchFamily="2" charset="0"/>
                <a:ea typeface="Inter" panose="02000503000000020004" pitchFamily="2" charset="0"/>
                <a:cs typeface="Inter" panose="02000503000000020004" pitchFamily="2" charset="0"/>
              </a:rPr>
              <a:t>What we confirm</a:t>
            </a:r>
            <a:endParaRPr lang="en-US" sz="1600">
              <a:solidFill>
                <a:schemeClr val="tx2"/>
              </a:solidFill>
              <a:latin typeface="Inter" panose="02000503000000020004" pitchFamily="2" charset="0"/>
              <a:ea typeface="Inter" panose="02000503000000020004" pitchFamily="2" charset="0"/>
              <a:cs typeface="Inter" panose="02000503000000020004" pitchFamily="2" charset="0"/>
            </a:endParaRPr>
          </a:p>
        </p:txBody>
      </p:sp>
      <p:sp>
        <p:nvSpPr>
          <p:cNvPr id="32" name="Shape 27"/>
          <p:cNvSpPr/>
          <p:nvPr/>
        </p:nvSpPr>
        <p:spPr>
          <a:xfrm>
            <a:off x="8496140" y="2006107"/>
            <a:ext cx="1099204" cy="0"/>
          </a:xfrm>
          <a:prstGeom prst="line">
            <a:avLst/>
          </a:prstGeom>
          <a:noFill/>
          <a:ln w="12700">
            <a:solidFill>
              <a:schemeClr val="bg2">
                <a:lumMod val="10000"/>
              </a:schemeClr>
            </a:solidFill>
            <a:prstDash val="solid"/>
          </a:ln>
        </p:spPr>
        <p:txBody>
          <a:bodyPr/>
          <a:lstStyle/>
          <a:p>
            <a:pPr defTabSz="1219170"/>
            <a:endParaRPr lang="en-US" sz="2400">
              <a:solidFill>
                <a:schemeClr val="tx2"/>
              </a:solidFill>
              <a:latin typeface="Calibri" panose="020F0502020204030204"/>
            </a:endParaRPr>
          </a:p>
        </p:txBody>
      </p:sp>
      <p:sp>
        <p:nvSpPr>
          <p:cNvPr id="33" name="Text 28"/>
          <p:cNvSpPr/>
          <p:nvPr/>
        </p:nvSpPr>
        <p:spPr>
          <a:xfrm>
            <a:off x="8583257" y="2091450"/>
            <a:ext cx="3297611" cy="1337549"/>
          </a:xfrm>
          <a:prstGeom prst="rect">
            <a:avLst/>
          </a:prstGeom>
          <a:noFill/>
          <a:ln/>
        </p:spPr>
        <p:txBody>
          <a:bodyPr wrap="square" lIns="0" tIns="0" rIns="0" bIns="0" rtlCol="0" anchor="t"/>
          <a:lstStyle/>
          <a:p>
            <a:pPr marL="457189" indent="-457189" defTabSz="1219170">
              <a:spcAft>
                <a:spcPts val="267"/>
              </a:spcAft>
              <a:buSzPct val="100000"/>
              <a:buFontTx/>
              <a:buChar char="•"/>
            </a:pPr>
            <a:r>
              <a:rPr lang="en-US" sz="1400">
                <a:solidFill>
                  <a:schemeClr val="tx2"/>
                </a:solidFill>
                <a:latin typeface="Inter" panose="02000503000000020004" pitchFamily="2" charset="0"/>
                <a:ea typeface="Inter" panose="02000503000000020004" pitchFamily="2" charset="0"/>
                <a:cs typeface="Inter" panose="02000503000000020004" pitchFamily="2" charset="0"/>
              </a:rPr>
              <a:t>Financial Integrity</a:t>
            </a:r>
          </a:p>
          <a:p>
            <a:pPr marL="457189" indent="-457189" defTabSz="1219170">
              <a:spcAft>
                <a:spcPts val="267"/>
              </a:spcAft>
              <a:buSzPct val="100000"/>
              <a:buFontTx/>
              <a:buChar char="•"/>
            </a:pPr>
            <a:r>
              <a:rPr lang="en-US" sz="1400">
                <a:solidFill>
                  <a:schemeClr val="tx2"/>
                </a:solidFill>
                <a:latin typeface="Inter" panose="02000503000000020004" pitchFamily="2" charset="0"/>
                <a:ea typeface="Inter" panose="02000503000000020004" pitchFamily="2" charset="0"/>
                <a:cs typeface="Inter" panose="02000503000000020004" pitchFamily="2" charset="0"/>
              </a:rPr>
              <a:t>Commercial Position</a:t>
            </a:r>
          </a:p>
          <a:p>
            <a:pPr marL="457189" indent="-457189" defTabSz="1219170">
              <a:spcAft>
                <a:spcPts val="267"/>
              </a:spcAft>
              <a:buSzPct val="100000"/>
              <a:buFontTx/>
              <a:buChar char="•"/>
            </a:pPr>
            <a:r>
              <a:rPr lang="en-US" sz="1400">
                <a:solidFill>
                  <a:schemeClr val="tx2"/>
                </a:solidFill>
                <a:latin typeface="Inter" panose="02000503000000020004" pitchFamily="2" charset="0"/>
                <a:ea typeface="Inter" panose="02000503000000020004" pitchFamily="2" charset="0"/>
                <a:cs typeface="Inter" panose="02000503000000020004" pitchFamily="2" charset="0"/>
              </a:rPr>
              <a:t>Transaction structure</a:t>
            </a:r>
          </a:p>
          <a:p>
            <a:pPr marL="457189" indent="-457189" defTabSz="1219170">
              <a:spcAft>
                <a:spcPts val="267"/>
              </a:spcAft>
              <a:buSzPct val="100000"/>
              <a:buFontTx/>
              <a:buChar char="•"/>
            </a:pPr>
            <a:r>
              <a:rPr lang="en-US" sz="1400">
                <a:solidFill>
                  <a:schemeClr val="tx2"/>
                </a:solidFill>
                <a:latin typeface="Inter" panose="02000503000000020004" pitchFamily="2" charset="0"/>
                <a:ea typeface="Inter" panose="02000503000000020004" pitchFamily="2" charset="0"/>
                <a:cs typeface="Inter" panose="02000503000000020004" pitchFamily="2" charset="0"/>
              </a:rPr>
              <a:t>Management Alignment</a:t>
            </a:r>
          </a:p>
          <a:p>
            <a:pPr marL="457189" indent="-457189" defTabSz="1219170">
              <a:spcAft>
                <a:spcPts val="267"/>
              </a:spcAft>
              <a:buSzPct val="100000"/>
              <a:buFontTx/>
              <a:buChar char="•"/>
            </a:pPr>
            <a:r>
              <a:rPr lang="en-US" sz="1400">
                <a:solidFill>
                  <a:schemeClr val="tx2"/>
                </a:solidFill>
                <a:latin typeface="Inter" panose="02000503000000020004" pitchFamily="2" charset="0"/>
                <a:ea typeface="Inter" panose="02000503000000020004" pitchFamily="2" charset="0"/>
                <a:cs typeface="Inter" panose="02000503000000020004" pitchFamily="2" charset="0"/>
              </a:rPr>
              <a:t>Exit Path Visibility </a:t>
            </a:r>
          </a:p>
        </p:txBody>
      </p:sp>
      <p:sp>
        <p:nvSpPr>
          <p:cNvPr id="34" name="Text 29"/>
          <p:cNvSpPr/>
          <p:nvPr/>
        </p:nvSpPr>
        <p:spPr>
          <a:xfrm>
            <a:off x="8583257" y="3969501"/>
            <a:ext cx="3297611" cy="365760"/>
          </a:xfrm>
          <a:prstGeom prst="rect">
            <a:avLst/>
          </a:prstGeom>
          <a:noFill/>
          <a:ln/>
        </p:spPr>
        <p:txBody>
          <a:bodyPr wrap="square" lIns="0" tIns="0" rIns="0" bIns="0" rtlCol="0" anchor="ctr"/>
          <a:lstStyle/>
          <a:p>
            <a:pPr defTabSz="1219170"/>
            <a:r>
              <a:rPr lang="en-US" sz="1600" b="1">
                <a:solidFill>
                  <a:schemeClr val="tx2"/>
                </a:solidFill>
                <a:latin typeface="Inter" panose="02000503000000020004" pitchFamily="2" charset="0"/>
                <a:ea typeface="Inter" panose="02000503000000020004" pitchFamily="2" charset="0"/>
                <a:cs typeface="Inter" panose="02000503000000020004" pitchFamily="2" charset="0"/>
              </a:rPr>
              <a:t>What we uncover</a:t>
            </a:r>
            <a:endParaRPr lang="en-US" sz="1600">
              <a:solidFill>
                <a:schemeClr val="tx2"/>
              </a:solidFill>
              <a:latin typeface="Inter" panose="02000503000000020004" pitchFamily="2" charset="0"/>
              <a:ea typeface="Inter" panose="02000503000000020004" pitchFamily="2" charset="0"/>
              <a:cs typeface="Inter" panose="02000503000000020004" pitchFamily="2" charset="0"/>
            </a:endParaRPr>
          </a:p>
        </p:txBody>
      </p:sp>
      <p:sp>
        <p:nvSpPr>
          <p:cNvPr id="35" name="Shape 30"/>
          <p:cNvSpPr/>
          <p:nvPr/>
        </p:nvSpPr>
        <p:spPr>
          <a:xfrm>
            <a:off x="8496140" y="4310877"/>
            <a:ext cx="1099204" cy="0"/>
          </a:xfrm>
          <a:prstGeom prst="line">
            <a:avLst/>
          </a:prstGeom>
          <a:noFill/>
          <a:ln w="12700">
            <a:solidFill>
              <a:schemeClr val="bg2">
                <a:lumMod val="10000"/>
              </a:schemeClr>
            </a:solidFill>
            <a:prstDash val="solid"/>
          </a:ln>
        </p:spPr>
        <p:txBody>
          <a:bodyPr/>
          <a:lstStyle/>
          <a:p>
            <a:pPr defTabSz="1219170"/>
            <a:endParaRPr lang="en-US" sz="2400">
              <a:solidFill>
                <a:schemeClr val="tx2"/>
              </a:solidFill>
              <a:latin typeface="Calibri" panose="020F0502020204030204"/>
            </a:endParaRPr>
          </a:p>
        </p:txBody>
      </p:sp>
      <p:sp>
        <p:nvSpPr>
          <p:cNvPr id="36" name="Text 31"/>
          <p:cNvSpPr/>
          <p:nvPr/>
        </p:nvSpPr>
        <p:spPr>
          <a:xfrm>
            <a:off x="8583257" y="4396221"/>
            <a:ext cx="3297611" cy="914400"/>
          </a:xfrm>
          <a:prstGeom prst="rect">
            <a:avLst/>
          </a:prstGeom>
          <a:noFill/>
          <a:ln/>
        </p:spPr>
        <p:txBody>
          <a:bodyPr wrap="square" lIns="0" tIns="0" rIns="0" bIns="0" rtlCol="0" anchor="t"/>
          <a:lstStyle/>
          <a:p>
            <a:pPr marL="457189" indent="-457189" defTabSz="1219170">
              <a:spcAft>
                <a:spcPts val="267"/>
              </a:spcAft>
              <a:buSzPct val="100000"/>
              <a:buFontTx/>
              <a:buChar char="•"/>
            </a:pPr>
            <a:r>
              <a:rPr lang="en-US" sz="1400">
                <a:solidFill>
                  <a:schemeClr val="tx2"/>
                </a:solidFill>
                <a:latin typeface="Inter" panose="02000503000000020004" pitchFamily="2" charset="0"/>
                <a:ea typeface="Inter" panose="02000503000000020004" pitchFamily="2" charset="0"/>
                <a:cs typeface="Inter" panose="02000503000000020004" pitchFamily="2" charset="0"/>
              </a:rPr>
              <a:t>Engineering &amp; Technical moat </a:t>
            </a:r>
          </a:p>
          <a:p>
            <a:pPr marL="457189" indent="-457189" defTabSz="1219170">
              <a:spcAft>
                <a:spcPts val="267"/>
              </a:spcAft>
              <a:buSzPct val="100000"/>
              <a:buFontTx/>
              <a:buChar char="•"/>
            </a:pPr>
            <a:r>
              <a:rPr lang="en-US" sz="1400">
                <a:solidFill>
                  <a:schemeClr val="tx2"/>
                </a:solidFill>
                <a:latin typeface="Inter" panose="02000503000000020004" pitchFamily="2" charset="0"/>
                <a:ea typeface="Inter" panose="02000503000000020004" pitchFamily="2" charset="0"/>
                <a:cs typeface="Inter" panose="02000503000000020004" pitchFamily="2" charset="0"/>
              </a:rPr>
              <a:t>Capacity &amp; automation potential</a:t>
            </a:r>
          </a:p>
          <a:p>
            <a:pPr marL="457189" indent="-457189" defTabSz="1219170">
              <a:spcAft>
                <a:spcPts val="267"/>
              </a:spcAft>
              <a:buSzPct val="100000"/>
              <a:buFontTx/>
              <a:buChar char="•"/>
            </a:pPr>
            <a:r>
              <a:rPr lang="en-US" sz="1400">
                <a:solidFill>
                  <a:schemeClr val="tx2"/>
                </a:solidFill>
                <a:latin typeface="Inter" panose="02000503000000020004" pitchFamily="2" charset="0"/>
                <a:ea typeface="Inter" panose="02000503000000020004" pitchFamily="2" charset="0"/>
                <a:cs typeface="Inter" panose="02000503000000020004" pitchFamily="2" charset="0"/>
              </a:rPr>
              <a:t>Operational improvement roadmap</a:t>
            </a:r>
          </a:p>
          <a:p>
            <a:pPr marL="457189" indent="-457189" defTabSz="1219170">
              <a:spcAft>
                <a:spcPts val="267"/>
              </a:spcAft>
              <a:buSzPct val="100000"/>
              <a:buFontTx/>
              <a:buChar char="•"/>
            </a:pPr>
            <a:r>
              <a:rPr lang="en-US" sz="1400">
                <a:solidFill>
                  <a:schemeClr val="tx2"/>
                </a:solidFill>
                <a:latin typeface="Inter" panose="02000503000000020004" pitchFamily="2" charset="0"/>
                <a:ea typeface="Inter" panose="02000503000000020004" pitchFamily="2" charset="0"/>
                <a:cs typeface="Inter" panose="02000503000000020004" pitchFamily="2" charset="0"/>
              </a:rPr>
              <a:t>Management &amp; talent gaps</a:t>
            </a:r>
          </a:p>
          <a:p>
            <a:pPr marL="457189" indent="-457189" defTabSz="1219170">
              <a:spcAft>
                <a:spcPts val="267"/>
              </a:spcAft>
              <a:buSzPct val="100000"/>
              <a:buFontTx/>
              <a:buChar char="•"/>
            </a:pPr>
            <a:r>
              <a:rPr lang="en-US" sz="1400">
                <a:solidFill>
                  <a:schemeClr val="tx2"/>
                </a:solidFill>
                <a:latin typeface="Inter" panose="02000503000000020004" pitchFamily="2" charset="0"/>
                <a:ea typeface="Inter" panose="02000503000000020004" pitchFamily="2" charset="0"/>
                <a:cs typeface="Inter" panose="02000503000000020004" pitchFamily="2" charset="0"/>
              </a:rPr>
              <a:t>Full-potential EBITDA range</a:t>
            </a:r>
          </a:p>
        </p:txBody>
      </p:sp>
      <p:sp>
        <p:nvSpPr>
          <p:cNvPr id="44" name="TextBox 43">
            <a:extLst>
              <a:ext uri="{FF2B5EF4-FFF2-40B4-BE49-F238E27FC236}">
                <a16:creationId xmlns:a16="http://schemas.microsoft.com/office/drawing/2014/main" id="{31127FD3-53D9-CF50-ACE8-57DDE38FABB5}"/>
              </a:ext>
            </a:extLst>
          </p:cNvPr>
          <p:cNvSpPr txBox="1"/>
          <p:nvPr/>
        </p:nvSpPr>
        <p:spPr>
          <a:xfrm>
            <a:off x="114300" y="3264742"/>
            <a:ext cx="3305488"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srgbClr val="1A4C3D"/>
                </a:solidFill>
                <a:effectLst/>
                <a:uLnTx/>
                <a:uFillTx/>
                <a:latin typeface="Inter" panose="02000503000000020004" pitchFamily="2" charset="0"/>
                <a:ea typeface="Inter" panose="02000503000000020004" pitchFamily="2" charset="0"/>
                <a:cs typeface="Inter" panose="02000503000000020004" pitchFamily="2" charset="0"/>
              </a:rPr>
              <a:t>Every diligence engagement ends with a defined full-potential EBITDA range.  This is the number we believe the business can reach under Catskill ownership and this drives our entry bid discipline and Day 1 operating priorities simultaneously.</a:t>
            </a:r>
          </a:p>
        </p:txBody>
      </p:sp>
    </p:spTree>
    <p:extLst>
      <p:ext uri="{BB962C8B-B14F-4D97-AF65-F5344CB8AC3E}">
        <p14:creationId xmlns:p14="http://schemas.microsoft.com/office/powerpoint/2010/main" val="1395768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96BA6-0A8E-F1FD-BECD-1C7C9A1833FB}"/>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C79F6D6F-286E-70FD-7D2A-2D47EEEB972E}"/>
              </a:ext>
            </a:extLst>
          </p:cNvPr>
          <p:cNvSpPr/>
          <p:nvPr/>
        </p:nvSpPr>
        <p:spPr>
          <a:xfrm>
            <a:off x="1080285" y="924154"/>
            <a:ext cx="9144000" cy="292608"/>
          </a:xfrm>
          <a:prstGeom prst="rect">
            <a:avLst/>
          </a:prstGeom>
          <a:noFill/>
          <a:ln/>
        </p:spPr>
        <p:txBody>
          <a:bodyPr wrap="square" lIns="0" tIns="0" rIns="0" bIns="0" rtlCol="0" anchor="ctr"/>
          <a:lstStyle/>
          <a:p>
            <a:r>
              <a:rPr lang="en-US" sz="1200">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A proven system generating controllable and repeatable Alpha</a:t>
            </a:r>
          </a:p>
        </p:txBody>
      </p:sp>
      <p:sp>
        <p:nvSpPr>
          <p:cNvPr id="8" name="Shape 6">
            <a:extLst>
              <a:ext uri="{FF2B5EF4-FFF2-40B4-BE49-F238E27FC236}">
                <a16:creationId xmlns:a16="http://schemas.microsoft.com/office/drawing/2014/main" id="{BFBA866F-0319-F251-3204-36A887895465}"/>
              </a:ext>
            </a:extLst>
          </p:cNvPr>
          <p:cNvSpPr/>
          <p:nvPr/>
        </p:nvSpPr>
        <p:spPr>
          <a:xfrm>
            <a:off x="824107" y="1328127"/>
            <a:ext cx="5615144" cy="347472"/>
          </a:xfrm>
          <a:prstGeom prst="rect">
            <a:avLst/>
          </a:prstGeom>
          <a:solidFill>
            <a:schemeClr val="accent1">
              <a:lumMod val="20000"/>
              <a:lumOff val="80000"/>
            </a:schemeClr>
          </a:solidFill>
          <a:ln w="12700">
            <a:solidFill>
              <a:srgbClr val="243B5A"/>
            </a:solidFill>
            <a:prstDash val="solid"/>
          </a:ln>
        </p:spPr>
        <p:txBody>
          <a:bodyPr/>
          <a:lstStyle/>
          <a:p>
            <a:endParaRPr lang="en-US" sz="2400">
              <a:solidFill>
                <a:schemeClr val="tx2">
                  <a:lumMod val="50000"/>
                </a:schemeClr>
              </a:solidFill>
            </a:endParaRPr>
          </a:p>
        </p:txBody>
      </p:sp>
      <p:sp>
        <p:nvSpPr>
          <p:cNvPr id="9" name="Text 7">
            <a:extLst>
              <a:ext uri="{FF2B5EF4-FFF2-40B4-BE49-F238E27FC236}">
                <a16:creationId xmlns:a16="http://schemas.microsoft.com/office/drawing/2014/main" id="{01D22BC2-6E32-7954-F4A8-D660BBA83120}"/>
              </a:ext>
            </a:extLst>
          </p:cNvPr>
          <p:cNvSpPr/>
          <p:nvPr/>
        </p:nvSpPr>
        <p:spPr>
          <a:xfrm>
            <a:off x="1613756" y="1328127"/>
            <a:ext cx="3828288" cy="347472"/>
          </a:xfrm>
          <a:prstGeom prst="rect">
            <a:avLst/>
          </a:prstGeom>
          <a:noFill/>
          <a:ln/>
        </p:spPr>
        <p:txBody>
          <a:bodyPr wrap="square" lIns="0" tIns="0" rIns="0" bIns="0" rtlCol="0" anchor="ctr"/>
          <a:lstStyle/>
          <a:p>
            <a:pPr algn="ctr"/>
            <a:r>
              <a:rPr lang="en-US" sz="1200" b="1" kern="0" spc="160">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PLAYBOOK LEVER  -  MECHANISM </a:t>
            </a:r>
            <a:endParaRPr lang="en-US" sz="1200">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11" name="Text 9">
            <a:extLst>
              <a:ext uri="{FF2B5EF4-FFF2-40B4-BE49-F238E27FC236}">
                <a16:creationId xmlns:a16="http://schemas.microsoft.com/office/drawing/2014/main" id="{62B14104-4CFE-8748-0055-8146C67CE781}"/>
              </a:ext>
            </a:extLst>
          </p:cNvPr>
          <p:cNvSpPr/>
          <p:nvPr/>
        </p:nvSpPr>
        <p:spPr>
          <a:xfrm>
            <a:off x="6454975" y="1323843"/>
            <a:ext cx="3769310" cy="347472"/>
          </a:xfrm>
          <a:prstGeom prst="rect">
            <a:avLst/>
          </a:prstGeom>
          <a:solidFill>
            <a:schemeClr val="accent1">
              <a:lumMod val="20000"/>
              <a:lumOff val="80000"/>
            </a:schemeClr>
          </a:solidFill>
          <a:ln>
            <a:solidFill>
              <a:schemeClr val="tx1"/>
            </a:solidFill>
          </a:ln>
        </p:spPr>
        <p:txBody>
          <a:bodyPr wrap="square" lIns="0" tIns="0" rIns="0" bIns="0" rtlCol="0" anchor="ctr"/>
          <a:lstStyle/>
          <a:p>
            <a:pPr algn="ctr"/>
            <a:r>
              <a:rPr lang="en-US" sz="1200" b="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PLAYBOOK  –  ACTIONS</a:t>
            </a:r>
          </a:p>
        </p:txBody>
      </p:sp>
      <p:sp>
        <p:nvSpPr>
          <p:cNvPr id="16" name="Shape 14">
            <a:extLst>
              <a:ext uri="{FF2B5EF4-FFF2-40B4-BE49-F238E27FC236}">
                <a16:creationId xmlns:a16="http://schemas.microsoft.com/office/drawing/2014/main" id="{74F57C42-4B91-FC2E-6E9F-12D658610BE7}"/>
              </a:ext>
            </a:extLst>
          </p:cNvPr>
          <p:cNvSpPr/>
          <p:nvPr/>
        </p:nvSpPr>
        <p:spPr>
          <a:xfrm>
            <a:off x="913188" y="1675599"/>
            <a:ext cx="5451860" cy="822960"/>
          </a:xfrm>
          <a:prstGeom prst="rect">
            <a:avLst/>
          </a:prstGeom>
          <a:solidFill>
            <a:schemeClr val="tx2"/>
          </a:solidFill>
          <a:ln w="12700">
            <a:solidFill>
              <a:srgbClr val="1A2E44"/>
            </a:solidFill>
            <a:prstDash val="solid"/>
          </a:ln>
        </p:spPr>
        <p:txBody>
          <a:bodyPr/>
          <a:lstStyle/>
          <a:p>
            <a:endParaRPr lang="en-US" sz="2400">
              <a:latin typeface="Inter" panose="02000503000000020004" pitchFamily="2" charset="0"/>
              <a:ea typeface="Inter" panose="02000503000000020004" pitchFamily="2" charset="0"/>
              <a:cs typeface="Inter" panose="02000503000000020004" pitchFamily="2" charset="0"/>
            </a:endParaRPr>
          </a:p>
        </p:txBody>
      </p:sp>
      <p:sp>
        <p:nvSpPr>
          <p:cNvPr id="17" name="Shape 15">
            <a:extLst>
              <a:ext uri="{FF2B5EF4-FFF2-40B4-BE49-F238E27FC236}">
                <a16:creationId xmlns:a16="http://schemas.microsoft.com/office/drawing/2014/main" id="{9AE1016C-65DF-4411-07DA-5B211FE0C483}"/>
              </a:ext>
            </a:extLst>
          </p:cNvPr>
          <p:cNvSpPr/>
          <p:nvPr/>
        </p:nvSpPr>
        <p:spPr>
          <a:xfrm>
            <a:off x="835556" y="1675599"/>
            <a:ext cx="67056" cy="822960"/>
          </a:xfrm>
          <a:prstGeom prst="rect">
            <a:avLst/>
          </a:prstGeom>
          <a:solidFill>
            <a:schemeClr val="bg1"/>
          </a:solidFill>
          <a:ln w="12700">
            <a:solidFill>
              <a:schemeClr val="tx2"/>
            </a:solidFill>
            <a:prstDash val="solid"/>
          </a:ln>
        </p:spPr>
        <p:txBody>
          <a:bodyPr/>
          <a:lstStyle/>
          <a:p>
            <a:endParaRPr lang="en-US" sz="2400">
              <a:solidFill>
                <a:schemeClr val="bg1"/>
              </a:solidFill>
            </a:endParaRPr>
          </a:p>
        </p:txBody>
      </p:sp>
      <p:sp>
        <p:nvSpPr>
          <p:cNvPr id="18" name="Text 16">
            <a:extLst>
              <a:ext uri="{FF2B5EF4-FFF2-40B4-BE49-F238E27FC236}">
                <a16:creationId xmlns:a16="http://schemas.microsoft.com/office/drawing/2014/main" id="{2B02BD31-BA79-DCC6-6710-8F2E4B1C980A}"/>
              </a:ext>
            </a:extLst>
          </p:cNvPr>
          <p:cNvSpPr/>
          <p:nvPr/>
        </p:nvSpPr>
        <p:spPr>
          <a:xfrm>
            <a:off x="1019828" y="1976551"/>
            <a:ext cx="316992" cy="268224"/>
          </a:xfrm>
          <a:prstGeom prst="rect">
            <a:avLst/>
          </a:prstGeom>
          <a:noFill/>
          <a:ln/>
        </p:spPr>
        <p:txBody>
          <a:bodyPr wrap="square" lIns="0" tIns="0" rIns="0" bIns="0" rtlCol="0" anchor="ctr"/>
          <a:lstStyle/>
          <a:p>
            <a:r>
              <a:rPr lang="en-US" sz="1600" b="1">
                <a:solidFill>
                  <a:schemeClr val="bg1"/>
                </a:solidFill>
                <a:latin typeface="Inter" panose="02000503000000020004" pitchFamily="2" charset="0"/>
                <a:ea typeface="Inter" panose="02000503000000020004" pitchFamily="2" charset="0"/>
                <a:cs typeface="Inter" panose="02000503000000020004" pitchFamily="2" charset="0"/>
              </a:rPr>
              <a:t>01</a:t>
            </a:r>
            <a:endParaRPr lang="en-US" sz="1600">
              <a:solidFill>
                <a:schemeClr val="bg1"/>
              </a:solidFill>
              <a:latin typeface="Inter" panose="02000503000000020004" pitchFamily="2" charset="0"/>
              <a:ea typeface="Inter" panose="02000503000000020004" pitchFamily="2" charset="0"/>
              <a:cs typeface="Inter" panose="02000503000000020004" pitchFamily="2" charset="0"/>
            </a:endParaRPr>
          </a:p>
        </p:txBody>
      </p:sp>
      <p:sp>
        <p:nvSpPr>
          <p:cNvPr id="19" name="Text 17">
            <a:extLst>
              <a:ext uri="{FF2B5EF4-FFF2-40B4-BE49-F238E27FC236}">
                <a16:creationId xmlns:a16="http://schemas.microsoft.com/office/drawing/2014/main" id="{D3313653-084D-6070-5717-B6CCE2B9A743}"/>
              </a:ext>
            </a:extLst>
          </p:cNvPr>
          <p:cNvSpPr/>
          <p:nvPr/>
        </p:nvSpPr>
        <p:spPr>
          <a:xfrm>
            <a:off x="1499863" y="2009911"/>
            <a:ext cx="3736998" cy="243840"/>
          </a:xfrm>
          <a:prstGeom prst="rect">
            <a:avLst/>
          </a:prstGeom>
          <a:noFill/>
          <a:ln/>
        </p:spPr>
        <p:txBody>
          <a:bodyPr wrap="square" lIns="0" tIns="0" rIns="0" bIns="0" rtlCol="0" anchor="ctr"/>
          <a:lstStyle/>
          <a:p>
            <a:r>
              <a:rPr lang="en-US" kern="0" spc="53">
                <a:solidFill>
                  <a:srgbClr val="FFFFFF"/>
                </a:solidFill>
                <a:latin typeface="Inter" panose="02000503000000020004" pitchFamily="2" charset="0"/>
                <a:ea typeface="Inter" panose="02000503000000020004" pitchFamily="2" charset="0"/>
                <a:cs typeface="Inter" panose="02000503000000020004" pitchFamily="2" charset="0"/>
              </a:rPr>
              <a:t>STRATEGIC REPOSITIONING</a:t>
            </a:r>
            <a:endParaRPr lang="en-US">
              <a:latin typeface="Inter" panose="02000503000000020004" pitchFamily="2" charset="0"/>
              <a:ea typeface="Inter" panose="02000503000000020004" pitchFamily="2" charset="0"/>
              <a:cs typeface="Inter" panose="02000503000000020004" pitchFamily="2" charset="0"/>
            </a:endParaRPr>
          </a:p>
        </p:txBody>
      </p:sp>
      <p:sp>
        <p:nvSpPr>
          <p:cNvPr id="23" name="Shape 21">
            <a:extLst>
              <a:ext uri="{FF2B5EF4-FFF2-40B4-BE49-F238E27FC236}">
                <a16:creationId xmlns:a16="http://schemas.microsoft.com/office/drawing/2014/main" id="{69819C89-9D2A-9AE3-0589-322B83A92499}"/>
              </a:ext>
            </a:extLst>
          </p:cNvPr>
          <p:cNvSpPr/>
          <p:nvPr/>
        </p:nvSpPr>
        <p:spPr>
          <a:xfrm>
            <a:off x="6450700" y="1688592"/>
            <a:ext cx="3773585" cy="822960"/>
          </a:xfrm>
          <a:prstGeom prst="rect">
            <a:avLst/>
          </a:prstGeom>
          <a:solidFill>
            <a:schemeClr val="bg1"/>
          </a:solidFill>
          <a:ln w="12700">
            <a:solidFill>
              <a:srgbClr val="1A2E44"/>
            </a:solidFill>
            <a:prstDash val="solid"/>
          </a:ln>
        </p:spPr>
        <p:txBody>
          <a:bodyPr/>
          <a:lstStyle/>
          <a:p>
            <a:endParaRPr lang="en-US" sz="2400"/>
          </a:p>
        </p:txBody>
      </p:sp>
      <p:sp>
        <p:nvSpPr>
          <p:cNvPr id="24" name="Shape 22">
            <a:extLst>
              <a:ext uri="{FF2B5EF4-FFF2-40B4-BE49-F238E27FC236}">
                <a16:creationId xmlns:a16="http://schemas.microsoft.com/office/drawing/2014/main" id="{4C2E687F-1352-555F-C100-A56897AF170C}"/>
              </a:ext>
            </a:extLst>
          </p:cNvPr>
          <p:cNvSpPr/>
          <p:nvPr/>
        </p:nvSpPr>
        <p:spPr>
          <a:xfrm>
            <a:off x="6383490" y="1688592"/>
            <a:ext cx="48768" cy="822960"/>
          </a:xfrm>
          <a:prstGeom prst="rect">
            <a:avLst/>
          </a:prstGeom>
          <a:solidFill>
            <a:srgbClr val="2D6A4F"/>
          </a:solidFill>
          <a:ln w="12700">
            <a:solidFill>
              <a:srgbClr val="2D6A4F"/>
            </a:solidFill>
            <a:prstDash val="solid"/>
          </a:ln>
        </p:spPr>
        <p:txBody>
          <a:bodyPr/>
          <a:lstStyle/>
          <a:p>
            <a:endParaRPr lang="en-US" sz="2400"/>
          </a:p>
        </p:txBody>
      </p:sp>
      <p:sp>
        <p:nvSpPr>
          <p:cNvPr id="29" name="Shape 27">
            <a:extLst>
              <a:ext uri="{FF2B5EF4-FFF2-40B4-BE49-F238E27FC236}">
                <a16:creationId xmlns:a16="http://schemas.microsoft.com/office/drawing/2014/main" id="{72ACEB67-750F-8B3F-C0B0-AA90C198BC98}"/>
              </a:ext>
            </a:extLst>
          </p:cNvPr>
          <p:cNvSpPr/>
          <p:nvPr/>
        </p:nvSpPr>
        <p:spPr>
          <a:xfrm>
            <a:off x="913189" y="2525382"/>
            <a:ext cx="5451858" cy="822960"/>
          </a:xfrm>
          <a:prstGeom prst="rect">
            <a:avLst/>
          </a:prstGeom>
          <a:solidFill>
            <a:schemeClr val="tx2"/>
          </a:solidFill>
          <a:ln w="12700">
            <a:solidFill>
              <a:srgbClr val="1A2E44"/>
            </a:solidFill>
            <a:prstDash val="solid"/>
          </a:ln>
        </p:spPr>
        <p:txBody>
          <a:bodyPr/>
          <a:lstStyle/>
          <a:p>
            <a:endParaRPr lang="en-US" sz="2400"/>
          </a:p>
        </p:txBody>
      </p:sp>
      <p:sp>
        <p:nvSpPr>
          <p:cNvPr id="30" name="Shape 28">
            <a:extLst>
              <a:ext uri="{FF2B5EF4-FFF2-40B4-BE49-F238E27FC236}">
                <a16:creationId xmlns:a16="http://schemas.microsoft.com/office/drawing/2014/main" id="{C8CC0421-742F-8325-6108-C06710D00316}"/>
              </a:ext>
            </a:extLst>
          </p:cNvPr>
          <p:cNvSpPr/>
          <p:nvPr/>
        </p:nvSpPr>
        <p:spPr>
          <a:xfrm>
            <a:off x="835556" y="2525382"/>
            <a:ext cx="67056" cy="822960"/>
          </a:xfrm>
          <a:prstGeom prst="rect">
            <a:avLst/>
          </a:prstGeom>
          <a:solidFill>
            <a:schemeClr val="bg1"/>
          </a:solidFill>
          <a:ln w="12700">
            <a:solidFill>
              <a:schemeClr val="tx2"/>
            </a:solidFill>
            <a:prstDash val="solid"/>
          </a:ln>
        </p:spPr>
        <p:txBody>
          <a:bodyPr/>
          <a:lstStyle/>
          <a:p>
            <a:endParaRPr lang="en-US" sz="2400">
              <a:solidFill>
                <a:schemeClr val="bg1"/>
              </a:solidFill>
            </a:endParaRPr>
          </a:p>
        </p:txBody>
      </p:sp>
      <p:sp>
        <p:nvSpPr>
          <p:cNvPr id="31" name="Text 29">
            <a:extLst>
              <a:ext uri="{FF2B5EF4-FFF2-40B4-BE49-F238E27FC236}">
                <a16:creationId xmlns:a16="http://schemas.microsoft.com/office/drawing/2014/main" id="{BCCE30A7-7C00-9BEB-64B0-20A2D786FB7A}"/>
              </a:ext>
            </a:extLst>
          </p:cNvPr>
          <p:cNvSpPr/>
          <p:nvPr/>
        </p:nvSpPr>
        <p:spPr>
          <a:xfrm>
            <a:off x="1010312" y="2824415"/>
            <a:ext cx="316992" cy="268224"/>
          </a:xfrm>
          <a:prstGeom prst="rect">
            <a:avLst/>
          </a:prstGeom>
          <a:noFill/>
          <a:ln/>
        </p:spPr>
        <p:txBody>
          <a:bodyPr wrap="square" lIns="0" tIns="0" rIns="0" bIns="0" rtlCol="0" anchor="ctr"/>
          <a:lstStyle/>
          <a:p>
            <a:r>
              <a:rPr lang="en-US" sz="1600" b="1">
                <a:solidFill>
                  <a:schemeClr val="bg1"/>
                </a:solidFill>
                <a:latin typeface="Inter" panose="02000503000000020004" pitchFamily="2" charset="0"/>
                <a:ea typeface="Inter" panose="02000503000000020004" pitchFamily="2" charset="0"/>
                <a:cs typeface="Inter" panose="02000503000000020004" pitchFamily="2" charset="0"/>
              </a:rPr>
              <a:t>02</a:t>
            </a:r>
            <a:endParaRPr lang="en-US" sz="1600">
              <a:solidFill>
                <a:schemeClr val="bg1"/>
              </a:solidFill>
              <a:latin typeface="Inter" panose="02000503000000020004" pitchFamily="2" charset="0"/>
              <a:ea typeface="Inter" panose="02000503000000020004" pitchFamily="2" charset="0"/>
              <a:cs typeface="Inter" panose="02000503000000020004" pitchFamily="2" charset="0"/>
            </a:endParaRPr>
          </a:p>
        </p:txBody>
      </p:sp>
      <p:sp>
        <p:nvSpPr>
          <p:cNvPr id="32" name="Text 30">
            <a:extLst>
              <a:ext uri="{FF2B5EF4-FFF2-40B4-BE49-F238E27FC236}">
                <a16:creationId xmlns:a16="http://schemas.microsoft.com/office/drawing/2014/main" id="{8206823F-B584-1CC6-E202-2BAF29083232}"/>
              </a:ext>
            </a:extLst>
          </p:cNvPr>
          <p:cNvSpPr/>
          <p:nvPr/>
        </p:nvSpPr>
        <p:spPr>
          <a:xfrm>
            <a:off x="1498340" y="2801112"/>
            <a:ext cx="4597660" cy="359527"/>
          </a:xfrm>
          <a:prstGeom prst="rect">
            <a:avLst/>
          </a:prstGeom>
          <a:noFill/>
          <a:ln/>
        </p:spPr>
        <p:txBody>
          <a:bodyPr wrap="square" lIns="0" tIns="0" rIns="0" bIns="0" rtlCol="0" anchor="ctr"/>
          <a:lstStyle/>
          <a:p>
            <a:r>
              <a:rPr lang="en-US" kern="0" spc="53">
                <a:solidFill>
                  <a:srgbClr val="FFFFFF"/>
                </a:solidFill>
                <a:latin typeface="Inter" panose="02000503000000020004" pitchFamily="2" charset="0"/>
                <a:ea typeface="Inter" panose="02000503000000020004" pitchFamily="2" charset="0"/>
                <a:cs typeface="Inter" panose="02000503000000020004" pitchFamily="2" charset="0"/>
              </a:rPr>
              <a:t>COMMERCIAL &amp; PRICING DISCIPLINE</a:t>
            </a:r>
            <a:endParaRPr lang="en-US">
              <a:latin typeface="Inter" panose="02000503000000020004" pitchFamily="2" charset="0"/>
              <a:ea typeface="Inter" panose="02000503000000020004" pitchFamily="2" charset="0"/>
              <a:cs typeface="Inter" panose="02000503000000020004" pitchFamily="2" charset="0"/>
            </a:endParaRPr>
          </a:p>
        </p:txBody>
      </p:sp>
      <p:sp>
        <p:nvSpPr>
          <p:cNvPr id="36" name="Shape 34">
            <a:extLst>
              <a:ext uri="{FF2B5EF4-FFF2-40B4-BE49-F238E27FC236}">
                <a16:creationId xmlns:a16="http://schemas.microsoft.com/office/drawing/2014/main" id="{9AD52E4E-4854-CD64-FD72-63B850EF4943}"/>
              </a:ext>
            </a:extLst>
          </p:cNvPr>
          <p:cNvSpPr/>
          <p:nvPr/>
        </p:nvSpPr>
        <p:spPr>
          <a:xfrm>
            <a:off x="6450700" y="2538375"/>
            <a:ext cx="3773585" cy="822960"/>
          </a:xfrm>
          <a:prstGeom prst="rect">
            <a:avLst/>
          </a:prstGeom>
          <a:solidFill>
            <a:schemeClr val="bg1"/>
          </a:solidFill>
          <a:ln w="12700">
            <a:solidFill>
              <a:srgbClr val="1A2E44"/>
            </a:solidFill>
            <a:prstDash val="solid"/>
          </a:ln>
        </p:spPr>
        <p:txBody>
          <a:bodyPr/>
          <a:lstStyle/>
          <a:p>
            <a:endParaRPr lang="en-US" sz="2400"/>
          </a:p>
        </p:txBody>
      </p:sp>
      <p:sp>
        <p:nvSpPr>
          <p:cNvPr id="37" name="Shape 35">
            <a:extLst>
              <a:ext uri="{FF2B5EF4-FFF2-40B4-BE49-F238E27FC236}">
                <a16:creationId xmlns:a16="http://schemas.microsoft.com/office/drawing/2014/main" id="{3EBDA373-1C59-D1F5-A8B4-B8A61475E2EC}"/>
              </a:ext>
            </a:extLst>
          </p:cNvPr>
          <p:cNvSpPr/>
          <p:nvPr/>
        </p:nvSpPr>
        <p:spPr>
          <a:xfrm>
            <a:off x="6383490" y="2538375"/>
            <a:ext cx="48768" cy="822960"/>
          </a:xfrm>
          <a:prstGeom prst="rect">
            <a:avLst/>
          </a:prstGeom>
          <a:solidFill>
            <a:srgbClr val="2D6A4F"/>
          </a:solidFill>
          <a:ln w="12700">
            <a:solidFill>
              <a:srgbClr val="2D6A4F"/>
            </a:solidFill>
            <a:prstDash val="solid"/>
          </a:ln>
        </p:spPr>
        <p:txBody>
          <a:bodyPr/>
          <a:lstStyle/>
          <a:p>
            <a:endParaRPr lang="en-US" sz="2400"/>
          </a:p>
        </p:txBody>
      </p:sp>
      <p:sp>
        <p:nvSpPr>
          <p:cNvPr id="42" name="Shape 40">
            <a:extLst>
              <a:ext uri="{FF2B5EF4-FFF2-40B4-BE49-F238E27FC236}">
                <a16:creationId xmlns:a16="http://schemas.microsoft.com/office/drawing/2014/main" id="{E16493EB-8849-D987-42C2-926FF36C8877}"/>
              </a:ext>
            </a:extLst>
          </p:cNvPr>
          <p:cNvSpPr/>
          <p:nvPr/>
        </p:nvSpPr>
        <p:spPr>
          <a:xfrm>
            <a:off x="913189" y="3375164"/>
            <a:ext cx="5451858" cy="822960"/>
          </a:xfrm>
          <a:prstGeom prst="rect">
            <a:avLst/>
          </a:prstGeom>
          <a:solidFill>
            <a:schemeClr val="tx2"/>
          </a:solidFill>
          <a:ln w="12700">
            <a:solidFill>
              <a:srgbClr val="1A2E44"/>
            </a:solidFill>
            <a:prstDash val="solid"/>
          </a:ln>
        </p:spPr>
        <p:txBody>
          <a:bodyPr/>
          <a:lstStyle/>
          <a:p>
            <a:endParaRPr lang="en-US" sz="2400"/>
          </a:p>
        </p:txBody>
      </p:sp>
      <p:sp>
        <p:nvSpPr>
          <p:cNvPr id="43" name="Shape 41">
            <a:extLst>
              <a:ext uri="{FF2B5EF4-FFF2-40B4-BE49-F238E27FC236}">
                <a16:creationId xmlns:a16="http://schemas.microsoft.com/office/drawing/2014/main" id="{759C14C8-934D-64F8-16EC-32898CDABC28}"/>
              </a:ext>
            </a:extLst>
          </p:cNvPr>
          <p:cNvSpPr/>
          <p:nvPr/>
        </p:nvSpPr>
        <p:spPr>
          <a:xfrm>
            <a:off x="835556" y="3375164"/>
            <a:ext cx="67056" cy="822960"/>
          </a:xfrm>
          <a:prstGeom prst="rect">
            <a:avLst/>
          </a:prstGeom>
          <a:solidFill>
            <a:schemeClr val="bg1"/>
          </a:solidFill>
          <a:ln w="12700">
            <a:solidFill>
              <a:schemeClr val="tx2"/>
            </a:solidFill>
            <a:prstDash val="solid"/>
          </a:ln>
        </p:spPr>
        <p:txBody>
          <a:bodyPr/>
          <a:lstStyle/>
          <a:p>
            <a:endParaRPr lang="en-US" sz="2400">
              <a:solidFill>
                <a:schemeClr val="bg1"/>
              </a:solidFill>
            </a:endParaRPr>
          </a:p>
        </p:txBody>
      </p:sp>
      <p:sp>
        <p:nvSpPr>
          <p:cNvPr id="44" name="Text 42">
            <a:extLst>
              <a:ext uri="{FF2B5EF4-FFF2-40B4-BE49-F238E27FC236}">
                <a16:creationId xmlns:a16="http://schemas.microsoft.com/office/drawing/2014/main" id="{F1799434-F7C7-80F5-C819-66ADA3516BDC}"/>
              </a:ext>
            </a:extLst>
          </p:cNvPr>
          <p:cNvSpPr/>
          <p:nvPr/>
        </p:nvSpPr>
        <p:spPr>
          <a:xfrm>
            <a:off x="1019828" y="3648683"/>
            <a:ext cx="316992" cy="268224"/>
          </a:xfrm>
          <a:prstGeom prst="rect">
            <a:avLst/>
          </a:prstGeom>
          <a:noFill/>
          <a:ln/>
        </p:spPr>
        <p:txBody>
          <a:bodyPr wrap="square" lIns="0" tIns="0" rIns="0" bIns="0" rtlCol="0" anchor="ctr"/>
          <a:lstStyle/>
          <a:p>
            <a:r>
              <a:rPr lang="en-US" sz="1600" b="1">
                <a:solidFill>
                  <a:schemeClr val="bg1"/>
                </a:solidFill>
                <a:latin typeface="Inter" panose="02000503000000020004" pitchFamily="2" charset="0"/>
                <a:ea typeface="Inter" panose="02000503000000020004" pitchFamily="2" charset="0"/>
                <a:cs typeface="Inter" panose="02000503000000020004" pitchFamily="2" charset="0"/>
              </a:rPr>
              <a:t>03</a:t>
            </a:r>
            <a:endParaRPr lang="en-US" sz="1600">
              <a:solidFill>
                <a:schemeClr val="bg1"/>
              </a:solidFill>
              <a:latin typeface="Inter" panose="02000503000000020004" pitchFamily="2" charset="0"/>
              <a:ea typeface="Inter" panose="02000503000000020004" pitchFamily="2" charset="0"/>
              <a:cs typeface="Inter" panose="02000503000000020004" pitchFamily="2" charset="0"/>
            </a:endParaRPr>
          </a:p>
        </p:txBody>
      </p:sp>
      <p:sp>
        <p:nvSpPr>
          <p:cNvPr id="45" name="Text 43">
            <a:extLst>
              <a:ext uri="{FF2B5EF4-FFF2-40B4-BE49-F238E27FC236}">
                <a16:creationId xmlns:a16="http://schemas.microsoft.com/office/drawing/2014/main" id="{B3CA1F8B-B72D-9235-2A4B-6048D599D903}"/>
              </a:ext>
            </a:extLst>
          </p:cNvPr>
          <p:cNvSpPr/>
          <p:nvPr/>
        </p:nvSpPr>
        <p:spPr>
          <a:xfrm>
            <a:off x="1499863" y="3677717"/>
            <a:ext cx="3736998" cy="243840"/>
          </a:xfrm>
          <a:prstGeom prst="rect">
            <a:avLst/>
          </a:prstGeom>
          <a:noFill/>
          <a:ln/>
        </p:spPr>
        <p:txBody>
          <a:bodyPr wrap="square" lIns="0" tIns="0" rIns="0" bIns="0" rtlCol="0" anchor="ctr"/>
          <a:lstStyle/>
          <a:p>
            <a:r>
              <a:rPr lang="en-US" kern="0" spc="53">
                <a:solidFill>
                  <a:srgbClr val="FFFFFF"/>
                </a:solidFill>
                <a:latin typeface="Inter" panose="02000503000000020004" pitchFamily="2" charset="0"/>
                <a:ea typeface="Inter" panose="02000503000000020004" pitchFamily="2" charset="0"/>
                <a:cs typeface="Inter" panose="02000503000000020004" pitchFamily="2" charset="0"/>
              </a:rPr>
              <a:t>OPERATIONAL EXECUTION</a:t>
            </a:r>
            <a:endParaRPr lang="en-US">
              <a:latin typeface="Inter" panose="02000503000000020004" pitchFamily="2" charset="0"/>
              <a:ea typeface="Inter" panose="02000503000000020004" pitchFamily="2" charset="0"/>
              <a:cs typeface="Inter" panose="02000503000000020004" pitchFamily="2" charset="0"/>
            </a:endParaRPr>
          </a:p>
        </p:txBody>
      </p:sp>
      <p:sp>
        <p:nvSpPr>
          <p:cNvPr id="49" name="Shape 47">
            <a:extLst>
              <a:ext uri="{FF2B5EF4-FFF2-40B4-BE49-F238E27FC236}">
                <a16:creationId xmlns:a16="http://schemas.microsoft.com/office/drawing/2014/main" id="{85D91B69-E959-125C-545B-C749ABAB76BC}"/>
              </a:ext>
            </a:extLst>
          </p:cNvPr>
          <p:cNvSpPr/>
          <p:nvPr/>
        </p:nvSpPr>
        <p:spPr>
          <a:xfrm>
            <a:off x="6450700" y="3388157"/>
            <a:ext cx="3773585" cy="822960"/>
          </a:xfrm>
          <a:prstGeom prst="rect">
            <a:avLst/>
          </a:prstGeom>
          <a:solidFill>
            <a:schemeClr val="bg1"/>
          </a:solidFill>
          <a:ln w="12700">
            <a:solidFill>
              <a:srgbClr val="1A2E44"/>
            </a:solidFill>
            <a:prstDash val="solid"/>
          </a:ln>
        </p:spPr>
        <p:txBody>
          <a:bodyPr/>
          <a:lstStyle/>
          <a:p>
            <a:endParaRPr lang="en-US" sz="1400"/>
          </a:p>
        </p:txBody>
      </p:sp>
      <p:sp>
        <p:nvSpPr>
          <p:cNvPr id="50" name="Shape 48">
            <a:extLst>
              <a:ext uri="{FF2B5EF4-FFF2-40B4-BE49-F238E27FC236}">
                <a16:creationId xmlns:a16="http://schemas.microsoft.com/office/drawing/2014/main" id="{7A4404EF-805A-CDD0-F651-D655B66F35AA}"/>
              </a:ext>
            </a:extLst>
          </p:cNvPr>
          <p:cNvSpPr/>
          <p:nvPr/>
        </p:nvSpPr>
        <p:spPr>
          <a:xfrm>
            <a:off x="6383490" y="3388157"/>
            <a:ext cx="48768" cy="822960"/>
          </a:xfrm>
          <a:prstGeom prst="rect">
            <a:avLst/>
          </a:prstGeom>
          <a:solidFill>
            <a:srgbClr val="2D6A4F"/>
          </a:solidFill>
          <a:ln w="12700">
            <a:solidFill>
              <a:srgbClr val="2D6A4F"/>
            </a:solidFill>
            <a:prstDash val="solid"/>
          </a:ln>
        </p:spPr>
        <p:txBody>
          <a:bodyPr/>
          <a:lstStyle/>
          <a:p>
            <a:endParaRPr lang="en-US" sz="2400"/>
          </a:p>
        </p:txBody>
      </p:sp>
      <p:sp>
        <p:nvSpPr>
          <p:cNvPr id="55" name="Shape 53">
            <a:extLst>
              <a:ext uri="{FF2B5EF4-FFF2-40B4-BE49-F238E27FC236}">
                <a16:creationId xmlns:a16="http://schemas.microsoft.com/office/drawing/2014/main" id="{3FE1D211-3CE9-368B-0A90-A7DA290CF8EC}"/>
              </a:ext>
            </a:extLst>
          </p:cNvPr>
          <p:cNvSpPr/>
          <p:nvPr/>
        </p:nvSpPr>
        <p:spPr>
          <a:xfrm>
            <a:off x="913189" y="4224946"/>
            <a:ext cx="5451858" cy="822960"/>
          </a:xfrm>
          <a:prstGeom prst="rect">
            <a:avLst/>
          </a:prstGeom>
          <a:solidFill>
            <a:schemeClr val="tx2"/>
          </a:solidFill>
          <a:ln w="12700">
            <a:solidFill>
              <a:srgbClr val="1A2E44"/>
            </a:solidFill>
            <a:prstDash val="solid"/>
          </a:ln>
        </p:spPr>
        <p:txBody>
          <a:bodyPr/>
          <a:lstStyle/>
          <a:p>
            <a:endParaRPr lang="en-US" sz="2400"/>
          </a:p>
        </p:txBody>
      </p:sp>
      <p:sp>
        <p:nvSpPr>
          <p:cNvPr id="56" name="Shape 54">
            <a:extLst>
              <a:ext uri="{FF2B5EF4-FFF2-40B4-BE49-F238E27FC236}">
                <a16:creationId xmlns:a16="http://schemas.microsoft.com/office/drawing/2014/main" id="{30E659B6-A21B-3284-210C-347A39D0B879}"/>
              </a:ext>
            </a:extLst>
          </p:cNvPr>
          <p:cNvSpPr/>
          <p:nvPr/>
        </p:nvSpPr>
        <p:spPr>
          <a:xfrm>
            <a:off x="835556" y="4224946"/>
            <a:ext cx="67056" cy="822960"/>
          </a:xfrm>
          <a:prstGeom prst="rect">
            <a:avLst/>
          </a:prstGeom>
          <a:solidFill>
            <a:schemeClr val="bg1"/>
          </a:solidFill>
          <a:ln w="12700">
            <a:solidFill>
              <a:schemeClr val="tx2"/>
            </a:solidFill>
            <a:prstDash val="solid"/>
          </a:ln>
        </p:spPr>
        <p:txBody>
          <a:bodyPr/>
          <a:lstStyle/>
          <a:p>
            <a:endParaRPr lang="en-US" sz="2400">
              <a:solidFill>
                <a:schemeClr val="bg1"/>
              </a:solidFill>
            </a:endParaRPr>
          </a:p>
        </p:txBody>
      </p:sp>
      <p:sp>
        <p:nvSpPr>
          <p:cNvPr id="57" name="Text 55">
            <a:extLst>
              <a:ext uri="{FF2B5EF4-FFF2-40B4-BE49-F238E27FC236}">
                <a16:creationId xmlns:a16="http://schemas.microsoft.com/office/drawing/2014/main" id="{8ED11C05-72B3-BCC2-C00C-95767745E78D}"/>
              </a:ext>
            </a:extLst>
          </p:cNvPr>
          <p:cNvSpPr/>
          <p:nvPr/>
        </p:nvSpPr>
        <p:spPr>
          <a:xfrm>
            <a:off x="1020873" y="4506361"/>
            <a:ext cx="316992" cy="268224"/>
          </a:xfrm>
          <a:prstGeom prst="rect">
            <a:avLst/>
          </a:prstGeom>
          <a:noFill/>
          <a:ln/>
        </p:spPr>
        <p:txBody>
          <a:bodyPr wrap="square" lIns="0" tIns="0" rIns="0" bIns="0" rtlCol="0" anchor="ctr"/>
          <a:lstStyle/>
          <a:p>
            <a:r>
              <a:rPr lang="en-US" sz="1600" b="1">
                <a:solidFill>
                  <a:schemeClr val="bg1"/>
                </a:solidFill>
                <a:latin typeface="Inter" panose="02000503000000020004" pitchFamily="2" charset="0"/>
                <a:ea typeface="Inter" panose="02000503000000020004" pitchFamily="2" charset="0"/>
                <a:cs typeface="Inter" panose="02000503000000020004" pitchFamily="2" charset="0"/>
              </a:rPr>
              <a:t>04</a:t>
            </a:r>
            <a:endParaRPr lang="en-US" sz="1600">
              <a:solidFill>
                <a:schemeClr val="bg1"/>
              </a:solidFill>
              <a:latin typeface="Inter" panose="02000503000000020004" pitchFamily="2" charset="0"/>
              <a:ea typeface="Inter" panose="02000503000000020004" pitchFamily="2" charset="0"/>
              <a:cs typeface="Inter" panose="02000503000000020004" pitchFamily="2" charset="0"/>
            </a:endParaRPr>
          </a:p>
        </p:txBody>
      </p:sp>
      <p:sp>
        <p:nvSpPr>
          <p:cNvPr id="58" name="Text 56">
            <a:extLst>
              <a:ext uri="{FF2B5EF4-FFF2-40B4-BE49-F238E27FC236}">
                <a16:creationId xmlns:a16="http://schemas.microsoft.com/office/drawing/2014/main" id="{A3F00D81-4705-A268-D9F2-C44AB6079832}"/>
              </a:ext>
            </a:extLst>
          </p:cNvPr>
          <p:cNvSpPr/>
          <p:nvPr/>
        </p:nvSpPr>
        <p:spPr>
          <a:xfrm>
            <a:off x="1499863" y="4532531"/>
            <a:ext cx="4865184" cy="267764"/>
          </a:xfrm>
          <a:prstGeom prst="rect">
            <a:avLst/>
          </a:prstGeom>
          <a:noFill/>
          <a:ln/>
        </p:spPr>
        <p:txBody>
          <a:bodyPr wrap="square" lIns="0" tIns="0" rIns="0" bIns="0" rtlCol="0" anchor="ctr"/>
          <a:lstStyle/>
          <a:p>
            <a:r>
              <a:rPr lang="en-US" kern="0" spc="53">
                <a:solidFill>
                  <a:srgbClr val="FFFFFF"/>
                </a:solidFill>
                <a:latin typeface="Inter" panose="02000503000000020004" pitchFamily="2" charset="0"/>
                <a:ea typeface="Inter" panose="02000503000000020004" pitchFamily="2" charset="0"/>
                <a:cs typeface="Inter" panose="02000503000000020004" pitchFamily="2" charset="0"/>
              </a:rPr>
              <a:t>ORGANIZATION &amp; SYSTEMS BACKBONE</a:t>
            </a:r>
            <a:endParaRPr lang="en-US">
              <a:latin typeface="Inter" panose="02000503000000020004" pitchFamily="2" charset="0"/>
              <a:ea typeface="Inter" panose="02000503000000020004" pitchFamily="2" charset="0"/>
              <a:cs typeface="Inter" panose="02000503000000020004" pitchFamily="2" charset="0"/>
            </a:endParaRPr>
          </a:p>
        </p:txBody>
      </p:sp>
      <p:sp>
        <p:nvSpPr>
          <p:cNvPr id="62" name="Shape 60">
            <a:extLst>
              <a:ext uri="{FF2B5EF4-FFF2-40B4-BE49-F238E27FC236}">
                <a16:creationId xmlns:a16="http://schemas.microsoft.com/office/drawing/2014/main" id="{AC3A42C8-DF22-2ABE-6539-55E90AEBA58E}"/>
              </a:ext>
            </a:extLst>
          </p:cNvPr>
          <p:cNvSpPr/>
          <p:nvPr/>
        </p:nvSpPr>
        <p:spPr>
          <a:xfrm>
            <a:off x="6450700" y="4237939"/>
            <a:ext cx="3773585" cy="822960"/>
          </a:xfrm>
          <a:prstGeom prst="rect">
            <a:avLst/>
          </a:prstGeom>
          <a:solidFill>
            <a:schemeClr val="bg1"/>
          </a:solidFill>
          <a:ln w="12700">
            <a:solidFill>
              <a:srgbClr val="1A2E44"/>
            </a:solidFill>
            <a:prstDash val="solid"/>
          </a:ln>
        </p:spPr>
        <p:txBody>
          <a:bodyPr/>
          <a:lstStyle/>
          <a:p>
            <a:endParaRPr lang="en-US" sz="2400"/>
          </a:p>
        </p:txBody>
      </p:sp>
      <p:sp>
        <p:nvSpPr>
          <p:cNvPr id="63" name="Shape 61">
            <a:extLst>
              <a:ext uri="{FF2B5EF4-FFF2-40B4-BE49-F238E27FC236}">
                <a16:creationId xmlns:a16="http://schemas.microsoft.com/office/drawing/2014/main" id="{C80EC6B1-FF6B-E4E6-0A40-CB7176E41D82}"/>
              </a:ext>
            </a:extLst>
          </p:cNvPr>
          <p:cNvSpPr/>
          <p:nvPr/>
        </p:nvSpPr>
        <p:spPr>
          <a:xfrm>
            <a:off x="6383490" y="4237939"/>
            <a:ext cx="48768" cy="822960"/>
          </a:xfrm>
          <a:prstGeom prst="rect">
            <a:avLst/>
          </a:prstGeom>
          <a:solidFill>
            <a:srgbClr val="2D6A4F"/>
          </a:solidFill>
          <a:ln w="12700">
            <a:solidFill>
              <a:srgbClr val="2D6A4F"/>
            </a:solidFill>
            <a:prstDash val="solid"/>
          </a:ln>
        </p:spPr>
        <p:txBody>
          <a:bodyPr/>
          <a:lstStyle/>
          <a:p>
            <a:endParaRPr lang="en-US" sz="2400"/>
          </a:p>
        </p:txBody>
      </p:sp>
      <p:sp>
        <p:nvSpPr>
          <p:cNvPr id="67" name="Text 65">
            <a:extLst>
              <a:ext uri="{FF2B5EF4-FFF2-40B4-BE49-F238E27FC236}">
                <a16:creationId xmlns:a16="http://schemas.microsoft.com/office/drawing/2014/main" id="{E14D0D94-9C8D-CD76-FE80-1E9335677E04}"/>
              </a:ext>
            </a:extLst>
          </p:cNvPr>
          <p:cNvSpPr/>
          <p:nvPr/>
        </p:nvSpPr>
        <p:spPr>
          <a:xfrm>
            <a:off x="7961376" y="4311091"/>
            <a:ext cx="3998976" cy="701040"/>
          </a:xfrm>
          <a:prstGeom prst="rect">
            <a:avLst/>
          </a:prstGeom>
          <a:noFill/>
          <a:ln/>
        </p:spPr>
        <p:txBody>
          <a:bodyPr wrap="square" lIns="33867" tIns="0" rIns="67733" bIns="33867" rtlCol="0" anchor="ctr"/>
          <a:lstStyle/>
          <a:p>
            <a:endParaRPr lang="en-US" sz="933">
              <a:solidFill>
                <a:schemeClr val="bg2">
                  <a:lumMod val="10000"/>
                </a:schemeClr>
              </a:solidFill>
            </a:endParaRPr>
          </a:p>
        </p:txBody>
      </p:sp>
      <p:sp>
        <p:nvSpPr>
          <p:cNvPr id="68" name="Shape 66">
            <a:extLst>
              <a:ext uri="{FF2B5EF4-FFF2-40B4-BE49-F238E27FC236}">
                <a16:creationId xmlns:a16="http://schemas.microsoft.com/office/drawing/2014/main" id="{A9896BB5-861F-735A-A56A-08F56A9B503E}"/>
              </a:ext>
            </a:extLst>
          </p:cNvPr>
          <p:cNvSpPr/>
          <p:nvPr/>
        </p:nvSpPr>
        <p:spPr>
          <a:xfrm>
            <a:off x="913189" y="5074728"/>
            <a:ext cx="5451858" cy="822960"/>
          </a:xfrm>
          <a:prstGeom prst="rect">
            <a:avLst/>
          </a:prstGeom>
          <a:solidFill>
            <a:schemeClr val="tx2"/>
          </a:solidFill>
          <a:ln w="12700">
            <a:solidFill>
              <a:srgbClr val="1A2E44"/>
            </a:solidFill>
            <a:prstDash val="solid"/>
          </a:ln>
        </p:spPr>
        <p:txBody>
          <a:bodyPr/>
          <a:lstStyle/>
          <a:p>
            <a:endParaRPr lang="en-US" sz="2400"/>
          </a:p>
        </p:txBody>
      </p:sp>
      <p:sp>
        <p:nvSpPr>
          <p:cNvPr id="69" name="Shape 67">
            <a:extLst>
              <a:ext uri="{FF2B5EF4-FFF2-40B4-BE49-F238E27FC236}">
                <a16:creationId xmlns:a16="http://schemas.microsoft.com/office/drawing/2014/main" id="{125FA788-D35E-4B5A-DA93-DD7ADB9E55A5}"/>
              </a:ext>
            </a:extLst>
          </p:cNvPr>
          <p:cNvSpPr/>
          <p:nvPr/>
        </p:nvSpPr>
        <p:spPr>
          <a:xfrm>
            <a:off x="835556" y="5074728"/>
            <a:ext cx="67056" cy="822960"/>
          </a:xfrm>
          <a:prstGeom prst="rect">
            <a:avLst/>
          </a:prstGeom>
          <a:solidFill>
            <a:schemeClr val="bg1"/>
          </a:solidFill>
          <a:ln w="12700">
            <a:solidFill>
              <a:schemeClr val="tx2"/>
            </a:solidFill>
            <a:prstDash val="solid"/>
          </a:ln>
        </p:spPr>
        <p:txBody>
          <a:bodyPr/>
          <a:lstStyle/>
          <a:p>
            <a:endParaRPr lang="en-US" sz="2400">
              <a:solidFill>
                <a:schemeClr val="bg1"/>
              </a:solidFill>
            </a:endParaRPr>
          </a:p>
        </p:txBody>
      </p:sp>
      <p:sp>
        <p:nvSpPr>
          <p:cNvPr id="70" name="Text 68">
            <a:extLst>
              <a:ext uri="{FF2B5EF4-FFF2-40B4-BE49-F238E27FC236}">
                <a16:creationId xmlns:a16="http://schemas.microsoft.com/office/drawing/2014/main" id="{693B5D06-35BD-2A0C-0D48-8D6FA6B1D73F}"/>
              </a:ext>
            </a:extLst>
          </p:cNvPr>
          <p:cNvSpPr/>
          <p:nvPr/>
        </p:nvSpPr>
        <p:spPr>
          <a:xfrm>
            <a:off x="1010312" y="5351939"/>
            <a:ext cx="316992" cy="268224"/>
          </a:xfrm>
          <a:prstGeom prst="rect">
            <a:avLst/>
          </a:prstGeom>
          <a:noFill/>
          <a:ln/>
        </p:spPr>
        <p:txBody>
          <a:bodyPr wrap="square" lIns="0" tIns="0" rIns="0" bIns="0" rtlCol="0" anchor="ctr"/>
          <a:lstStyle/>
          <a:p>
            <a:r>
              <a:rPr lang="en-US" sz="1600" b="1">
                <a:solidFill>
                  <a:schemeClr val="bg1"/>
                </a:solidFill>
                <a:latin typeface="Inter" panose="02000503000000020004" pitchFamily="2" charset="0"/>
                <a:ea typeface="Inter" panose="02000503000000020004" pitchFamily="2" charset="0"/>
                <a:cs typeface="Inter" panose="02000503000000020004" pitchFamily="2" charset="0"/>
              </a:rPr>
              <a:t>05</a:t>
            </a:r>
            <a:endParaRPr lang="en-US" sz="1600">
              <a:solidFill>
                <a:schemeClr val="bg1"/>
              </a:solidFill>
              <a:latin typeface="Inter" panose="02000503000000020004" pitchFamily="2" charset="0"/>
              <a:ea typeface="Inter" panose="02000503000000020004" pitchFamily="2" charset="0"/>
              <a:cs typeface="Inter" panose="02000503000000020004" pitchFamily="2" charset="0"/>
            </a:endParaRPr>
          </a:p>
        </p:txBody>
      </p:sp>
      <p:sp>
        <p:nvSpPr>
          <p:cNvPr id="71" name="Text 69">
            <a:extLst>
              <a:ext uri="{FF2B5EF4-FFF2-40B4-BE49-F238E27FC236}">
                <a16:creationId xmlns:a16="http://schemas.microsoft.com/office/drawing/2014/main" id="{045D808C-B415-79D8-94F6-002B3BA5CBDA}"/>
              </a:ext>
            </a:extLst>
          </p:cNvPr>
          <p:cNvSpPr/>
          <p:nvPr/>
        </p:nvSpPr>
        <p:spPr>
          <a:xfrm>
            <a:off x="1498340" y="5368251"/>
            <a:ext cx="5498281" cy="274790"/>
          </a:xfrm>
          <a:prstGeom prst="rect">
            <a:avLst/>
          </a:prstGeom>
          <a:noFill/>
          <a:ln/>
        </p:spPr>
        <p:txBody>
          <a:bodyPr wrap="square" lIns="0" tIns="0" rIns="0" bIns="0" rtlCol="0" anchor="ctr"/>
          <a:lstStyle/>
          <a:p>
            <a:r>
              <a:rPr lang="en-US" kern="0" spc="53">
                <a:solidFill>
                  <a:srgbClr val="FFFFFF"/>
                </a:solidFill>
                <a:latin typeface="Inter" panose="02000503000000020004" pitchFamily="2" charset="0"/>
                <a:ea typeface="Inter" panose="02000503000000020004" pitchFamily="2" charset="0"/>
                <a:cs typeface="Inter" panose="02000503000000020004" pitchFamily="2" charset="0"/>
              </a:rPr>
              <a:t>CAPITAL DEPLOYMENT &amp; M&amp;A</a:t>
            </a:r>
            <a:endParaRPr lang="en-US">
              <a:latin typeface="Inter" panose="02000503000000020004" pitchFamily="2" charset="0"/>
              <a:ea typeface="Inter" panose="02000503000000020004" pitchFamily="2" charset="0"/>
              <a:cs typeface="Inter" panose="02000503000000020004" pitchFamily="2" charset="0"/>
            </a:endParaRPr>
          </a:p>
        </p:txBody>
      </p:sp>
      <p:sp>
        <p:nvSpPr>
          <p:cNvPr id="75" name="Shape 73">
            <a:extLst>
              <a:ext uri="{FF2B5EF4-FFF2-40B4-BE49-F238E27FC236}">
                <a16:creationId xmlns:a16="http://schemas.microsoft.com/office/drawing/2014/main" id="{D8B73432-3B85-2A20-63E4-49236ABD9061}"/>
              </a:ext>
            </a:extLst>
          </p:cNvPr>
          <p:cNvSpPr/>
          <p:nvPr/>
        </p:nvSpPr>
        <p:spPr>
          <a:xfrm>
            <a:off x="6450700" y="5087721"/>
            <a:ext cx="3773585" cy="822960"/>
          </a:xfrm>
          <a:prstGeom prst="rect">
            <a:avLst/>
          </a:prstGeom>
          <a:solidFill>
            <a:schemeClr val="bg1"/>
          </a:solidFill>
          <a:ln w="12700">
            <a:solidFill>
              <a:srgbClr val="1A2E44"/>
            </a:solidFill>
            <a:prstDash val="solid"/>
          </a:ln>
        </p:spPr>
        <p:txBody>
          <a:bodyPr/>
          <a:lstStyle/>
          <a:p>
            <a:endParaRPr lang="en-US" sz="2400"/>
          </a:p>
        </p:txBody>
      </p:sp>
      <p:sp>
        <p:nvSpPr>
          <p:cNvPr id="76" name="Shape 74">
            <a:extLst>
              <a:ext uri="{FF2B5EF4-FFF2-40B4-BE49-F238E27FC236}">
                <a16:creationId xmlns:a16="http://schemas.microsoft.com/office/drawing/2014/main" id="{B34E6714-30CD-1862-15E9-62CD9BDC1E09}"/>
              </a:ext>
            </a:extLst>
          </p:cNvPr>
          <p:cNvSpPr/>
          <p:nvPr/>
        </p:nvSpPr>
        <p:spPr>
          <a:xfrm>
            <a:off x="6383490" y="5087721"/>
            <a:ext cx="48768" cy="822960"/>
          </a:xfrm>
          <a:prstGeom prst="rect">
            <a:avLst/>
          </a:prstGeom>
          <a:solidFill>
            <a:srgbClr val="2D6A4F"/>
          </a:solidFill>
          <a:ln w="12700">
            <a:solidFill>
              <a:srgbClr val="2D6A4F"/>
            </a:solidFill>
            <a:prstDash val="solid"/>
          </a:ln>
        </p:spPr>
        <p:txBody>
          <a:bodyPr/>
          <a:lstStyle/>
          <a:p>
            <a:endParaRPr lang="en-US" sz="2400"/>
          </a:p>
        </p:txBody>
      </p:sp>
      <p:sp>
        <p:nvSpPr>
          <p:cNvPr id="84" name="Title 1">
            <a:extLst>
              <a:ext uri="{FF2B5EF4-FFF2-40B4-BE49-F238E27FC236}">
                <a16:creationId xmlns:a16="http://schemas.microsoft.com/office/drawing/2014/main" id="{CEA6B18B-9E2F-46AD-7E2D-90B4203C05F7}"/>
              </a:ext>
            </a:extLst>
          </p:cNvPr>
          <p:cNvSpPr txBox="1">
            <a:spLocks/>
          </p:cNvSpPr>
          <p:nvPr/>
        </p:nvSpPr>
        <p:spPr>
          <a:xfrm>
            <a:off x="942561" y="509285"/>
            <a:ext cx="10515600" cy="613459"/>
          </a:xfrm>
          <a:prstGeom prst="rect">
            <a:avLst/>
          </a:prstGeom>
        </p:spPr>
        <p:txBody>
          <a:bodyPr>
            <a:normAutofit fontScale="97500"/>
          </a:bodyPr>
          <a:lstStyle>
            <a:lvl1pPr algn="l" defTabSz="914400" rtl="0" eaLnBrk="1" latinLnBrk="0" hangingPunct="1">
              <a:lnSpc>
                <a:spcPct val="90000"/>
              </a:lnSpc>
              <a:spcBef>
                <a:spcPct val="0"/>
              </a:spcBef>
              <a:buNone/>
              <a:defRPr sz="3000" kern="1200" baseline="0">
                <a:solidFill>
                  <a:schemeClr val="tx1"/>
                </a:solidFill>
                <a:latin typeface="Inter ExtraBold" panose="02000503000000020004" pitchFamily="2" charset="0"/>
                <a:ea typeface="+mj-ea"/>
                <a:cs typeface="+mj-cs"/>
              </a:defRPr>
            </a:lvl1pPr>
          </a:lstStyle>
          <a:p>
            <a:r>
              <a:rPr lang="en-US">
                <a:latin typeface="Inter" panose="02000503000000020004" pitchFamily="2" charset="0"/>
                <a:ea typeface="Inter" panose="02000503000000020004" pitchFamily="2" charset="0"/>
                <a:cs typeface="Inter" panose="02000503000000020004" pitchFamily="2" charset="0"/>
              </a:rPr>
              <a:t>Proven Value Creation Playbook</a:t>
            </a:r>
          </a:p>
        </p:txBody>
      </p:sp>
      <p:sp>
        <p:nvSpPr>
          <p:cNvPr id="33" name="Text 31">
            <a:extLst>
              <a:ext uri="{FF2B5EF4-FFF2-40B4-BE49-F238E27FC236}">
                <a16:creationId xmlns:a16="http://schemas.microsoft.com/office/drawing/2014/main" id="{8FB8FEA7-2AC4-1703-66BD-69FAC50E91F4}"/>
              </a:ext>
            </a:extLst>
          </p:cNvPr>
          <p:cNvSpPr/>
          <p:nvPr/>
        </p:nvSpPr>
        <p:spPr>
          <a:xfrm>
            <a:off x="6537436" y="2903419"/>
            <a:ext cx="3164704" cy="114980"/>
          </a:xfrm>
          <a:prstGeom prst="rect">
            <a:avLst/>
          </a:prstGeom>
          <a:noFill/>
          <a:ln/>
        </p:spPr>
        <p:txBody>
          <a:bodyPr wrap="square" lIns="0" tIns="0" rIns="0" bIns="0" rtlCol="0" anchor="ctr"/>
          <a:lstStyle/>
          <a:p>
            <a:r>
              <a:rPr lang="en-US" sz="1400" i="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Eliminate legacy pricing. Leverage price to exit. Price to value.  Quarterly pricing discipline.</a:t>
            </a:r>
            <a:endParaRPr lang="en-US" sz="1400">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46" name="Text 44">
            <a:extLst>
              <a:ext uri="{FF2B5EF4-FFF2-40B4-BE49-F238E27FC236}">
                <a16:creationId xmlns:a16="http://schemas.microsoft.com/office/drawing/2014/main" id="{47532C5B-D3B3-7637-64A2-C06560DF4300}"/>
              </a:ext>
            </a:extLst>
          </p:cNvPr>
          <p:cNvSpPr/>
          <p:nvPr/>
        </p:nvSpPr>
        <p:spPr>
          <a:xfrm>
            <a:off x="6567916" y="3739704"/>
            <a:ext cx="3134224" cy="45719"/>
          </a:xfrm>
          <a:prstGeom prst="rect">
            <a:avLst/>
          </a:prstGeom>
          <a:noFill/>
          <a:ln/>
        </p:spPr>
        <p:txBody>
          <a:bodyPr wrap="square" lIns="0" tIns="0" rIns="0" bIns="0" rtlCol="0" anchor="ctr"/>
          <a:lstStyle/>
          <a:p>
            <a:r>
              <a:rPr lang="en-US" sz="1400" i="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Throughput &amp; productivity is margin. We fix the floor, then build.</a:t>
            </a:r>
            <a:endParaRPr lang="en-US" sz="1400">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59" name="Text 57">
            <a:extLst>
              <a:ext uri="{FF2B5EF4-FFF2-40B4-BE49-F238E27FC236}">
                <a16:creationId xmlns:a16="http://schemas.microsoft.com/office/drawing/2014/main" id="{CF7844F5-FC7E-B4A5-13E1-61519C17E141}"/>
              </a:ext>
            </a:extLst>
          </p:cNvPr>
          <p:cNvSpPr/>
          <p:nvPr/>
        </p:nvSpPr>
        <p:spPr>
          <a:xfrm>
            <a:off x="6537436" y="4600996"/>
            <a:ext cx="3449527" cy="81831"/>
          </a:xfrm>
          <a:prstGeom prst="rect">
            <a:avLst/>
          </a:prstGeom>
          <a:noFill/>
          <a:ln/>
        </p:spPr>
        <p:txBody>
          <a:bodyPr wrap="square" lIns="0" tIns="0" rIns="0" bIns="0" rtlCol="0" anchor="ctr"/>
          <a:lstStyle/>
          <a:p>
            <a:r>
              <a:rPr lang="en-US" sz="1400" i="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Institutionalize the business. Automate systems and manufacturing, Reduce key-person risk.</a:t>
            </a:r>
            <a:endParaRPr lang="en-US" sz="1400">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72" name="Text 70">
            <a:extLst>
              <a:ext uri="{FF2B5EF4-FFF2-40B4-BE49-F238E27FC236}">
                <a16:creationId xmlns:a16="http://schemas.microsoft.com/office/drawing/2014/main" id="{5AE8FDED-7A6B-F753-7085-99124CBC660C}"/>
              </a:ext>
            </a:extLst>
          </p:cNvPr>
          <p:cNvSpPr/>
          <p:nvPr/>
        </p:nvSpPr>
        <p:spPr>
          <a:xfrm>
            <a:off x="6579736" y="5442926"/>
            <a:ext cx="3779520" cy="207264"/>
          </a:xfrm>
          <a:prstGeom prst="rect">
            <a:avLst/>
          </a:prstGeom>
          <a:noFill/>
          <a:ln/>
        </p:spPr>
        <p:txBody>
          <a:bodyPr wrap="square" lIns="0" tIns="0" rIns="0" bIns="0" rtlCol="0" anchor="ctr"/>
          <a:lstStyle/>
          <a:p>
            <a:r>
              <a:rPr lang="en-US" sz="1400" i="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Scale the platform to meet innovative market demand.</a:t>
            </a:r>
            <a:endParaRPr lang="en-US" sz="1400">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
        <p:nvSpPr>
          <p:cNvPr id="53" name="Text 18">
            <a:extLst>
              <a:ext uri="{FF2B5EF4-FFF2-40B4-BE49-F238E27FC236}">
                <a16:creationId xmlns:a16="http://schemas.microsoft.com/office/drawing/2014/main" id="{223994B2-71E2-A43F-7B79-07B1244EB638}"/>
              </a:ext>
            </a:extLst>
          </p:cNvPr>
          <p:cNvSpPr/>
          <p:nvPr/>
        </p:nvSpPr>
        <p:spPr>
          <a:xfrm>
            <a:off x="6558400" y="2015221"/>
            <a:ext cx="3291840" cy="207264"/>
          </a:xfrm>
          <a:prstGeom prst="rect">
            <a:avLst/>
          </a:prstGeom>
          <a:noFill/>
          <a:ln/>
        </p:spPr>
        <p:txBody>
          <a:bodyPr wrap="square" lIns="0" tIns="0" rIns="0" bIns="0" rtlCol="0" anchor="ctr"/>
          <a:lstStyle/>
          <a:p>
            <a:r>
              <a:rPr lang="en-US" sz="1400" i="1">
                <a:solidFill>
                  <a:schemeClr val="tx2">
                    <a:lumMod val="50000"/>
                  </a:schemeClr>
                </a:solidFill>
                <a:latin typeface="Inter" panose="02000503000000020004" pitchFamily="2" charset="0"/>
                <a:ea typeface="Inter" panose="02000503000000020004" pitchFamily="2" charset="0"/>
                <a:cs typeface="Inter" panose="02000503000000020004" pitchFamily="2" charset="0"/>
              </a:rPr>
              <a:t>Align technical abilities to industry innovators in dynamic markets.</a:t>
            </a:r>
            <a:endParaRPr lang="en-US" sz="1400">
              <a:solidFill>
                <a:schemeClr val="tx2">
                  <a:lumMod val="50000"/>
                </a:schemeClr>
              </a:solidFill>
              <a:latin typeface="Inter" panose="02000503000000020004" pitchFamily="2" charset="0"/>
              <a:ea typeface="Inter" panose="02000503000000020004" pitchFamily="2" charset="0"/>
              <a:cs typeface="Inter" panose="02000503000000020004" pitchFamily="2" charset="0"/>
            </a:endParaRPr>
          </a:p>
        </p:txBody>
      </p:sp>
    </p:spTree>
    <p:extLst>
      <p:ext uri="{BB962C8B-B14F-4D97-AF65-F5344CB8AC3E}">
        <p14:creationId xmlns:p14="http://schemas.microsoft.com/office/powerpoint/2010/main" val="33529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Text 2">
            <a:extLst>
              <a:ext uri="{FF2B5EF4-FFF2-40B4-BE49-F238E27FC236}">
                <a16:creationId xmlns:a16="http://schemas.microsoft.com/office/drawing/2014/main" id="{F37FE2C2-CAB5-0942-F4E5-3C5D629D411B}"/>
              </a:ext>
            </a:extLst>
          </p:cNvPr>
          <p:cNvSpPr/>
          <p:nvPr/>
        </p:nvSpPr>
        <p:spPr>
          <a:xfrm>
            <a:off x="764555" y="5734241"/>
            <a:ext cx="10728960" cy="365760"/>
          </a:xfrm>
          <a:prstGeom prst="rect">
            <a:avLst/>
          </a:prstGeom>
          <a:noFill/>
          <a:ln/>
        </p:spPr>
        <p:txBody>
          <a:bodyPr wrap="square" lIns="0" tIns="0" rIns="0" bIns="0" rtlCol="0" anchor="ctr"/>
          <a:lstStyle/>
          <a:p>
            <a:r>
              <a:rPr lang="en-US" sz="1200"/>
              <a:t>Returns are driven by controllable operational execution</a:t>
            </a:r>
            <a:r>
              <a:rPr lang="en-US" sz="1200" i="1">
                <a:solidFill>
                  <a:schemeClr val="tx2"/>
                </a:solidFill>
                <a:latin typeface="Calibri" pitchFamily="34" charset="0"/>
                <a:ea typeface="Calibri" pitchFamily="34" charset="-122"/>
                <a:cs typeface="Calibri" pitchFamily="34" charset="-120"/>
              </a:rPr>
              <a:t>; add-ons and multiple expansion represent incremental upside.</a:t>
            </a:r>
            <a:endParaRPr lang="en-US" sz="1200">
              <a:solidFill>
                <a:schemeClr val="tx2"/>
              </a:solidFill>
            </a:endParaRPr>
          </a:p>
        </p:txBody>
      </p:sp>
      <p:sp>
        <p:nvSpPr>
          <p:cNvPr id="230" name="Text 3">
            <a:extLst>
              <a:ext uri="{FF2B5EF4-FFF2-40B4-BE49-F238E27FC236}">
                <a16:creationId xmlns:a16="http://schemas.microsoft.com/office/drawing/2014/main" id="{B16EF806-C412-D80C-4DB1-07A817FACF09}"/>
              </a:ext>
            </a:extLst>
          </p:cNvPr>
          <p:cNvSpPr/>
          <p:nvPr/>
        </p:nvSpPr>
        <p:spPr>
          <a:xfrm>
            <a:off x="758459" y="847371"/>
            <a:ext cx="5364480" cy="268224"/>
          </a:xfrm>
          <a:prstGeom prst="rect">
            <a:avLst/>
          </a:prstGeom>
          <a:noFill/>
          <a:ln/>
        </p:spPr>
        <p:txBody>
          <a:bodyPr wrap="square" lIns="0" tIns="0" rIns="0" bIns="0" rtlCol="0" anchor="ctr"/>
          <a:lstStyle/>
          <a:p>
            <a:pPr algn="ctr"/>
            <a:r>
              <a:rPr lang="en-US" sz="1400" b="1">
                <a:solidFill>
                  <a:schemeClr val="tx2"/>
                </a:solidFill>
                <a:latin typeface="Calibri" pitchFamily="34" charset="0"/>
                <a:ea typeface="Calibri" pitchFamily="34" charset="-122"/>
                <a:cs typeface="Calibri" pitchFamily="34" charset="-120"/>
              </a:rPr>
              <a:t>UNDERWRITTEN RETURNS</a:t>
            </a:r>
            <a:endParaRPr lang="en-US" sz="1400">
              <a:solidFill>
                <a:schemeClr val="tx2"/>
              </a:solidFill>
            </a:endParaRPr>
          </a:p>
        </p:txBody>
      </p:sp>
      <p:sp>
        <p:nvSpPr>
          <p:cNvPr id="231" name="Text 4">
            <a:extLst>
              <a:ext uri="{FF2B5EF4-FFF2-40B4-BE49-F238E27FC236}">
                <a16:creationId xmlns:a16="http://schemas.microsoft.com/office/drawing/2014/main" id="{07A8D586-E9DA-6057-EAE8-50A1D28D5803}"/>
              </a:ext>
            </a:extLst>
          </p:cNvPr>
          <p:cNvSpPr/>
          <p:nvPr/>
        </p:nvSpPr>
        <p:spPr>
          <a:xfrm>
            <a:off x="6366779" y="847371"/>
            <a:ext cx="5364480" cy="268224"/>
          </a:xfrm>
          <a:prstGeom prst="rect">
            <a:avLst/>
          </a:prstGeom>
          <a:noFill/>
          <a:ln/>
        </p:spPr>
        <p:txBody>
          <a:bodyPr wrap="square" lIns="0" tIns="0" rIns="0" bIns="0" rtlCol="0" anchor="ctr"/>
          <a:lstStyle/>
          <a:p>
            <a:pPr algn="ctr"/>
            <a:r>
              <a:rPr lang="en-US" sz="1400" b="1">
                <a:solidFill>
                  <a:schemeClr val="tx2"/>
                </a:solidFill>
                <a:latin typeface="Calibri" pitchFamily="34" charset="0"/>
                <a:ea typeface="Calibri" pitchFamily="34" charset="-122"/>
                <a:cs typeface="Calibri" pitchFamily="34" charset="-120"/>
              </a:rPr>
              <a:t>INCREMENTAL UPSIDE (NOT UNDERWRITTEN)</a:t>
            </a:r>
            <a:endParaRPr lang="en-US" sz="1400">
              <a:solidFill>
                <a:schemeClr val="tx2"/>
              </a:solidFill>
            </a:endParaRPr>
          </a:p>
        </p:txBody>
      </p:sp>
      <p:sp>
        <p:nvSpPr>
          <p:cNvPr id="232" name="Shape 5">
            <a:extLst>
              <a:ext uri="{FF2B5EF4-FFF2-40B4-BE49-F238E27FC236}">
                <a16:creationId xmlns:a16="http://schemas.microsoft.com/office/drawing/2014/main" id="{5C9BD316-8668-529F-99CD-6BF29C19E4C5}"/>
              </a:ext>
            </a:extLst>
          </p:cNvPr>
          <p:cNvSpPr/>
          <p:nvPr/>
        </p:nvSpPr>
        <p:spPr>
          <a:xfrm flipV="1">
            <a:off x="758459" y="1139978"/>
            <a:ext cx="5266944" cy="1"/>
          </a:xfrm>
          <a:prstGeom prst="line">
            <a:avLst/>
          </a:prstGeom>
          <a:noFill/>
          <a:ln w="12700">
            <a:solidFill>
              <a:schemeClr val="accent1"/>
            </a:solidFill>
            <a:prstDash val="solid"/>
          </a:ln>
        </p:spPr>
        <p:txBody>
          <a:bodyPr/>
          <a:lstStyle/>
          <a:p>
            <a:endParaRPr lang="en-US" sz="2400">
              <a:solidFill>
                <a:schemeClr val="tx2"/>
              </a:solidFill>
            </a:endParaRPr>
          </a:p>
        </p:txBody>
      </p:sp>
      <p:sp>
        <p:nvSpPr>
          <p:cNvPr id="233" name="Shape 6">
            <a:extLst>
              <a:ext uri="{FF2B5EF4-FFF2-40B4-BE49-F238E27FC236}">
                <a16:creationId xmlns:a16="http://schemas.microsoft.com/office/drawing/2014/main" id="{CD2E8BF1-762B-AAE9-B1FA-D7C12D7147FB}"/>
              </a:ext>
            </a:extLst>
          </p:cNvPr>
          <p:cNvSpPr/>
          <p:nvPr/>
        </p:nvSpPr>
        <p:spPr>
          <a:xfrm>
            <a:off x="6171707" y="1126228"/>
            <a:ext cx="5288773" cy="0"/>
          </a:xfrm>
          <a:prstGeom prst="line">
            <a:avLst/>
          </a:prstGeom>
          <a:noFill/>
          <a:ln w="12700">
            <a:solidFill>
              <a:srgbClr val="7A9A7E"/>
            </a:solidFill>
            <a:prstDash val="dash"/>
          </a:ln>
        </p:spPr>
        <p:txBody>
          <a:bodyPr/>
          <a:lstStyle/>
          <a:p>
            <a:endParaRPr lang="en-US" sz="2400">
              <a:solidFill>
                <a:schemeClr val="tx2"/>
              </a:solidFill>
            </a:endParaRPr>
          </a:p>
        </p:txBody>
      </p:sp>
      <p:sp>
        <p:nvSpPr>
          <p:cNvPr id="234" name="Shape 7">
            <a:extLst>
              <a:ext uri="{FF2B5EF4-FFF2-40B4-BE49-F238E27FC236}">
                <a16:creationId xmlns:a16="http://schemas.microsoft.com/office/drawing/2014/main" id="{513FED52-EC9E-CBDA-4AF2-C144265263F2}"/>
              </a:ext>
            </a:extLst>
          </p:cNvPr>
          <p:cNvSpPr/>
          <p:nvPr/>
        </p:nvSpPr>
        <p:spPr>
          <a:xfrm>
            <a:off x="6098555" y="1225323"/>
            <a:ext cx="0" cy="4450080"/>
          </a:xfrm>
          <a:prstGeom prst="line">
            <a:avLst/>
          </a:prstGeom>
          <a:noFill/>
          <a:ln w="28575">
            <a:solidFill>
              <a:srgbClr val="D4A843"/>
            </a:solidFill>
            <a:prstDash val="dash"/>
          </a:ln>
        </p:spPr>
        <p:txBody>
          <a:bodyPr/>
          <a:lstStyle/>
          <a:p>
            <a:endParaRPr lang="en-US" sz="2400">
              <a:solidFill>
                <a:schemeClr val="tx2"/>
              </a:solidFill>
            </a:endParaRPr>
          </a:p>
        </p:txBody>
      </p:sp>
      <p:sp>
        <p:nvSpPr>
          <p:cNvPr id="235" name="Shape 8">
            <a:extLst>
              <a:ext uri="{FF2B5EF4-FFF2-40B4-BE49-F238E27FC236}">
                <a16:creationId xmlns:a16="http://schemas.microsoft.com/office/drawing/2014/main" id="{8A5E152D-4C79-BEA4-3501-F30D67AC6F6D}"/>
              </a:ext>
            </a:extLst>
          </p:cNvPr>
          <p:cNvSpPr/>
          <p:nvPr/>
        </p:nvSpPr>
        <p:spPr>
          <a:xfrm>
            <a:off x="758459" y="1286282"/>
            <a:ext cx="2560320" cy="4450079"/>
          </a:xfrm>
          <a:prstGeom prst="rect">
            <a:avLst/>
          </a:prstGeom>
          <a:solidFill>
            <a:schemeClr val="accent1">
              <a:lumMod val="40000"/>
              <a:lumOff val="60000"/>
            </a:schemeClr>
          </a:solidFill>
          <a:ln w="12700">
            <a:solidFill>
              <a:srgbClr val="40916C"/>
            </a:solidFill>
            <a:prstDash val="solid"/>
          </a:ln>
        </p:spPr>
        <p:txBody>
          <a:bodyPr/>
          <a:lstStyle/>
          <a:p>
            <a:endParaRPr lang="en-US" sz="2400">
              <a:solidFill>
                <a:schemeClr val="tx2"/>
              </a:solidFill>
            </a:endParaRPr>
          </a:p>
        </p:txBody>
      </p:sp>
      <p:sp>
        <p:nvSpPr>
          <p:cNvPr id="236" name="Shape 9">
            <a:extLst>
              <a:ext uri="{FF2B5EF4-FFF2-40B4-BE49-F238E27FC236}">
                <a16:creationId xmlns:a16="http://schemas.microsoft.com/office/drawing/2014/main" id="{1C1F06D9-0186-C451-ED9F-061B73D71A6F}"/>
              </a:ext>
            </a:extLst>
          </p:cNvPr>
          <p:cNvSpPr/>
          <p:nvPr/>
        </p:nvSpPr>
        <p:spPr>
          <a:xfrm>
            <a:off x="941339" y="1432587"/>
            <a:ext cx="390144" cy="390144"/>
          </a:xfrm>
          <a:prstGeom prst="ellipse">
            <a:avLst/>
          </a:prstGeom>
          <a:solidFill>
            <a:srgbClr val="2D6A4F"/>
          </a:solidFill>
          <a:ln/>
        </p:spPr>
        <p:txBody>
          <a:bodyPr/>
          <a:lstStyle/>
          <a:p>
            <a:endParaRPr lang="en-US" sz="2400">
              <a:solidFill>
                <a:schemeClr val="tx2"/>
              </a:solidFill>
            </a:endParaRPr>
          </a:p>
        </p:txBody>
      </p:sp>
      <p:sp>
        <p:nvSpPr>
          <p:cNvPr id="237" name="Text 10">
            <a:extLst>
              <a:ext uri="{FF2B5EF4-FFF2-40B4-BE49-F238E27FC236}">
                <a16:creationId xmlns:a16="http://schemas.microsoft.com/office/drawing/2014/main" id="{C2DD9B47-B41A-3FB2-A4E6-C0405E55BC19}"/>
              </a:ext>
            </a:extLst>
          </p:cNvPr>
          <p:cNvSpPr/>
          <p:nvPr/>
        </p:nvSpPr>
        <p:spPr>
          <a:xfrm>
            <a:off x="941339" y="1432587"/>
            <a:ext cx="390144" cy="390144"/>
          </a:xfrm>
          <a:prstGeom prst="rect">
            <a:avLst/>
          </a:prstGeom>
          <a:noFill/>
          <a:ln/>
        </p:spPr>
        <p:txBody>
          <a:bodyPr wrap="square" lIns="0" tIns="0" rIns="0" bIns="0" rtlCol="0" anchor="ctr"/>
          <a:lstStyle/>
          <a:p>
            <a:pPr algn="ctr"/>
            <a:r>
              <a:rPr lang="en-US" sz="1600" b="1">
                <a:solidFill>
                  <a:schemeClr val="accent3">
                    <a:lumMod val="20000"/>
                    <a:lumOff val="80000"/>
                  </a:schemeClr>
                </a:solidFill>
                <a:latin typeface="Calibri" pitchFamily="34" charset="0"/>
                <a:ea typeface="Calibri" pitchFamily="34" charset="-122"/>
                <a:cs typeface="Calibri" pitchFamily="34" charset="-120"/>
              </a:rPr>
              <a:t>1</a:t>
            </a:r>
            <a:endParaRPr lang="en-US" sz="1600">
              <a:solidFill>
                <a:schemeClr val="accent3">
                  <a:lumMod val="20000"/>
                  <a:lumOff val="80000"/>
                </a:schemeClr>
              </a:solidFill>
            </a:endParaRPr>
          </a:p>
        </p:txBody>
      </p:sp>
      <p:sp>
        <p:nvSpPr>
          <p:cNvPr id="238" name="Shape 11">
            <a:extLst>
              <a:ext uri="{FF2B5EF4-FFF2-40B4-BE49-F238E27FC236}">
                <a16:creationId xmlns:a16="http://schemas.microsoft.com/office/drawing/2014/main" id="{541CDDF2-936A-13F9-87F6-C7D55330F1AA}"/>
              </a:ext>
            </a:extLst>
          </p:cNvPr>
          <p:cNvSpPr/>
          <p:nvPr/>
        </p:nvSpPr>
        <p:spPr>
          <a:xfrm>
            <a:off x="758459" y="1286283"/>
            <a:ext cx="2560320" cy="0"/>
          </a:xfrm>
          <a:prstGeom prst="line">
            <a:avLst/>
          </a:prstGeom>
          <a:noFill/>
          <a:ln w="50800">
            <a:solidFill>
              <a:srgbClr val="40916C"/>
            </a:solidFill>
            <a:prstDash val="solid"/>
          </a:ln>
        </p:spPr>
        <p:txBody>
          <a:bodyPr/>
          <a:lstStyle/>
          <a:p>
            <a:endParaRPr lang="en-US" sz="2400">
              <a:solidFill>
                <a:schemeClr val="tx2"/>
              </a:solidFill>
            </a:endParaRPr>
          </a:p>
        </p:txBody>
      </p:sp>
      <p:sp>
        <p:nvSpPr>
          <p:cNvPr id="239" name="Shape 12">
            <a:extLst>
              <a:ext uri="{FF2B5EF4-FFF2-40B4-BE49-F238E27FC236}">
                <a16:creationId xmlns:a16="http://schemas.microsoft.com/office/drawing/2014/main" id="{974436BE-4705-AA27-B16E-4D61DDF838B6}"/>
              </a:ext>
            </a:extLst>
          </p:cNvPr>
          <p:cNvSpPr/>
          <p:nvPr/>
        </p:nvSpPr>
        <p:spPr>
          <a:xfrm>
            <a:off x="3465083" y="1286282"/>
            <a:ext cx="2560320" cy="4450075"/>
          </a:xfrm>
          <a:prstGeom prst="rect">
            <a:avLst/>
          </a:prstGeom>
          <a:solidFill>
            <a:schemeClr val="accent1">
              <a:lumMod val="40000"/>
              <a:lumOff val="60000"/>
            </a:schemeClr>
          </a:solidFill>
          <a:ln w="12700">
            <a:solidFill>
              <a:srgbClr val="40916C"/>
            </a:solidFill>
            <a:prstDash val="solid"/>
          </a:ln>
        </p:spPr>
        <p:txBody>
          <a:bodyPr/>
          <a:lstStyle/>
          <a:p>
            <a:endParaRPr lang="en-US" sz="2400">
              <a:solidFill>
                <a:schemeClr val="tx2"/>
              </a:solidFill>
            </a:endParaRPr>
          </a:p>
        </p:txBody>
      </p:sp>
      <p:sp>
        <p:nvSpPr>
          <p:cNvPr id="240" name="Shape 13">
            <a:extLst>
              <a:ext uri="{FF2B5EF4-FFF2-40B4-BE49-F238E27FC236}">
                <a16:creationId xmlns:a16="http://schemas.microsoft.com/office/drawing/2014/main" id="{85ECB61D-C3BB-57EE-8BDB-C7E69A56680C}"/>
              </a:ext>
            </a:extLst>
          </p:cNvPr>
          <p:cNvSpPr/>
          <p:nvPr/>
        </p:nvSpPr>
        <p:spPr>
          <a:xfrm>
            <a:off x="3647963" y="1432587"/>
            <a:ext cx="390144" cy="390144"/>
          </a:xfrm>
          <a:prstGeom prst="ellipse">
            <a:avLst/>
          </a:prstGeom>
          <a:solidFill>
            <a:srgbClr val="2D6A4F"/>
          </a:solidFill>
          <a:ln/>
        </p:spPr>
        <p:txBody>
          <a:bodyPr/>
          <a:lstStyle/>
          <a:p>
            <a:endParaRPr lang="en-US" sz="2400">
              <a:solidFill>
                <a:schemeClr val="accent3">
                  <a:lumMod val="20000"/>
                  <a:lumOff val="80000"/>
                </a:schemeClr>
              </a:solidFill>
            </a:endParaRPr>
          </a:p>
        </p:txBody>
      </p:sp>
      <p:sp>
        <p:nvSpPr>
          <p:cNvPr id="241" name="Text 14">
            <a:extLst>
              <a:ext uri="{FF2B5EF4-FFF2-40B4-BE49-F238E27FC236}">
                <a16:creationId xmlns:a16="http://schemas.microsoft.com/office/drawing/2014/main" id="{217929DE-99FC-CCDB-5B34-C709FD4FB07D}"/>
              </a:ext>
            </a:extLst>
          </p:cNvPr>
          <p:cNvSpPr/>
          <p:nvPr/>
        </p:nvSpPr>
        <p:spPr>
          <a:xfrm>
            <a:off x="3647963" y="1432587"/>
            <a:ext cx="390144" cy="390144"/>
          </a:xfrm>
          <a:prstGeom prst="rect">
            <a:avLst/>
          </a:prstGeom>
          <a:noFill/>
          <a:ln/>
        </p:spPr>
        <p:txBody>
          <a:bodyPr wrap="square" lIns="0" tIns="0" rIns="0" bIns="0" rtlCol="0" anchor="ctr"/>
          <a:lstStyle/>
          <a:p>
            <a:pPr algn="ctr"/>
            <a:r>
              <a:rPr lang="en-US" sz="1600" b="1">
                <a:solidFill>
                  <a:schemeClr val="accent3">
                    <a:lumMod val="20000"/>
                    <a:lumOff val="80000"/>
                  </a:schemeClr>
                </a:solidFill>
                <a:latin typeface="Calibri" pitchFamily="34" charset="0"/>
                <a:ea typeface="Calibri" pitchFamily="34" charset="-122"/>
                <a:cs typeface="Calibri" pitchFamily="34" charset="-120"/>
              </a:rPr>
              <a:t>2</a:t>
            </a:r>
            <a:endParaRPr lang="en-US" sz="1600">
              <a:solidFill>
                <a:schemeClr val="accent3">
                  <a:lumMod val="20000"/>
                  <a:lumOff val="80000"/>
                </a:schemeClr>
              </a:solidFill>
            </a:endParaRPr>
          </a:p>
        </p:txBody>
      </p:sp>
      <p:sp>
        <p:nvSpPr>
          <p:cNvPr id="242" name="Shape 15">
            <a:extLst>
              <a:ext uri="{FF2B5EF4-FFF2-40B4-BE49-F238E27FC236}">
                <a16:creationId xmlns:a16="http://schemas.microsoft.com/office/drawing/2014/main" id="{81965B2F-FD95-B3FD-6011-BB9D84EFDC6B}"/>
              </a:ext>
            </a:extLst>
          </p:cNvPr>
          <p:cNvSpPr/>
          <p:nvPr/>
        </p:nvSpPr>
        <p:spPr>
          <a:xfrm>
            <a:off x="3465083" y="1286283"/>
            <a:ext cx="2560320" cy="0"/>
          </a:xfrm>
          <a:prstGeom prst="line">
            <a:avLst/>
          </a:prstGeom>
          <a:noFill/>
          <a:ln w="50800">
            <a:solidFill>
              <a:srgbClr val="40916C"/>
            </a:solidFill>
            <a:prstDash val="solid"/>
          </a:ln>
        </p:spPr>
        <p:txBody>
          <a:bodyPr/>
          <a:lstStyle/>
          <a:p>
            <a:endParaRPr lang="en-US" sz="2400">
              <a:solidFill>
                <a:schemeClr val="tx2"/>
              </a:solidFill>
            </a:endParaRPr>
          </a:p>
        </p:txBody>
      </p:sp>
      <p:sp>
        <p:nvSpPr>
          <p:cNvPr id="243" name="Shape 16">
            <a:extLst>
              <a:ext uri="{FF2B5EF4-FFF2-40B4-BE49-F238E27FC236}">
                <a16:creationId xmlns:a16="http://schemas.microsoft.com/office/drawing/2014/main" id="{67595139-712C-281C-1EC7-8CB16C859B74}"/>
              </a:ext>
            </a:extLst>
          </p:cNvPr>
          <p:cNvSpPr/>
          <p:nvPr/>
        </p:nvSpPr>
        <p:spPr>
          <a:xfrm>
            <a:off x="6171707" y="1286282"/>
            <a:ext cx="2560320" cy="4450073"/>
          </a:xfrm>
          <a:prstGeom prst="rect">
            <a:avLst/>
          </a:prstGeom>
          <a:solidFill>
            <a:schemeClr val="accent3">
              <a:lumMod val="20000"/>
              <a:lumOff val="80000"/>
            </a:schemeClr>
          </a:solidFill>
          <a:ln w="6350">
            <a:solidFill>
              <a:srgbClr val="2A4D38"/>
            </a:solidFill>
            <a:prstDash val="solid"/>
          </a:ln>
        </p:spPr>
        <p:txBody>
          <a:bodyPr/>
          <a:lstStyle/>
          <a:p>
            <a:endParaRPr lang="en-US" sz="2400">
              <a:solidFill>
                <a:schemeClr val="tx2"/>
              </a:solidFill>
            </a:endParaRPr>
          </a:p>
        </p:txBody>
      </p:sp>
      <p:sp>
        <p:nvSpPr>
          <p:cNvPr id="244" name="Shape 17">
            <a:extLst>
              <a:ext uri="{FF2B5EF4-FFF2-40B4-BE49-F238E27FC236}">
                <a16:creationId xmlns:a16="http://schemas.microsoft.com/office/drawing/2014/main" id="{B575BBF2-57A0-47D2-17F7-34CC12EE615F}"/>
              </a:ext>
            </a:extLst>
          </p:cNvPr>
          <p:cNvSpPr/>
          <p:nvPr/>
        </p:nvSpPr>
        <p:spPr>
          <a:xfrm>
            <a:off x="6354587" y="1432587"/>
            <a:ext cx="390144" cy="390144"/>
          </a:xfrm>
          <a:prstGeom prst="ellipse">
            <a:avLst/>
          </a:prstGeom>
          <a:solidFill>
            <a:srgbClr val="5A7A5E"/>
          </a:solidFill>
          <a:ln/>
        </p:spPr>
        <p:txBody>
          <a:bodyPr/>
          <a:lstStyle/>
          <a:p>
            <a:endParaRPr lang="en-US" sz="2400">
              <a:solidFill>
                <a:schemeClr val="accent3">
                  <a:lumMod val="20000"/>
                  <a:lumOff val="80000"/>
                </a:schemeClr>
              </a:solidFill>
            </a:endParaRPr>
          </a:p>
        </p:txBody>
      </p:sp>
      <p:sp>
        <p:nvSpPr>
          <p:cNvPr id="245" name="Text 18">
            <a:extLst>
              <a:ext uri="{FF2B5EF4-FFF2-40B4-BE49-F238E27FC236}">
                <a16:creationId xmlns:a16="http://schemas.microsoft.com/office/drawing/2014/main" id="{343AE9DC-071A-56AE-1493-10ED7BD7F2FF}"/>
              </a:ext>
            </a:extLst>
          </p:cNvPr>
          <p:cNvSpPr/>
          <p:nvPr/>
        </p:nvSpPr>
        <p:spPr>
          <a:xfrm>
            <a:off x="6354587" y="1432587"/>
            <a:ext cx="390144" cy="390144"/>
          </a:xfrm>
          <a:prstGeom prst="rect">
            <a:avLst/>
          </a:prstGeom>
          <a:noFill/>
          <a:ln/>
        </p:spPr>
        <p:txBody>
          <a:bodyPr wrap="square" lIns="0" tIns="0" rIns="0" bIns="0" rtlCol="0" anchor="ctr"/>
          <a:lstStyle/>
          <a:p>
            <a:pPr algn="ctr"/>
            <a:r>
              <a:rPr lang="en-US" sz="1600" b="1">
                <a:solidFill>
                  <a:schemeClr val="accent3">
                    <a:lumMod val="20000"/>
                    <a:lumOff val="80000"/>
                  </a:schemeClr>
                </a:solidFill>
                <a:latin typeface="Calibri" pitchFamily="34" charset="0"/>
                <a:ea typeface="Calibri" pitchFamily="34" charset="-122"/>
                <a:cs typeface="Calibri" pitchFamily="34" charset="-120"/>
              </a:rPr>
              <a:t>3</a:t>
            </a:r>
            <a:endParaRPr lang="en-US" sz="1600">
              <a:solidFill>
                <a:schemeClr val="accent3">
                  <a:lumMod val="20000"/>
                  <a:lumOff val="80000"/>
                </a:schemeClr>
              </a:solidFill>
            </a:endParaRPr>
          </a:p>
        </p:txBody>
      </p:sp>
      <p:sp>
        <p:nvSpPr>
          <p:cNvPr id="246" name="Shape 19">
            <a:extLst>
              <a:ext uri="{FF2B5EF4-FFF2-40B4-BE49-F238E27FC236}">
                <a16:creationId xmlns:a16="http://schemas.microsoft.com/office/drawing/2014/main" id="{802C657B-6B01-C054-EC78-49744C340AC3}"/>
              </a:ext>
            </a:extLst>
          </p:cNvPr>
          <p:cNvSpPr/>
          <p:nvPr/>
        </p:nvSpPr>
        <p:spPr>
          <a:xfrm>
            <a:off x="6171707" y="1286283"/>
            <a:ext cx="2560320" cy="0"/>
          </a:xfrm>
          <a:prstGeom prst="line">
            <a:avLst/>
          </a:prstGeom>
          <a:noFill/>
          <a:ln w="31750">
            <a:solidFill>
              <a:srgbClr val="7A9A7E"/>
            </a:solidFill>
            <a:prstDash val="solid"/>
          </a:ln>
        </p:spPr>
        <p:txBody>
          <a:bodyPr/>
          <a:lstStyle/>
          <a:p>
            <a:endParaRPr lang="en-US" sz="2400">
              <a:solidFill>
                <a:schemeClr val="tx2"/>
              </a:solidFill>
            </a:endParaRPr>
          </a:p>
        </p:txBody>
      </p:sp>
      <p:sp>
        <p:nvSpPr>
          <p:cNvPr id="247" name="Shape 20">
            <a:extLst>
              <a:ext uri="{FF2B5EF4-FFF2-40B4-BE49-F238E27FC236}">
                <a16:creationId xmlns:a16="http://schemas.microsoft.com/office/drawing/2014/main" id="{A5275FD7-D8EA-9ABD-0145-C156BBD38CA9}"/>
              </a:ext>
            </a:extLst>
          </p:cNvPr>
          <p:cNvSpPr/>
          <p:nvPr/>
        </p:nvSpPr>
        <p:spPr>
          <a:xfrm>
            <a:off x="8878331" y="1286282"/>
            <a:ext cx="2560320" cy="4450069"/>
          </a:xfrm>
          <a:prstGeom prst="rect">
            <a:avLst/>
          </a:prstGeom>
          <a:solidFill>
            <a:schemeClr val="accent3">
              <a:lumMod val="20000"/>
              <a:lumOff val="80000"/>
            </a:schemeClr>
          </a:solidFill>
          <a:ln w="6350">
            <a:solidFill>
              <a:srgbClr val="2A4D38"/>
            </a:solidFill>
            <a:prstDash val="solid"/>
          </a:ln>
        </p:spPr>
        <p:txBody>
          <a:bodyPr/>
          <a:lstStyle/>
          <a:p>
            <a:endParaRPr lang="en-US" sz="2400">
              <a:solidFill>
                <a:schemeClr val="tx2"/>
              </a:solidFill>
            </a:endParaRPr>
          </a:p>
        </p:txBody>
      </p:sp>
      <p:sp>
        <p:nvSpPr>
          <p:cNvPr id="248" name="Shape 21">
            <a:extLst>
              <a:ext uri="{FF2B5EF4-FFF2-40B4-BE49-F238E27FC236}">
                <a16:creationId xmlns:a16="http://schemas.microsoft.com/office/drawing/2014/main" id="{60B8189D-29FF-CAA2-5F94-811CFC044919}"/>
              </a:ext>
            </a:extLst>
          </p:cNvPr>
          <p:cNvSpPr/>
          <p:nvPr/>
        </p:nvSpPr>
        <p:spPr>
          <a:xfrm>
            <a:off x="9061211" y="1432587"/>
            <a:ext cx="390144" cy="390144"/>
          </a:xfrm>
          <a:prstGeom prst="ellipse">
            <a:avLst/>
          </a:prstGeom>
          <a:solidFill>
            <a:srgbClr val="5A7A5E"/>
          </a:solidFill>
          <a:ln/>
        </p:spPr>
        <p:txBody>
          <a:bodyPr/>
          <a:lstStyle/>
          <a:p>
            <a:endParaRPr lang="en-US" sz="2400">
              <a:solidFill>
                <a:schemeClr val="accent3">
                  <a:lumMod val="20000"/>
                  <a:lumOff val="80000"/>
                </a:schemeClr>
              </a:solidFill>
            </a:endParaRPr>
          </a:p>
        </p:txBody>
      </p:sp>
      <p:sp>
        <p:nvSpPr>
          <p:cNvPr id="249" name="Text 22">
            <a:extLst>
              <a:ext uri="{FF2B5EF4-FFF2-40B4-BE49-F238E27FC236}">
                <a16:creationId xmlns:a16="http://schemas.microsoft.com/office/drawing/2014/main" id="{8EF815CA-87BF-0F83-C0DA-4063D473FC85}"/>
              </a:ext>
            </a:extLst>
          </p:cNvPr>
          <p:cNvSpPr/>
          <p:nvPr/>
        </p:nvSpPr>
        <p:spPr>
          <a:xfrm>
            <a:off x="9061211" y="1432587"/>
            <a:ext cx="390144" cy="390144"/>
          </a:xfrm>
          <a:prstGeom prst="rect">
            <a:avLst/>
          </a:prstGeom>
          <a:noFill/>
          <a:ln/>
        </p:spPr>
        <p:txBody>
          <a:bodyPr wrap="square" lIns="0" tIns="0" rIns="0" bIns="0" rtlCol="0" anchor="ctr"/>
          <a:lstStyle/>
          <a:p>
            <a:pPr algn="ctr"/>
            <a:r>
              <a:rPr lang="en-US" sz="1600" b="1">
                <a:solidFill>
                  <a:schemeClr val="accent3">
                    <a:lumMod val="20000"/>
                    <a:lumOff val="80000"/>
                  </a:schemeClr>
                </a:solidFill>
                <a:latin typeface="Calibri" pitchFamily="34" charset="0"/>
                <a:ea typeface="Calibri" pitchFamily="34" charset="-122"/>
                <a:cs typeface="Calibri" pitchFamily="34" charset="-120"/>
              </a:rPr>
              <a:t>4</a:t>
            </a:r>
            <a:endParaRPr lang="en-US" sz="1600">
              <a:solidFill>
                <a:schemeClr val="accent3">
                  <a:lumMod val="20000"/>
                  <a:lumOff val="80000"/>
                </a:schemeClr>
              </a:solidFill>
            </a:endParaRPr>
          </a:p>
        </p:txBody>
      </p:sp>
      <p:sp>
        <p:nvSpPr>
          <p:cNvPr id="250" name="Shape 23">
            <a:extLst>
              <a:ext uri="{FF2B5EF4-FFF2-40B4-BE49-F238E27FC236}">
                <a16:creationId xmlns:a16="http://schemas.microsoft.com/office/drawing/2014/main" id="{18B95461-C56F-1D07-53AB-48CF75551026}"/>
              </a:ext>
            </a:extLst>
          </p:cNvPr>
          <p:cNvSpPr/>
          <p:nvPr/>
        </p:nvSpPr>
        <p:spPr>
          <a:xfrm>
            <a:off x="8878331" y="1286283"/>
            <a:ext cx="2560320" cy="0"/>
          </a:xfrm>
          <a:prstGeom prst="line">
            <a:avLst/>
          </a:prstGeom>
          <a:noFill/>
          <a:ln w="31750">
            <a:solidFill>
              <a:srgbClr val="7A9A7E"/>
            </a:solidFill>
            <a:prstDash val="solid"/>
          </a:ln>
        </p:spPr>
        <p:txBody>
          <a:bodyPr/>
          <a:lstStyle/>
          <a:p>
            <a:endParaRPr lang="en-US" sz="2400">
              <a:solidFill>
                <a:schemeClr val="tx2"/>
              </a:solidFill>
            </a:endParaRPr>
          </a:p>
        </p:txBody>
      </p:sp>
      <p:sp>
        <p:nvSpPr>
          <p:cNvPr id="251" name="Text 24">
            <a:extLst>
              <a:ext uri="{FF2B5EF4-FFF2-40B4-BE49-F238E27FC236}">
                <a16:creationId xmlns:a16="http://schemas.microsoft.com/office/drawing/2014/main" id="{16584D5B-52A5-9A6B-E609-9549E26C0648}"/>
              </a:ext>
            </a:extLst>
          </p:cNvPr>
          <p:cNvSpPr/>
          <p:nvPr/>
        </p:nvSpPr>
        <p:spPr>
          <a:xfrm>
            <a:off x="880379" y="1895883"/>
            <a:ext cx="2316480" cy="487680"/>
          </a:xfrm>
          <a:prstGeom prst="rect">
            <a:avLst/>
          </a:prstGeom>
          <a:noFill/>
          <a:ln/>
        </p:spPr>
        <p:txBody>
          <a:bodyPr wrap="square" lIns="0" tIns="0" rIns="0" bIns="0" rtlCol="0" anchor="ctr"/>
          <a:lstStyle/>
          <a:p>
            <a:r>
              <a:rPr lang="en-US" sz="1400" b="1">
                <a:solidFill>
                  <a:schemeClr val="tx2"/>
                </a:solidFill>
                <a:latin typeface="Calibri" pitchFamily="34" charset="0"/>
                <a:ea typeface="Calibri" pitchFamily="34" charset="-122"/>
                <a:cs typeface="Calibri" pitchFamily="34" charset="-120"/>
              </a:rPr>
              <a:t>THE ENTRY</a:t>
            </a:r>
            <a:endParaRPr lang="en-US" sz="1400">
              <a:solidFill>
                <a:schemeClr val="tx2"/>
              </a:solidFill>
            </a:endParaRPr>
          </a:p>
          <a:p>
            <a:r>
              <a:rPr lang="en-US" sz="1400" b="1">
                <a:solidFill>
                  <a:schemeClr val="tx2"/>
                </a:solidFill>
                <a:latin typeface="Calibri" pitchFamily="34" charset="0"/>
                <a:ea typeface="Calibri" pitchFamily="34" charset="-122"/>
                <a:cs typeface="Calibri" pitchFamily="34" charset="-120"/>
              </a:rPr>
              <a:t>OPPORTUNITY</a:t>
            </a:r>
            <a:endParaRPr lang="en-US" sz="1400">
              <a:solidFill>
                <a:schemeClr val="tx2"/>
              </a:solidFill>
            </a:endParaRPr>
          </a:p>
        </p:txBody>
      </p:sp>
      <p:sp>
        <p:nvSpPr>
          <p:cNvPr id="252" name="Text 25">
            <a:extLst>
              <a:ext uri="{FF2B5EF4-FFF2-40B4-BE49-F238E27FC236}">
                <a16:creationId xmlns:a16="http://schemas.microsoft.com/office/drawing/2014/main" id="{FE6D2B5A-48BD-A1E4-0381-0521775AFD86}"/>
              </a:ext>
            </a:extLst>
          </p:cNvPr>
          <p:cNvSpPr/>
          <p:nvPr/>
        </p:nvSpPr>
        <p:spPr>
          <a:xfrm>
            <a:off x="825515" y="2614651"/>
            <a:ext cx="2316480" cy="853440"/>
          </a:xfrm>
          <a:prstGeom prst="rect">
            <a:avLst/>
          </a:prstGeom>
          <a:noFill/>
          <a:ln/>
        </p:spPr>
        <p:txBody>
          <a:bodyPr wrap="square" lIns="0" tIns="0" rIns="0" bIns="0" rtlCol="0" anchor="ctr"/>
          <a:lstStyle/>
          <a:p>
            <a:pPr algn="ctr"/>
            <a:r>
              <a:rPr lang="en-US" sz="1867" b="1">
                <a:solidFill>
                  <a:schemeClr val="tx2"/>
                </a:solidFill>
                <a:latin typeface="Calibri" pitchFamily="34" charset="0"/>
                <a:ea typeface="Calibri" pitchFamily="34" charset="-122"/>
                <a:cs typeface="Calibri" pitchFamily="34" charset="-120"/>
              </a:rPr>
              <a:t>Underperformance</a:t>
            </a:r>
            <a:endParaRPr lang="en-US" sz="1867">
              <a:solidFill>
                <a:schemeClr val="tx2"/>
              </a:solidFill>
            </a:endParaRPr>
          </a:p>
          <a:p>
            <a:pPr algn="ctr"/>
            <a:r>
              <a:rPr lang="en-US" sz="1867" b="1">
                <a:solidFill>
                  <a:schemeClr val="tx2"/>
                </a:solidFill>
                <a:latin typeface="Calibri" pitchFamily="34" charset="0"/>
                <a:ea typeface="Calibri" pitchFamily="34" charset="-122"/>
                <a:cs typeface="Calibri" pitchFamily="34" charset="-120"/>
              </a:rPr>
              <a:t>vs. end-market</a:t>
            </a:r>
            <a:endParaRPr lang="en-US" sz="1867">
              <a:solidFill>
                <a:schemeClr val="tx2"/>
              </a:solidFill>
            </a:endParaRPr>
          </a:p>
          <a:p>
            <a:pPr algn="ctr"/>
            <a:r>
              <a:rPr lang="en-US" sz="1867" b="1">
                <a:solidFill>
                  <a:schemeClr val="tx2"/>
                </a:solidFill>
                <a:latin typeface="Calibri" pitchFamily="34" charset="0"/>
                <a:ea typeface="Calibri" pitchFamily="34" charset="-122"/>
                <a:cs typeface="Calibri" pitchFamily="34" charset="-120"/>
              </a:rPr>
              <a:t>growth creates</a:t>
            </a:r>
            <a:endParaRPr lang="en-US" sz="1867">
              <a:solidFill>
                <a:schemeClr val="tx2"/>
              </a:solidFill>
            </a:endParaRPr>
          </a:p>
          <a:p>
            <a:pPr algn="ctr"/>
            <a:r>
              <a:rPr lang="en-US" sz="1867" b="1">
                <a:solidFill>
                  <a:schemeClr val="tx2"/>
                </a:solidFill>
                <a:latin typeface="Calibri" pitchFamily="34" charset="0"/>
                <a:ea typeface="Calibri" pitchFamily="34" charset="-122"/>
                <a:cs typeface="Calibri" pitchFamily="34" charset="-120"/>
              </a:rPr>
              <a:t>entry opportunity</a:t>
            </a:r>
            <a:endParaRPr lang="en-US" sz="1867">
              <a:solidFill>
                <a:schemeClr val="tx2"/>
              </a:solidFill>
            </a:endParaRPr>
          </a:p>
        </p:txBody>
      </p:sp>
      <p:sp>
        <p:nvSpPr>
          <p:cNvPr id="253" name="Text 26">
            <a:extLst>
              <a:ext uri="{FF2B5EF4-FFF2-40B4-BE49-F238E27FC236}">
                <a16:creationId xmlns:a16="http://schemas.microsoft.com/office/drawing/2014/main" id="{A63E4A8E-F247-F062-3983-A0E99E68575A}"/>
              </a:ext>
            </a:extLst>
          </p:cNvPr>
          <p:cNvSpPr/>
          <p:nvPr/>
        </p:nvSpPr>
        <p:spPr>
          <a:xfrm>
            <a:off x="880379" y="3912771"/>
            <a:ext cx="2316480" cy="1630005"/>
          </a:xfrm>
          <a:prstGeom prst="rect">
            <a:avLst/>
          </a:prstGeom>
          <a:noFill/>
          <a:ln/>
        </p:spPr>
        <p:txBody>
          <a:bodyPr wrap="square" lIns="0" tIns="0" rIns="0" bIns="0" rtlCol="0" anchor="t"/>
          <a:lstStyle/>
          <a:p>
            <a:r>
              <a:rPr lang="en-US" sz="1200">
                <a:solidFill>
                  <a:schemeClr val="tx2"/>
                </a:solidFill>
                <a:latin typeface="Calibri" pitchFamily="34" charset="0"/>
                <a:ea typeface="Calibri" pitchFamily="34" charset="-122"/>
                <a:cs typeface="Calibri" pitchFamily="34" charset="-120"/>
              </a:rPr>
              <a:t>Founder-led LMM businesses frequently grow below their end markets due to structural constraints; key-man dependency, capacity limits, and informal go-to-market. Creating a persistent gap relative to end-market growth.</a:t>
            </a:r>
            <a:endParaRPr lang="en-US" sz="1200">
              <a:solidFill>
                <a:schemeClr val="tx2"/>
              </a:solidFill>
            </a:endParaRPr>
          </a:p>
        </p:txBody>
      </p:sp>
      <p:sp>
        <p:nvSpPr>
          <p:cNvPr id="254" name="Text 28">
            <a:extLst>
              <a:ext uri="{FF2B5EF4-FFF2-40B4-BE49-F238E27FC236}">
                <a16:creationId xmlns:a16="http://schemas.microsoft.com/office/drawing/2014/main" id="{2D3E9E7B-CD09-CB8E-332F-586ABB11448C}"/>
              </a:ext>
            </a:extLst>
          </p:cNvPr>
          <p:cNvSpPr/>
          <p:nvPr/>
        </p:nvSpPr>
        <p:spPr>
          <a:xfrm>
            <a:off x="3587003" y="1895883"/>
            <a:ext cx="2316480" cy="487680"/>
          </a:xfrm>
          <a:prstGeom prst="rect">
            <a:avLst/>
          </a:prstGeom>
          <a:noFill/>
          <a:ln/>
        </p:spPr>
        <p:txBody>
          <a:bodyPr wrap="square" lIns="0" tIns="0" rIns="0" bIns="0" rtlCol="0" anchor="ctr"/>
          <a:lstStyle/>
          <a:p>
            <a:r>
              <a:rPr lang="en-US" sz="1400" b="1">
                <a:solidFill>
                  <a:schemeClr val="tx2"/>
                </a:solidFill>
                <a:latin typeface="Calibri" pitchFamily="34" charset="0"/>
                <a:ea typeface="Calibri" pitchFamily="34" charset="-122"/>
                <a:cs typeface="Calibri" pitchFamily="34" charset="-120"/>
              </a:rPr>
              <a:t>OPERATIONAL</a:t>
            </a:r>
            <a:endParaRPr lang="en-US" sz="1400">
              <a:solidFill>
                <a:schemeClr val="tx2"/>
              </a:solidFill>
            </a:endParaRPr>
          </a:p>
          <a:p>
            <a:r>
              <a:rPr lang="en-US" sz="1400" b="1">
                <a:solidFill>
                  <a:schemeClr val="tx2"/>
                </a:solidFill>
                <a:latin typeface="Calibri" pitchFamily="34" charset="0"/>
                <a:ea typeface="Calibri" pitchFamily="34" charset="-122"/>
                <a:cs typeface="Calibri" pitchFamily="34" charset="-120"/>
              </a:rPr>
              <a:t>UPLIFT</a:t>
            </a:r>
            <a:endParaRPr lang="en-US" sz="1400">
              <a:solidFill>
                <a:schemeClr val="tx2"/>
              </a:solidFill>
            </a:endParaRPr>
          </a:p>
        </p:txBody>
      </p:sp>
      <p:sp>
        <p:nvSpPr>
          <p:cNvPr id="255" name="Text 29">
            <a:extLst>
              <a:ext uri="{FF2B5EF4-FFF2-40B4-BE49-F238E27FC236}">
                <a16:creationId xmlns:a16="http://schemas.microsoft.com/office/drawing/2014/main" id="{F0AC6118-C7A8-A404-86C7-44016C243EC0}"/>
              </a:ext>
            </a:extLst>
          </p:cNvPr>
          <p:cNvSpPr/>
          <p:nvPr/>
        </p:nvSpPr>
        <p:spPr>
          <a:xfrm>
            <a:off x="3587003" y="2578075"/>
            <a:ext cx="2316480" cy="487680"/>
          </a:xfrm>
          <a:prstGeom prst="rect">
            <a:avLst/>
          </a:prstGeom>
          <a:noFill/>
          <a:ln/>
        </p:spPr>
        <p:txBody>
          <a:bodyPr wrap="square" lIns="0" tIns="0" rIns="0" bIns="0" rtlCol="0" anchor="ctr"/>
          <a:lstStyle/>
          <a:p>
            <a:pPr algn="ctr"/>
            <a:r>
              <a:rPr lang="en-US" sz="3200" b="1">
                <a:solidFill>
                  <a:schemeClr val="tx2"/>
                </a:solidFill>
                <a:latin typeface="Calibri" pitchFamily="34" charset="0"/>
                <a:ea typeface="Calibri" pitchFamily="34" charset="-122"/>
                <a:cs typeface="Calibri" pitchFamily="34" charset="-120"/>
              </a:rPr>
              <a:t>200–400</a:t>
            </a:r>
            <a:endParaRPr lang="en-US" sz="3200">
              <a:solidFill>
                <a:schemeClr val="tx2"/>
              </a:solidFill>
            </a:endParaRPr>
          </a:p>
        </p:txBody>
      </p:sp>
      <p:sp>
        <p:nvSpPr>
          <p:cNvPr id="256" name="Text 30">
            <a:extLst>
              <a:ext uri="{FF2B5EF4-FFF2-40B4-BE49-F238E27FC236}">
                <a16:creationId xmlns:a16="http://schemas.microsoft.com/office/drawing/2014/main" id="{E7258A07-2E91-4582-C624-EC9DF458A050}"/>
              </a:ext>
            </a:extLst>
          </p:cNvPr>
          <p:cNvSpPr/>
          <p:nvPr/>
        </p:nvSpPr>
        <p:spPr>
          <a:xfrm>
            <a:off x="3587003" y="3041371"/>
            <a:ext cx="2316480" cy="243840"/>
          </a:xfrm>
          <a:prstGeom prst="rect">
            <a:avLst/>
          </a:prstGeom>
          <a:noFill/>
          <a:ln/>
        </p:spPr>
        <p:txBody>
          <a:bodyPr wrap="square" lIns="0" tIns="0" rIns="0" bIns="0" rtlCol="0" anchor="ctr"/>
          <a:lstStyle/>
          <a:p>
            <a:pPr algn="ctr"/>
            <a:r>
              <a:rPr lang="en-US" sz="1067" i="1">
                <a:solidFill>
                  <a:schemeClr val="tx2"/>
                </a:solidFill>
                <a:latin typeface="Calibri" pitchFamily="34" charset="0"/>
                <a:ea typeface="Calibri" pitchFamily="34" charset="-122"/>
                <a:cs typeface="Calibri" pitchFamily="34" charset="-120"/>
              </a:rPr>
              <a:t>bps EBITDA margin expansion</a:t>
            </a:r>
            <a:endParaRPr lang="en-US" sz="1067">
              <a:solidFill>
                <a:schemeClr val="tx2"/>
              </a:solidFill>
            </a:endParaRPr>
          </a:p>
        </p:txBody>
      </p:sp>
      <p:sp>
        <p:nvSpPr>
          <p:cNvPr id="257" name="Text 31">
            <a:extLst>
              <a:ext uri="{FF2B5EF4-FFF2-40B4-BE49-F238E27FC236}">
                <a16:creationId xmlns:a16="http://schemas.microsoft.com/office/drawing/2014/main" id="{3D0BD739-2B9D-C52A-18A3-F613B9990424}"/>
              </a:ext>
            </a:extLst>
          </p:cNvPr>
          <p:cNvSpPr/>
          <p:nvPr/>
        </p:nvSpPr>
        <p:spPr>
          <a:xfrm>
            <a:off x="3587003" y="3894914"/>
            <a:ext cx="2316480" cy="595743"/>
          </a:xfrm>
          <a:prstGeom prst="rect">
            <a:avLst/>
          </a:prstGeom>
          <a:noFill/>
          <a:ln/>
        </p:spPr>
        <p:txBody>
          <a:bodyPr wrap="square" lIns="0" tIns="0" rIns="0" bIns="0" rtlCol="0" anchor="ctr"/>
          <a:lstStyle/>
          <a:p>
            <a:r>
              <a:rPr lang="en-US" sz="1200"/>
              <a:t>Improvement is underwritten per investment based on the opportunity set</a:t>
            </a:r>
            <a:r>
              <a:rPr lang="en-US" sz="1200" i="1">
                <a:solidFill>
                  <a:schemeClr val="tx2"/>
                </a:solidFill>
                <a:latin typeface="Calibri" pitchFamily="34" charset="0"/>
                <a:ea typeface="Calibri" pitchFamily="34" charset="-122"/>
                <a:cs typeface="Calibri" pitchFamily="34" charset="-120"/>
              </a:rPr>
              <a:t>.</a:t>
            </a:r>
            <a:endParaRPr lang="en-US" sz="1200">
              <a:solidFill>
                <a:schemeClr val="tx2"/>
              </a:solidFill>
            </a:endParaRPr>
          </a:p>
        </p:txBody>
      </p:sp>
      <p:sp>
        <p:nvSpPr>
          <p:cNvPr id="258" name="Text 32">
            <a:extLst>
              <a:ext uri="{FF2B5EF4-FFF2-40B4-BE49-F238E27FC236}">
                <a16:creationId xmlns:a16="http://schemas.microsoft.com/office/drawing/2014/main" id="{06CE98D9-D2B5-4C27-A9DE-7E948D377691}"/>
              </a:ext>
            </a:extLst>
          </p:cNvPr>
          <p:cNvSpPr/>
          <p:nvPr/>
        </p:nvSpPr>
        <p:spPr>
          <a:xfrm>
            <a:off x="3587003" y="4631643"/>
            <a:ext cx="2316480" cy="1183435"/>
          </a:xfrm>
          <a:prstGeom prst="rect">
            <a:avLst/>
          </a:prstGeom>
          <a:noFill/>
          <a:ln/>
        </p:spPr>
        <p:txBody>
          <a:bodyPr wrap="square" lIns="0" tIns="0" rIns="0" bIns="0" rtlCol="0" anchor="t"/>
          <a:lstStyle/>
          <a:p>
            <a:r>
              <a:rPr lang="en-US" sz="1200">
                <a:solidFill>
                  <a:schemeClr val="tx2"/>
                </a:solidFill>
                <a:latin typeface="Calibri" pitchFamily="34" charset="0"/>
                <a:ea typeface="Calibri" pitchFamily="34" charset="-122"/>
                <a:cs typeface="Calibri" pitchFamily="34" charset="-120"/>
              </a:rPr>
              <a:t>Pricing discipline, capacity utilization, operational efficiency and integration execution drive margin expansion. </a:t>
            </a:r>
            <a:r>
              <a:rPr lang="en-US" sz="1200"/>
              <a:t>Revenue and mix expansion through strategic repositioning further drive EBITDA growth.</a:t>
            </a:r>
            <a:endParaRPr lang="en-US" sz="1200">
              <a:solidFill>
                <a:schemeClr val="tx2"/>
              </a:solidFill>
            </a:endParaRPr>
          </a:p>
        </p:txBody>
      </p:sp>
      <p:sp>
        <p:nvSpPr>
          <p:cNvPr id="259" name="Text 34">
            <a:extLst>
              <a:ext uri="{FF2B5EF4-FFF2-40B4-BE49-F238E27FC236}">
                <a16:creationId xmlns:a16="http://schemas.microsoft.com/office/drawing/2014/main" id="{D385CB29-E302-D1AE-9C9B-3B5DC2409E78}"/>
              </a:ext>
            </a:extLst>
          </p:cNvPr>
          <p:cNvSpPr/>
          <p:nvPr/>
        </p:nvSpPr>
        <p:spPr>
          <a:xfrm>
            <a:off x="6293627" y="1895883"/>
            <a:ext cx="2316480" cy="487680"/>
          </a:xfrm>
          <a:prstGeom prst="rect">
            <a:avLst/>
          </a:prstGeom>
          <a:noFill/>
          <a:ln/>
        </p:spPr>
        <p:txBody>
          <a:bodyPr wrap="square" lIns="0" tIns="0" rIns="0" bIns="0" rtlCol="0" anchor="ctr"/>
          <a:lstStyle/>
          <a:p>
            <a:r>
              <a:rPr lang="en-US" sz="1400" b="1">
                <a:solidFill>
                  <a:schemeClr val="tx2"/>
                </a:solidFill>
                <a:latin typeface="Calibri" pitchFamily="34" charset="0"/>
                <a:ea typeface="Calibri" pitchFamily="34" charset="-122"/>
                <a:cs typeface="Calibri" pitchFamily="34" charset="-120"/>
              </a:rPr>
              <a:t>ADD-ON</a:t>
            </a:r>
            <a:endParaRPr lang="en-US" sz="1400">
              <a:solidFill>
                <a:schemeClr val="tx2"/>
              </a:solidFill>
            </a:endParaRPr>
          </a:p>
          <a:p>
            <a:r>
              <a:rPr lang="en-US" sz="1400" b="1">
                <a:solidFill>
                  <a:schemeClr val="tx2"/>
                </a:solidFill>
                <a:latin typeface="Calibri" pitchFamily="34" charset="0"/>
                <a:ea typeface="Calibri" pitchFamily="34" charset="-122"/>
                <a:cs typeface="Calibri" pitchFamily="34" charset="-120"/>
              </a:rPr>
              <a:t>VELOCITY</a:t>
            </a:r>
            <a:endParaRPr lang="en-US" sz="1400">
              <a:solidFill>
                <a:schemeClr val="tx2"/>
              </a:solidFill>
            </a:endParaRPr>
          </a:p>
        </p:txBody>
      </p:sp>
      <p:sp>
        <p:nvSpPr>
          <p:cNvPr id="260" name="Text 35">
            <a:extLst>
              <a:ext uri="{FF2B5EF4-FFF2-40B4-BE49-F238E27FC236}">
                <a16:creationId xmlns:a16="http://schemas.microsoft.com/office/drawing/2014/main" id="{8641EDB3-B548-4EC1-FE83-48B87205A700}"/>
              </a:ext>
            </a:extLst>
          </p:cNvPr>
          <p:cNvSpPr/>
          <p:nvPr/>
        </p:nvSpPr>
        <p:spPr>
          <a:xfrm>
            <a:off x="6293627" y="2578075"/>
            <a:ext cx="2316480" cy="487680"/>
          </a:xfrm>
          <a:prstGeom prst="rect">
            <a:avLst/>
          </a:prstGeom>
          <a:noFill/>
          <a:ln/>
        </p:spPr>
        <p:txBody>
          <a:bodyPr wrap="square" lIns="0" tIns="0" rIns="0" bIns="0" rtlCol="0" anchor="ctr"/>
          <a:lstStyle/>
          <a:p>
            <a:pPr algn="ctr"/>
            <a:r>
              <a:rPr lang="en-US" sz="3200" b="1">
                <a:solidFill>
                  <a:schemeClr val="tx2"/>
                </a:solidFill>
                <a:latin typeface="Calibri" pitchFamily="34" charset="0"/>
                <a:ea typeface="Calibri" pitchFamily="34" charset="-122"/>
                <a:cs typeface="Calibri" pitchFamily="34" charset="-120"/>
              </a:rPr>
              <a:t>EBITDA Scale</a:t>
            </a:r>
            <a:endParaRPr lang="en-US" sz="3200">
              <a:solidFill>
                <a:schemeClr val="tx2"/>
              </a:solidFill>
            </a:endParaRPr>
          </a:p>
        </p:txBody>
      </p:sp>
      <p:sp>
        <p:nvSpPr>
          <p:cNvPr id="261" name="Text 36">
            <a:extLst>
              <a:ext uri="{FF2B5EF4-FFF2-40B4-BE49-F238E27FC236}">
                <a16:creationId xmlns:a16="http://schemas.microsoft.com/office/drawing/2014/main" id="{2F36F943-BAC3-64E1-C10D-DC1BC5DB2066}"/>
              </a:ext>
            </a:extLst>
          </p:cNvPr>
          <p:cNvSpPr/>
          <p:nvPr/>
        </p:nvSpPr>
        <p:spPr>
          <a:xfrm>
            <a:off x="6293627" y="3041371"/>
            <a:ext cx="2316480" cy="243840"/>
          </a:xfrm>
          <a:prstGeom prst="rect">
            <a:avLst/>
          </a:prstGeom>
          <a:noFill/>
          <a:ln/>
        </p:spPr>
        <p:txBody>
          <a:bodyPr wrap="square" lIns="0" tIns="0" rIns="0" bIns="0" rtlCol="0" anchor="ctr"/>
          <a:lstStyle/>
          <a:p>
            <a:pPr algn="ctr"/>
            <a:r>
              <a:rPr lang="en-US" sz="1067" i="1">
                <a:solidFill>
                  <a:schemeClr val="tx2"/>
                </a:solidFill>
                <a:latin typeface="Calibri" pitchFamily="34" charset="0"/>
                <a:ea typeface="Calibri" pitchFamily="34" charset="-122"/>
                <a:cs typeface="Calibri" pitchFamily="34" charset="-120"/>
              </a:rPr>
              <a:t>tuck-ins to accelerate EBITDA scale</a:t>
            </a:r>
            <a:endParaRPr lang="en-US" sz="1067">
              <a:solidFill>
                <a:schemeClr val="tx2"/>
              </a:solidFill>
            </a:endParaRPr>
          </a:p>
        </p:txBody>
      </p:sp>
      <p:sp>
        <p:nvSpPr>
          <p:cNvPr id="262" name="Text 37">
            <a:extLst>
              <a:ext uri="{FF2B5EF4-FFF2-40B4-BE49-F238E27FC236}">
                <a16:creationId xmlns:a16="http://schemas.microsoft.com/office/drawing/2014/main" id="{E51ECB1C-8ABA-9E57-F0C2-72D1A631EF41}"/>
              </a:ext>
            </a:extLst>
          </p:cNvPr>
          <p:cNvSpPr/>
          <p:nvPr/>
        </p:nvSpPr>
        <p:spPr>
          <a:xfrm>
            <a:off x="6293627" y="3309595"/>
            <a:ext cx="2316480" cy="219456"/>
          </a:xfrm>
          <a:prstGeom prst="rect">
            <a:avLst/>
          </a:prstGeom>
          <a:noFill/>
          <a:ln/>
        </p:spPr>
        <p:txBody>
          <a:bodyPr wrap="square" lIns="0" tIns="0" rIns="0" bIns="0" rtlCol="0" anchor="ctr"/>
          <a:lstStyle/>
          <a:p>
            <a:pPr algn="ctr"/>
            <a:r>
              <a:rPr lang="en-US" sz="1000" b="1" i="1">
                <a:solidFill>
                  <a:schemeClr val="tx2"/>
                </a:solidFill>
                <a:latin typeface="Calibri" pitchFamily="34" charset="0"/>
                <a:ea typeface="Calibri" pitchFamily="34" charset="-122"/>
                <a:cs typeface="Calibri" pitchFamily="34" charset="-120"/>
              </a:rPr>
              <a:t>(not underwritten)</a:t>
            </a:r>
            <a:endParaRPr lang="en-US" sz="1000">
              <a:solidFill>
                <a:schemeClr val="tx2"/>
              </a:solidFill>
            </a:endParaRPr>
          </a:p>
        </p:txBody>
      </p:sp>
      <p:sp>
        <p:nvSpPr>
          <p:cNvPr id="263" name="Text 38">
            <a:extLst>
              <a:ext uri="{FF2B5EF4-FFF2-40B4-BE49-F238E27FC236}">
                <a16:creationId xmlns:a16="http://schemas.microsoft.com/office/drawing/2014/main" id="{8AC83EE3-0DB7-9361-873F-9503583240D7}"/>
              </a:ext>
            </a:extLst>
          </p:cNvPr>
          <p:cNvSpPr/>
          <p:nvPr/>
        </p:nvSpPr>
        <p:spPr>
          <a:xfrm>
            <a:off x="6293627" y="3912771"/>
            <a:ext cx="2316480" cy="1457832"/>
          </a:xfrm>
          <a:prstGeom prst="rect">
            <a:avLst/>
          </a:prstGeom>
          <a:noFill/>
          <a:ln/>
        </p:spPr>
        <p:txBody>
          <a:bodyPr wrap="square" lIns="0" tIns="0" rIns="0" bIns="0" rtlCol="0" anchor="t"/>
          <a:lstStyle/>
          <a:p>
            <a:r>
              <a:rPr lang="en-US" sz="1200">
                <a:solidFill>
                  <a:schemeClr val="tx2"/>
                </a:solidFill>
                <a:latin typeface="Calibri" pitchFamily="34" charset="0"/>
                <a:ea typeface="Calibri" pitchFamily="34" charset="-122"/>
                <a:cs typeface="Calibri" pitchFamily="34" charset="-120"/>
              </a:rPr>
              <a:t>Add-ons can compress time-to-scale and expand capabilities; pursued selectively where risk-adjusted returns are attractive. McKinsey data shows add-ons accounted for 40% of total PE deal value in 2024.</a:t>
            </a:r>
            <a:endParaRPr lang="en-US" sz="1200">
              <a:solidFill>
                <a:schemeClr val="tx2"/>
              </a:solidFill>
            </a:endParaRPr>
          </a:p>
        </p:txBody>
      </p:sp>
      <p:sp>
        <p:nvSpPr>
          <p:cNvPr id="264" name="Text 39">
            <a:extLst>
              <a:ext uri="{FF2B5EF4-FFF2-40B4-BE49-F238E27FC236}">
                <a16:creationId xmlns:a16="http://schemas.microsoft.com/office/drawing/2014/main" id="{885B84F9-2678-D0CC-7BDE-8E423299D747}"/>
              </a:ext>
            </a:extLst>
          </p:cNvPr>
          <p:cNvSpPr/>
          <p:nvPr/>
        </p:nvSpPr>
        <p:spPr>
          <a:xfrm>
            <a:off x="6196090" y="5370591"/>
            <a:ext cx="2438400" cy="365760"/>
          </a:xfrm>
          <a:prstGeom prst="rect">
            <a:avLst/>
          </a:prstGeom>
          <a:noFill/>
          <a:ln/>
        </p:spPr>
        <p:txBody>
          <a:bodyPr wrap="square" lIns="0" tIns="0" rIns="0" bIns="0" rtlCol="0" anchor="ctr"/>
          <a:lstStyle/>
          <a:p>
            <a:pPr algn="ctr"/>
            <a:r>
              <a:rPr lang="en-US" sz="800" i="1">
                <a:solidFill>
                  <a:schemeClr val="tx2"/>
                </a:solidFill>
                <a:latin typeface="Calibri" pitchFamily="34" charset="0"/>
                <a:ea typeface="Calibri" pitchFamily="34" charset="-122"/>
                <a:cs typeface="Calibri" pitchFamily="34" charset="-120"/>
              </a:rPr>
              <a:t>GF Data H1 2025; McKinsey Global</a:t>
            </a:r>
            <a:endParaRPr lang="en-US" sz="800">
              <a:solidFill>
                <a:schemeClr val="tx2"/>
              </a:solidFill>
            </a:endParaRPr>
          </a:p>
          <a:p>
            <a:pPr algn="ctr"/>
            <a:r>
              <a:rPr lang="en-US" sz="800" i="1">
                <a:solidFill>
                  <a:schemeClr val="tx2"/>
                </a:solidFill>
                <a:latin typeface="Calibri" pitchFamily="34" charset="0"/>
                <a:ea typeface="Calibri" pitchFamily="34" charset="-122"/>
                <a:cs typeface="Calibri" pitchFamily="34" charset="-120"/>
              </a:rPr>
              <a:t>Private Markets 2025</a:t>
            </a:r>
            <a:endParaRPr lang="en-US" sz="800">
              <a:solidFill>
                <a:schemeClr val="tx2"/>
              </a:solidFill>
            </a:endParaRPr>
          </a:p>
        </p:txBody>
      </p:sp>
      <p:sp>
        <p:nvSpPr>
          <p:cNvPr id="265" name="Text 40">
            <a:extLst>
              <a:ext uri="{FF2B5EF4-FFF2-40B4-BE49-F238E27FC236}">
                <a16:creationId xmlns:a16="http://schemas.microsoft.com/office/drawing/2014/main" id="{CB6305EE-B972-8C25-3884-746AD4811BD7}"/>
              </a:ext>
            </a:extLst>
          </p:cNvPr>
          <p:cNvSpPr/>
          <p:nvPr/>
        </p:nvSpPr>
        <p:spPr>
          <a:xfrm>
            <a:off x="9000251" y="1895883"/>
            <a:ext cx="2316480" cy="487680"/>
          </a:xfrm>
          <a:prstGeom prst="rect">
            <a:avLst/>
          </a:prstGeom>
          <a:noFill/>
          <a:ln/>
        </p:spPr>
        <p:txBody>
          <a:bodyPr wrap="square" lIns="0" tIns="0" rIns="0" bIns="0" rtlCol="0" anchor="ctr"/>
          <a:lstStyle/>
          <a:p>
            <a:r>
              <a:rPr lang="en-US" sz="1400" b="1">
                <a:solidFill>
                  <a:schemeClr val="tx2"/>
                </a:solidFill>
                <a:latin typeface="Calibri" pitchFamily="34" charset="0"/>
                <a:ea typeface="Calibri" pitchFamily="34" charset="-122"/>
                <a:cs typeface="Calibri" pitchFamily="34" charset="-120"/>
              </a:rPr>
              <a:t>MULTIPLE</a:t>
            </a:r>
            <a:endParaRPr lang="en-US" sz="1400">
              <a:solidFill>
                <a:schemeClr val="tx2"/>
              </a:solidFill>
            </a:endParaRPr>
          </a:p>
          <a:p>
            <a:r>
              <a:rPr lang="en-US" sz="1400" b="1">
                <a:solidFill>
                  <a:schemeClr val="tx2"/>
                </a:solidFill>
                <a:latin typeface="Calibri" pitchFamily="34" charset="0"/>
                <a:ea typeface="Calibri" pitchFamily="34" charset="-122"/>
                <a:cs typeface="Calibri" pitchFamily="34" charset="-120"/>
              </a:rPr>
              <a:t>EXPANSION</a:t>
            </a:r>
            <a:endParaRPr lang="en-US" sz="1400">
              <a:solidFill>
                <a:schemeClr val="tx2"/>
              </a:solidFill>
            </a:endParaRPr>
          </a:p>
        </p:txBody>
      </p:sp>
      <p:sp>
        <p:nvSpPr>
          <p:cNvPr id="266" name="Text 41">
            <a:extLst>
              <a:ext uri="{FF2B5EF4-FFF2-40B4-BE49-F238E27FC236}">
                <a16:creationId xmlns:a16="http://schemas.microsoft.com/office/drawing/2014/main" id="{166D70D7-BEBB-7198-C0AE-6BE0C621EFFB}"/>
              </a:ext>
            </a:extLst>
          </p:cNvPr>
          <p:cNvSpPr/>
          <p:nvPr/>
        </p:nvSpPr>
        <p:spPr>
          <a:xfrm>
            <a:off x="9000251" y="2578075"/>
            <a:ext cx="2316480" cy="487680"/>
          </a:xfrm>
          <a:prstGeom prst="rect">
            <a:avLst/>
          </a:prstGeom>
          <a:noFill/>
          <a:ln/>
        </p:spPr>
        <p:txBody>
          <a:bodyPr wrap="square" lIns="0" tIns="0" rIns="0" bIns="0" rtlCol="0" anchor="ctr"/>
          <a:lstStyle/>
          <a:p>
            <a:pPr algn="ctr"/>
            <a:r>
              <a:rPr lang="en-US" sz="3200" b="1">
                <a:solidFill>
                  <a:schemeClr val="tx2"/>
                </a:solidFill>
                <a:latin typeface="Calibri" pitchFamily="34" charset="0"/>
                <a:ea typeface="Calibri" pitchFamily="34" charset="-122"/>
                <a:cs typeface="Calibri" pitchFamily="34" charset="-120"/>
              </a:rPr>
              <a:t>6.4x → 8.1x</a:t>
            </a:r>
            <a:endParaRPr lang="en-US" sz="3200">
              <a:solidFill>
                <a:schemeClr val="tx2"/>
              </a:solidFill>
            </a:endParaRPr>
          </a:p>
        </p:txBody>
      </p:sp>
      <p:sp>
        <p:nvSpPr>
          <p:cNvPr id="267" name="Text 42">
            <a:extLst>
              <a:ext uri="{FF2B5EF4-FFF2-40B4-BE49-F238E27FC236}">
                <a16:creationId xmlns:a16="http://schemas.microsoft.com/office/drawing/2014/main" id="{F1C06D9F-40CE-6AF1-B943-63FE920D5551}"/>
              </a:ext>
            </a:extLst>
          </p:cNvPr>
          <p:cNvSpPr/>
          <p:nvPr/>
        </p:nvSpPr>
        <p:spPr>
          <a:xfrm>
            <a:off x="9000251" y="3041371"/>
            <a:ext cx="2316480" cy="243840"/>
          </a:xfrm>
          <a:prstGeom prst="rect">
            <a:avLst/>
          </a:prstGeom>
          <a:noFill/>
          <a:ln/>
        </p:spPr>
        <p:txBody>
          <a:bodyPr wrap="square" lIns="0" tIns="0" rIns="0" bIns="0" rtlCol="0" anchor="ctr"/>
          <a:lstStyle/>
          <a:p>
            <a:pPr algn="ctr"/>
            <a:r>
              <a:rPr lang="en-US" sz="1000"/>
              <a:t>entry &lt; $10M EBITDA → exit &gt; $10M</a:t>
            </a:r>
            <a:endParaRPr lang="en-US" sz="933">
              <a:solidFill>
                <a:schemeClr val="tx2"/>
              </a:solidFill>
            </a:endParaRPr>
          </a:p>
        </p:txBody>
      </p:sp>
      <p:sp>
        <p:nvSpPr>
          <p:cNvPr id="268" name="Text 43">
            <a:extLst>
              <a:ext uri="{FF2B5EF4-FFF2-40B4-BE49-F238E27FC236}">
                <a16:creationId xmlns:a16="http://schemas.microsoft.com/office/drawing/2014/main" id="{611F0974-CA51-C36B-E6AC-42842F271817}"/>
              </a:ext>
            </a:extLst>
          </p:cNvPr>
          <p:cNvSpPr/>
          <p:nvPr/>
        </p:nvSpPr>
        <p:spPr>
          <a:xfrm>
            <a:off x="9000251" y="3309595"/>
            <a:ext cx="2316480" cy="219456"/>
          </a:xfrm>
          <a:prstGeom prst="rect">
            <a:avLst/>
          </a:prstGeom>
          <a:noFill/>
          <a:ln/>
        </p:spPr>
        <p:txBody>
          <a:bodyPr wrap="square" lIns="0" tIns="0" rIns="0" bIns="0" rtlCol="0" anchor="ctr"/>
          <a:lstStyle/>
          <a:p>
            <a:pPr algn="ctr"/>
            <a:r>
              <a:rPr lang="en-US" sz="1000" b="1" i="1">
                <a:solidFill>
                  <a:schemeClr val="tx2"/>
                </a:solidFill>
                <a:latin typeface="Calibri" pitchFamily="34" charset="0"/>
                <a:ea typeface="Calibri" pitchFamily="34" charset="-122"/>
                <a:cs typeface="Calibri" pitchFamily="34" charset="-120"/>
              </a:rPr>
              <a:t>(not underwritten)</a:t>
            </a:r>
            <a:endParaRPr lang="en-US" sz="1000">
              <a:solidFill>
                <a:schemeClr val="tx2"/>
              </a:solidFill>
            </a:endParaRPr>
          </a:p>
        </p:txBody>
      </p:sp>
      <p:sp>
        <p:nvSpPr>
          <p:cNvPr id="269" name="Text 44">
            <a:extLst>
              <a:ext uri="{FF2B5EF4-FFF2-40B4-BE49-F238E27FC236}">
                <a16:creationId xmlns:a16="http://schemas.microsoft.com/office/drawing/2014/main" id="{0EACC024-6F82-BB20-43B6-FD3FD8898058}"/>
              </a:ext>
            </a:extLst>
          </p:cNvPr>
          <p:cNvSpPr/>
          <p:nvPr/>
        </p:nvSpPr>
        <p:spPr>
          <a:xfrm>
            <a:off x="9000251" y="3912771"/>
            <a:ext cx="2316480" cy="1424209"/>
          </a:xfrm>
          <a:prstGeom prst="rect">
            <a:avLst/>
          </a:prstGeom>
          <a:noFill/>
          <a:ln/>
        </p:spPr>
        <p:txBody>
          <a:bodyPr wrap="square" lIns="0" tIns="0" rIns="0" bIns="0" rtlCol="0" anchor="t"/>
          <a:lstStyle/>
          <a:p>
            <a:r>
              <a:rPr lang="en-US" sz="1200"/>
              <a:t>Higher EBITDA scale expands the buyer universe and can command a structural premium.</a:t>
            </a:r>
            <a:r>
              <a:rPr lang="en-US" sz="1200">
                <a:solidFill>
                  <a:schemeClr val="tx2"/>
                </a:solidFill>
                <a:latin typeface="Calibri" pitchFamily="34" charset="0"/>
                <a:ea typeface="Calibri" pitchFamily="34" charset="-122"/>
                <a:cs typeface="Calibri" pitchFamily="34" charset="-120"/>
              </a:rPr>
              <a:t> GF Data shows a near full-turn multiple spread between sub-$10M and $10M+ EBITDA transactions.</a:t>
            </a:r>
            <a:endParaRPr lang="en-US" sz="1200">
              <a:solidFill>
                <a:schemeClr val="tx2"/>
              </a:solidFill>
            </a:endParaRPr>
          </a:p>
        </p:txBody>
      </p:sp>
      <p:sp>
        <p:nvSpPr>
          <p:cNvPr id="270" name="Text 45">
            <a:extLst>
              <a:ext uri="{FF2B5EF4-FFF2-40B4-BE49-F238E27FC236}">
                <a16:creationId xmlns:a16="http://schemas.microsoft.com/office/drawing/2014/main" id="{FE86E408-A8CD-19EB-A034-5C5A311D04F8}"/>
              </a:ext>
            </a:extLst>
          </p:cNvPr>
          <p:cNvSpPr/>
          <p:nvPr/>
        </p:nvSpPr>
        <p:spPr>
          <a:xfrm>
            <a:off x="8939291" y="5370591"/>
            <a:ext cx="2438400" cy="365760"/>
          </a:xfrm>
          <a:prstGeom prst="rect">
            <a:avLst/>
          </a:prstGeom>
          <a:noFill/>
          <a:ln/>
        </p:spPr>
        <p:txBody>
          <a:bodyPr wrap="square" lIns="0" tIns="0" rIns="0" bIns="0" rtlCol="0" anchor="ctr"/>
          <a:lstStyle/>
          <a:p>
            <a:pPr algn="ctr"/>
            <a:r>
              <a:rPr lang="en-US" sz="800" i="1">
                <a:solidFill>
                  <a:schemeClr val="tx2"/>
                </a:solidFill>
                <a:latin typeface="Calibri" pitchFamily="34" charset="0"/>
                <a:ea typeface="Calibri" pitchFamily="34" charset="-122"/>
                <a:cs typeface="Calibri" pitchFamily="34" charset="-120"/>
              </a:rPr>
              <a:t>GF Data H1 2025; Forvis Mazars Q2 2025;</a:t>
            </a:r>
            <a:endParaRPr lang="en-US" sz="800">
              <a:solidFill>
                <a:schemeClr val="tx2"/>
              </a:solidFill>
            </a:endParaRPr>
          </a:p>
          <a:p>
            <a:pPr algn="ctr"/>
            <a:r>
              <a:rPr lang="en-US" sz="800" i="1">
                <a:solidFill>
                  <a:schemeClr val="tx2"/>
                </a:solidFill>
                <a:latin typeface="Calibri" pitchFamily="34" charset="0"/>
                <a:ea typeface="Calibri" pitchFamily="34" charset="-122"/>
                <a:cs typeface="Calibri" pitchFamily="34" charset="-120"/>
              </a:rPr>
              <a:t>Capstone MM M&amp;A Valuations Index</a:t>
            </a:r>
            <a:endParaRPr lang="en-US" sz="800">
              <a:solidFill>
                <a:schemeClr val="tx2"/>
              </a:solidFill>
            </a:endParaRPr>
          </a:p>
        </p:txBody>
      </p:sp>
      <p:sp>
        <p:nvSpPr>
          <p:cNvPr id="271" name="Text 0"/>
          <p:cNvSpPr/>
          <p:nvPr/>
        </p:nvSpPr>
        <p:spPr>
          <a:xfrm>
            <a:off x="880379" y="149638"/>
            <a:ext cx="9753600" cy="548640"/>
          </a:xfrm>
          <a:prstGeom prst="rect">
            <a:avLst/>
          </a:prstGeom>
          <a:noFill/>
          <a:ln/>
        </p:spPr>
        <p:txBody>
          <a:bodyPr wrap="square" lIns="0" tIns="0" rIns="0" bIns="0" rtlCol="0" anchor="ctr"/>
          <a:lstStyle/>
          <a:p>
            <a:r>
              <a:rPr lang="en-US" sz="2800" b="1">
                <a:solidFill>
                  <a:schemeClr val="tx2"/>
                </a:solidFill>
                <a:latin typeface="Calibri" pitchFamily="34" charset="0"/>
                <a:ea typeface="Calibri" pitchFamily="34" charset="-122"/>
                <a:cs typeface="Calibri" pitchFamily="34" charset="-120"/>
              </a:rPr>
              <a:t>Catskill Value Creation Model</a:t>
            </a:r>
            <a:endParaRPr lang="en-US" sz="2800">
              <a:solidFill>
                <a:schemeClr val="tx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17">
            <a:extLst>
              <a:ext uri="{FF2B5EF4-FFF2-40B4-BE49-F238E27FC236}">
                <a16:creationId xmlns:a16="http://schemas.microsoft.com/office/drawing/2014/main" id="{BB5636F6-EB71-5EF5-C304-88350CF2588B}"/>
              </a:ext>
            </a:extLst>
          </p:cNvPr>
          <p:cNvSpPr/>
          <p:nvPr/>
        </p:nvSpPr>
        <p:spPr>
          <a:xfrm>
            <a:off x="170688" y="1901952"/>
            <a:ext cx="4340352" cy="1292352"/>
          </a:xfrm>
          <a:prstGeom prst="rect">
            <a:avLst/>
          </a:prstGeom>
          <a:solidFill>
            <a:schemeClr val="accent1">
              <a:lumMod val="20000"/>
              <a:lumOff val="80000"/>
            </a:schemeClr>
          </a:solidFill>
          <a:ln w="12700">
            <a:solidFill>
              <a:srgbClr val="1E3558"/>
            </a:solidFill>
            <a:prstDash val="solid"/>
          </a:ln>
        </p:spPr>
        <p:txBody>
          <a:bodyPr/>
          <a:lstStyle/>
          <a:p>
            <a:endParaRPr lang="en-US" sz="2400"/>
          </a:p>
        </p:txBody>
      </p:sp>
      <p:sp>
        <p:nvSpPr>
          <p:cNvPr id="4" name="Text 13">
            <a:extLst>
              <a:ext uri="{FF2B5EF4-FFF2-40B4-BE49-F238E27FC236}">
                <a16:creationId xmlns:a16="http://schemas.microsoft.com/office/drawing/2014/main" id="{4D1B7E0B-BFB0-6818-95DD-0F2A26D358E1}"/>
              </a:ext>
            </a:extLst>
          </p:cNvPr>
          <p:cNvSpPr/>
          <p:nvPr/>
        </p:nvSpPr>
        <p:spPr>
          <a:xfrm>
            <a:off x="1054608" y="1021588"/>
            <a:ext cx="11350752" cy="292608"/>
          </a:xfrm>
          <a:prstGeom prst="rect">
            <a:avLst/>
          </a:prstGeom>
          <a:noFill/>
          <a:ln/>
        </p:spPr>
        <p:txBody>
          <a:bodyPr wrap="square" lIns="0" tIns="0" rIns="0" bIns="0" rtlCol="0" anchor="ctr"/>
          <a:lstStyle/>
          <a:p>
            <a:r>
              <a:rPr lang="en-US" sz="1200">
                <a:solidFill>
                  <a:srgbClr val="000000"/>
                </a:solidFill>
                <a:latin typeface="Inter" panose="02000503000000020004" pitchFamily="2" charset="0"/>
                <a:ea typeface="Inter" panose="02000503000000020004" pitchFamily="2" charset="0"/>
                <a:cs typeface="Inter" panose="02000503000000020004" pitchFamily="2" charset="0"/>
              </a:rPr>
              <a:t>The industry &amp; end-market windows are open. We have decades of differentiated expertise &amp; experience to combine the two opportunities.</a:t>
            </a:r>
          </a:p>
        </p:txBody>
      </p:sp>
      <p:sp>
        <p:nvSpPr>
          <p:cNvPr id="5" name="Title 1">
            <a:extLst>
              <a:ext uri="{FF2B5EF4-FFF2-40B4-BE49-F238E27FC236}">
                <a16:creationId xmlns:a16="http://schemas.microsoft.com/office/drawing/2014/main" id="{C8499CEB-3789-2FD6-5028-012A60E3298D}"/>
              </a:ext>
            </a:extLst>
          </p:cNvPr>
          <p:cNvSpPr txBox="1">
            <a:spLocks/>
          </p:cNvSpPr>
          <p:nvPr/>
        </p:nvSpPr>
        <p:spPr>
          <a:xfrm>
            <a:off x="1054608" y="509164"/>
            <a:ext cx="10515600" cy="496260"/>
          </a:xfrm>
          <a:prstGeom prst="rect">
            <a:avLst/>
          </a:prstGeom>
        </p:spPr>
        <p:txBody>
          <a:bodyPr/>
          <a:lstStyle>
            <a:lvl1pPr algn="l" defTabSz="914400" rtl="0" eaLnBrk="1" latinLnBrk="0" hangingPunct="1">
              <a:lnSpc>
                <a:spcPct val="90000"/>
              </a:lnSpc>
              <a:spcBef>
                <a:spcPct val="0"/>
              </a:spcBef>
              <a:buNone/>
              <a:defRPr sz="3000" kern="1200" baseline="0">
                <a:solidFill>
                  <a:schemeClr val="tx1"/>
                </a:solidFill>
                <a:latin typeface="Inter ExtraBold" panose="02000503000000020004" pitchFamily="2" charset="0"/>
                <a:ea typeface="+mj-ea"/>
                <a:cs typeface="+mj-cs"/>
              </a:defRPr>
            </a:lvl1pPr>
          </a:lstStyle>
          <a:p>
            <a:r>
              <a:rPr lang="en-US">
                <a:latin typeface="Inter" panose="02000503000000020004" pitchFamily="2" charset="0"/>
                <a:ea typeface="Inter" panose="02000503000000020004" pitchFamily="2" charset="0"/>
                <a:cs typeface="Inter" panose="02000503000000020004" pitchFamily="2" charset="0"/>
              </a:rPr>
              <a:t>Why Now? Why Catskill Partners?</a:t>
            </a:r>
          </a:p>
        </p:txBody>
      </p:sp>
      <p:sp>
        <p:nvSpPr>
          <p:cNvPr id="6" name="Shape 15">
            <a:extLst>
              <a:ext uri="{FF2B5EF4-FFF2-40B4-BE49-F238E27FC236}">
                <a16:creationId xmlns:a16="http://schemas.microsoft.com/office/drawing/2014/main" id="{B5263FEF-F7A5-1CAA-7E36-D9F2F63A94C9}"/>
              </a:ext>
            </a:extLst>
          </p:cNvPr>
          <p:cNvSpPr/>
          <p:nvPr/>
        </p:nvSpPr>
        <p:spPr>
          <a:xfrm>
            <a:off x="170688" y="1511808"/>
            <a:ext cx="4340352" cy="341376"/>
          </a:xfrm>
          <a:prstGeom prst="rect">
            <a:avLst/>
          </a:prstGeom>
          <a:solidFill>
            <a:schemeClr val="accent1">
              <a:lumMod val="20000"/>
              <a:lumOff val="80000"/>
            </a:schemeClr>
          </a:solidFill>
          <a:ln w="12700">
            <a:solidFill>
              <a:srgbClr val="B8962E"/>
            </a:solidFill>
            <a:prstDash val="solid"/>
          </a:ln>
        </p:spPr>
        <p:txBody>
          <a:bodyPr/>
          <a:lstStyle/>
          <a:p>
            <a:endParaRPr lang="en-US" sz="2400" b="1">
              <a:solidFill>
                <a:srgbClr val="000000"/>
              </a:solidFill>
              <a:latin typeface="Inter" panose="02000503000000020004" pitchFamily="2" charset="0"/>
              <a:ea typeface="Inter" panose="02000503000000020004" pitchFamily="2" charset="0"/>
              <a:cs typeface="Inter" panose="02000503000000020004" pitchFamily="2" charset="0"/>
            </a:endParaRPr>
          </a:p>
        </p:txBody>
      </p:sp>
      <p:sp>
        <p:nvSpPr>
          <p:cNvPr id="7" name="Shape 40">
            <a:extLst>
              <a:ext uri="{FF2B5EF4-FFF2-40B4-BE49-F238E27FC236}">
                <a16:creationId xmlns:a16="http://schemas.microsoft.com/office/drawing/2014/main" id="{2F44EAE1-F284-BF98-6AB7-7D3CDCE7D3DE}"/>
              </a:ext>
            </a:extLst>
          </p:cNvPr>
          <p:cNvSpPr/>
          <p:nvPr/>
        </p:nvSpPr>
        <p:spPr>
          <a:xfrm>
            <a:off x="4730496" y="1511808"/>
            <a:ext cx="7315200" cy="341376"/>
          </a:xfrm>
          <a:prstGeom prst="rect">
            <a:avLst/>
          </a:prstGeom>
          <a:solidFill>
            <a:schemeClr val="accent1">
              <a:lumMod val="20000"/>
              <a:lumOff val="80000"/>
            </a:schemeClr>
          </a:solidFill>
          <a:ln w="12700">
            <a:solidFill>
              <a:srgbClr val="B8962E"/>
            </a:solidFill>
            <a:prstDash val="solid"/>
          </a:ln>
        </p:spPr>
        <p:txBody>
          <a:bodyPr/>
          <a:lstStyle/>
          <a:p>
            <a:endParaRPr lang="en-US" sz="2400">
              <a:solidFill>
                <a:srgbClr val="000000"/>
              </a:solidFill>
            </a:endParaRPr>
          </a:p>
        </p:txBody>
      </p:sp>
      <p:sp>
        <p:nvSpPr>
          <p:cNvPr id="8" name="Text 16">
            <a:extLst>
              <a:ext uri="{FF2B5EF4-FFF2-40B4-BE49-F238E27FC236}">
                <a16:creationId xmlns:a16="http://schemas.microsoft.com/office/drawing/2014/main" id="{108DAB22-4468-1411-A428-2A2F19379B42}"/>
              </a:ext>
            </a:extLst>
          </p:cNvPr>
          <p:cNvSpPr/>
          <p:nvPr/>
        </p:nvSpPr>
        <p:spPr>
          <a:xfrm>
            <a:off x="316992" y="1511808"/>
            <a:ext cx="4169664" cy="341376"/>
          </a:xfrm>
          <a:prstGeom prst="rect">
            <a:avLst/>
          </a:prstGeom>
          <a:noFill/>
          <a:ln/>
        </p:spPr>
        <p:txBody>
          <a:bodyPr wrap="square" lIns="0" tIns="0" rIns="0" bIns="0" rtlCol="0" anchor="ctr"/>
          <a:lstStyle/>
          <a:p>
            <a:r>
              <a:rPr lang="en-US" sz="1000" kern="0" spc="200">
                <a:solidFill>
                  <a:srgbClr val="000000"/>
                </a:solidFill>
                <a:latin typeface="Inter" panose="02000503000000020004" pitchFamily="2" charset="0"/>
                <a:ea typeface="Inter" panose="02000503000000020004" pitchFamily="2" charset="0"/>
                <a:cs typeface="Inter" panose="02000503000000020004" pitchFamily="2" charset="0"/>
              </a:rPr>
              <a:t>WHY NOW  ·  STRUCTURAL MARKET FORCES</a:t>
            </a:r>
            <a:endParaRPr lang="en-US" sz="1000">
              <a:solidFill>
                <a:srgbClr val="000000"/>
              </a:solidFill>
              <a:latin typeface="Inter" panose="02000503000000020004" pitchFamily="2" charset="0"/>
              <a:ea typeface="Inter" panose="02000503000000020004" pitchFamily="2" charset="0"/>
              <a:cs typeface="Inter" panose="02000503000000020004" pitchFamily="2" charset="0"/>
            </a:endParaRPr>
          </a:p>
        </p:txBody>
      </p:sp>
      <p:sp>
        <p:nvSpPr>
          <p:cNvPr id="9" name="Text 41">
            <a:extLst>
              <a:ext uri="{FF2B5EF4-FFF2-40B4-BE49-F238E27FC236}">
                <a16:creationId xmlns:a16="http://schemas.microsoft.com/office/drawing/2014/main" id="{011FE002-AD27-61A9-0E04-C89012C2107F}"/>
              </a:ext>
            </a:extLst>
          </p:cNvPr>
          <p:cNvSpPr/>
          <p:nvPr/>
        </p:nvSpPr>
        <p:spPr>
          <a:xfrm>
            <a:off x="4876800" y="1511808"/>
            <a:ext cx="7144512" cy="341376"/>
          </a:xfrm>
          <a:prstGeom prst="rect">
            <a:avLst/>
          </a:prstGeom>
          <a:noFill/>
          <a:ln/>
        </p:spPr>
        <p:txBody>
          <a:bodyPr wrap="square" lIns="0" tIns="0" rIns="0" bIns="0" rtlCol="0" anchor="ctr"/>
          <a:lstStyle/>
          <a:p>
            <a:r>
              <a:rPr lang="en-US" sz="1000" kern="0" spc="200">
                <a:solidFill>
                  <a:srgbClr val="000000"/>
                </a:solidFill>
                <a:latin typeface="Inter" panose="02000503000000020004" pitchFamily="2" charset="0"/>
                <a:ea typeface="Inter" panose="02000503000000020004" pitchFamily="2" charset="0"/>
                <a:cs typeface="Inter" panose="02000503000000020004" pitchFamily="2" charset="0"/>
              </a:rPr>
              <a:t>WHY US  ·  FOUR COMPOUNDING EDGES OTHER SPONSORS CAN’T REPLICATE</a:t>
            </a:r>
            <a:endParaRPr lang="en-US" sz="1000">
              <a:solidFill>
                <a:srgbClr val="000000"/>
              </a:solidFill>
              <a:latin typeface="Inter" panose="02000503000000020004" pitchFamily="2" charset="0"/>
              <a:ea typeface="Inter" panose="02000503000000020004" pitchFamily="2" charset="0"/>
              <a:cs typeface="Inter" panose="02000503000000020004" pitchFamily="2" charset="0"/>
            </a:endParaRPr>
          </a:p>
        </p:txBody>
      </p:sp>
      <p:sp>
        <p:nvSpPr>
          <p:cNvPr id="10" name="Shape 18">
            <a:extLst>
              <a:ext uri="{FF2B5EF4-FFF2-40B4-BE49-F238E27FC236}">
                <a16:creationId xmlns:a16="http://schemas.microsoft.com/office/drawing/2014/main" id="{5863C1A8-CD23-59B9-8939-644214808941}"/>
              </a:ext>
            </a:extLst>
          </p:cNvPr>
          <p:cNvSpPr/>
          <p:nvPr/>
        </p:nvSpPr>
        <p:spPr>
          <a:xfrm>
            <a:off x="170688" y="1901952"/>
            <a:ext cx="341376" cy="1292352"/>
          </a:xfrm>
          <a:prstGeom prst="rect">
            <a:avLst/>
          </a:prstGeom>
          <a:solidFill>
            <a:schemeClr val="accent1">
              <a:lumMod val="50000"/>
            </a:schemeClr>
          </a:solidFill>
          <a:ln w="12700">
            <a:solidFill>
              <a:srgbClr val="2D6A4F"/>
            </a:solidFill>
            <a:prstDash val="solid"/>
          </a:ln>
        </p:spPr>
        <p:txBody>
          <a:bodyPr/>
          <a:lstStyle/>
          <a:p>
            <a:endParaRPr lang="en-US" sz="2400">
              <a:latin typeface="Inter" panose="02000503000000020004" pitchFamily="2" charset="0"/>
              <a:ea typeface="Inter" panose="02000503000000020004" pitchFamily="2" charset="0"/>
              <a:cs typeface="Inter" panose="02000503000000020004" pitchFamily="2" charset="0"/>
            </a:endParaRPr>
          </a:p>
        </p:txBody>
      </p:sp>
      <p:sp>
        <p:nvSpPr>
          <p:cNvPr id="11" name="Text 20">
            <a:extLst>
              <a:ext uri="{FF2B5EF4-FFF2-40B4-BE49-F238E27FC236}">
                <a16:creationId xmlns:a16="http://schemas.microsoft.com/office/drawing/2014/main" id="{42AC1C6F-650D-6A7C-827C-FE282CDFA916}"/>
              </a:ext>
            </a:extLst>
          </p:cNvPr>
          <p:cNvSpPr/>
          <p:nvPr/>
        </p:nvSpPr>
        <p:spPr>
          <a:xfrm>
            <a:off x="725893" y="2078931"/>
            <a:ext cx="1341120" cy="463296"/>
          </a:xfrm>
          <a:prstGeom prst="rect">
            <a:avLst/>
          </a:prstGeom>
          <a:noFill/>
          <a:ln/>
        </p:spPr>
        <p:txBody>
          <a:bodyPr wrap="square" lIns="0" tIns="0" rIns="0" bIns="0" rtlCol="0" anchor="ctr"/>
          <a:lstStyle/>
          <a:p>
            <a:r>
              <a:rPr lang="en-US" sz="3300" b="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60%+</a:t>
            </a:r>
            <a:endParaRPr lang="en-US" sz="3300">
              <a:solidFill>
                <a:schemeClr val="bg2">
                  <a:lumMod val="10000"/>
                </a:schemeClr>
              </a:solidFill>
              <a:latin typeface="Inter" panose="02000503000000020004" pitchFamily="2" charset="0"/>
              <a:ea typeface="Inter" panose="02000503000000020004" pitchFamily="2" charset="0"/>
              <a:cs typeface="Inter" panose="02000503000000020004" pitchFamily="2" charset="0"/>
            </a:endParaRPr>
          </a:p>
        </p:txBody>
      </p:sp>
      <p:sp>
        <p:nvSpPr>
          <p:cNvPr id="12" name="Text 21">
            <a:extLst>
              <a:ext uri="{FF2B5EF4-FFF2-40B4-BE49-F238E27FC236}">
                <a16:creationId xmlns:a16="http://schemas.microsoft.com/office/drawing/2014/main" id="{5C10E0D6-B0F4-EAFD-DC9B-93C540AC8492}"/>
              </a:ext>
            </a:extLst>
          </p:cNvPr>
          <p:cNvSpPr/>
          <p:nvPr/>
        </p:nvSpPr>
        <p:spPr>
          <a:xfrm>
            <a:off x="671500" y="2667762"/>
            <a:ext cx="3877056" cy="219456"/>
          </a:xfrm>
          <a:prstGeom prst="rect">
            <a:avLst/>
          </a:prstGeom>
          <a:noFill/>
          <a:ln/>
        </p:spPr>
        <p:txBody>
          <a:bodyPr wrap="square" lIns="0" tIns="0" rIns="0" bIns="0" rtlCol="0" anchor="ctr"/>
          <a:lstStyle/>
          <a:p>
            <a:r>
              <a:rPr lang="en-US" sz="1000" i="1">
                <a:solidFill>
                  <a:srgbClr val="000000"/>
                </a:solidFill>
                <a:latin typeface="Inter" panose="02000503000000020004" pitchFamily="2" charset="0"/>
                <a:ea typeface="Inter" panose="02000503000000020004" pitchFamily="2" charset="0"/>
                <a:cs typeface="Inter" panose="02000503000000020004" pitchFamily="2" charset="0"/>
              </a:rPr>
              <a:t>of LMM industrial owners are 55+ years old</a:t>
            </a:r>
            <a:endParaRPr lang="en-US" sz="1000">
              <a:solidFill>
                <a:srgbClr val="000000"/>
              </a:solidFill>
              <a:latin typeface="Inter" panose="02000503000000020004" pitchFamily="2" charset="0"/>
              <a:ea typeface="Inter" panose="02000503000000020004" pitchFamily="2" charset="0"/>
              <a:cs typeface="Inter" panose="02000503000000020004" pitchFamily="2" charset="0"/>
            </a:endParaRPr>
          </a:p>
        </p:txBody>
      </p:sp>
      <p:sp>
        <p:nvSpPr>
          <p:cNvPr id="13" name="Text 22">
            <a:extLst>
              <a:ext uri="{FF2B5EF4-FFF2-40B4-BE49-F238E27FC236}">
                <a16:creationId xmlns:a16="http://schemas.microsoft.com/office/drawing/2014/main" id="{799DB5B2-6C78-C33D-030C-C115CA55C441}"/>
              </a:ext>
            </a:extLst>
          </p:cNvPr>
          <p:cNvSpPr/>
          <p:nvPr/>
        </p:nvSpPr>
        <p:spPr>
          <a:xfrm>
            <a:off x="671500" y="2887218"/>
            <a:ext cx="3877056" cy="219456"/>
          </a:xfrm>
          <a:prstGeom prst="rect">
            <a:avLst/>
          </a:prstGeom>
          <a:noFill/>
          <a:ln/>
        </p:spPr>
        <p:txBody>
          <a:bodyPr wrap="square" lIns="0" tIns="0" rIns="0" bIns="0" rtlCol="0" anchor="ctr"/>
          <a:lstStyle/>
          <a:p>
            <a:r>
              <a:rPr lang="en-US" sz="1000" b="1" kern="0" spc="107">
                <a:solidFill>
                  <a:srgbClr val="3A8A65"/>
                </a:solidFill>
                <a:latin typeface="Inter" panose="02000503000000020004" pitchFamily="2" charset="0"/>
                <a:ea typeface="Inter" panose="02000503000000020004" pitchFamily="2" charset="0"/>
                <a:cs typeface="Inter" panose="02000503000000020004" pitchFamily="2" charset="0"/>
              </a:rPr>
              <a:t>SUCCESSION WAVE </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14" name="Shape 24">
            <a:extLst>
              <a:ext uri="{FF2B5EF4-FFF2-40B4-BE49-F238E27FC236}">
                <a16:creationId xmlns:a16="http://schemas.microsoft.com/office/drawing/2014/main" id="{EA24D147-1CB9-BE74-1AB0-B8A631045926}"/>
              </a:ext>
            </a:extLst>
          </p:cNvPr>
          <p:cNvSpPr/>
          <p:nvPr/>
        </p:nvSpPr>
        <p:spPr>
          <a:xfrm>
            <a:off x="170688" y="3267456"/>
            <a:ext cx="4340352" cy="1292352"/>
          </a:xfrm>
          <a:prstGeom prst="rect">
            <a:avLst/>
          </a:prstGeom>
          <a:solidFill>
            <a:schemeClr val="accent1">
              <a:lumMod val="20000"/>
              <a:lumOff val="80000"/>
            </a:schemeClr>
          </a:solidFill>
          <a:ln w="12700">
            <a:solidFill>
              <a:srgbClr val="1E3558"/>
            </a:solidFill>
            <a:prstDash val="solid"/>
          </a:ln>
        </p:spPr>
        <p:txBody>
          <a:bodyPr/>
          <a:lstStyle/>
          <a:p>
            <a:endParaRPr lang="en-US" sz="2400">
              <a:solidFill>
                <a:schemeClr val="bg2">
                  <a:lumMod val="10000"/>
                </a:schemeClr>
              </a:solidFill>
            </a:endParaRPr>
          </a:p>
        </p:txBody>
      </p:sp>
      <p:sp>
        <p:nvSpPr>
          <p:cNvPr id="15" name="Shape 25">
            <a:extLst>
              <a:ext uri="{FF2B5EF4-FFF2-40B4-BE49-F238E27FC236}">
                <a16:creationId xmlns:a16="http://schemas.microsoft.com/office/drawing/2014/main" id="{61F28619-CE12-E513-793F-0C249E4522CF}"/>
              </a:ext>
            </a:extLst>
          </p:cNvPr>
          <p:cNvSpPr/>
          <p:nvPr/>
        </p:nvSpPr>
        <p:spPr>
          <a:xfrm>
            <a:off x="184912" y="3275584"/>
            <a:ext cx="341376" cy="1292352"/>
          </a:xfrm>
          <a:prstGeom prst="rect">
            <a:avLst/>
          </a:prstGeom>
          <a:solidFill>
            <a:schemeClr val="accent1">
              <a:lumMod val="50000"/>
            </a:schemeClr>
          </a:solidFill>
          <a:ln w="12700">
            <a:solidFill>
              <a:srgbClr val="2D6A4F"/>
            </a:solidFill>
            <a:prstDash val="solid"/>
          </a:ln>
        </p:spPr>
        <p:txBody>
          <a:bodyPr/>
          <a:lstStyle/>
          <a:p>
            <a:endParaRPr lang="en-US" sz="2400">
              <a:latin typeface="Inter" panose="02000503000000020004" pitchFamily="2" charset="0"/>
              <a:ea typeface="Inter" panose="02000503000000020004" pitchFamily="2" charset="0"/>
              <a:cs typeface="Inter" panose="02000503000000020004" pitchFamily="2" charset="0"/>
            </a:endParaRPr>
          </a:p>
        </p:txBody>
      </p:sp>
      <p:sp>
        <p:nvSpPr>
          <p:cNvPr id="16" name="Text 27">
            <a:extLst>
              <a:ext uri="{FF2B5EF4-FFF2-40B4-BE49-F238E27FC236}">
                <a16:creationId xmlns:a16="http://schemas.microsoft.com/office/drawing/2014/main" id="{A0C8E5A6-B923-733E-F8DA-C07F73A463B4}"/>
              </a:ext>
            </a:extLst>
          </p:cNvPr>
          <p:cNvSpPr/>
          <p:nvPr/>
        </p:nvSpPr>
        <p:spPr>
          <a:xfrm>
            <a:off x="725893" y="3444435"/>
            <a:ext cx="1721104" cy="463296"/>
          </a:xfrm>
          <a:prstGeom prst="rect">
            <a:avLst/>
          </a:prstGeom>
          <a:noFill/>
          <a:ln/>
        </p:spPr>
        <p:txBody>
          <a:bodyPr wrap="square" lIns="0" tIns="0" rIns="0" bIns="0" rtlCol="0" anchor="ctr"/>
          <a:lstStyle/>
          <a:p>
            <a:r>
              <a:rPr lang="en-US" sz="3300" b="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$250B+</a:t>
            </a:r>
            <a:endParaRPr lang="en-US" sz="3300">
              <a:solidFill>
                <a:schemeClr val="bg2">
                  <a:lumMod val="10000"/>
                </a:schemeClr>
              </a:solidFill>
              <a:latin typeface="Inter" panose="02000503000000020004" pitchFamily="2" charset="0"/>
              <a:ea typeface="Inter" panose="02000503000000020004" pitchFamily="2" charset="0"/>
              <a:cs typeface="Inter" panose="02000503000000020004" pitchFamily="2" charset="0"/>
            </a:endParaRPr>
          </a:p>
        </p:txBody>
      </p:sp>
      <p:sp>
        <p:nvSpPr>
          <p:cNvPr id="17" name="Text 28">
            <a:extLst>
              <a:ext uri="{FF2B5EF4-FFF2-40B4-BE49-F238E27FC236}">
                <a16:creationId xmlns:a16="http://schemas.microsoft.com/office/drawing/2014/main" id="{BE8C0B2D-6C58-EF8D-0E7C-2CE8EFB3EC79}"/>
              </a:ext>
            </a:extLst>
          </p:cNvPr>
          <p:cNvSpPr/>
          <p:nvPr/>
        </p:nvSpPr>
        <p:spPr>
          <a:xfrm>
            <a:off x="708076" y="4029964"/>
            <a:ext cx="3877056" cy="219456"/>
          </a:xfrm>
          <a:prstGeom prst="rect">
            <a:avLst/>
          </a:prstGeom>
          <a:noFill/>
          <a:ln/>
        </p:spPr>
        <p:txBody>
          <a:bodyPr wrap="square" lIns="0" tIns="0" rIns="0" bIns="0" rtlCol="0" anchor="ctr"/>
          <a:lstStyle/>
          <a:p>
            <a:r>
              <a:rPr lang="en-US" sz="1000" i="1">
                <a:solidFill>
                  <a:srgbClr val="000000"/>
                </a:solidFill>
                <a:latin typeface="Inter" panose="02000503000000020004" pitchFamily="2" charset="0"/>
                <a:ea typeface="Inter" panose="02000503000000020004" pitchFamily="2" charset="0"/>
                <a:cs typeface="Inter" panose="02000503000000020004" pitchFamily="2" charset="0"/>
              </a:rPr>
              <a:t>Data center mech. &amp; electrical systems layer spend by 2030 </a:t>
            </a:r>
            <a:endParaRPr lang="en-US" sz="1000">
              <a:solidFill>
                <a:srgbClr val="000000"/>
              </a:solidFill>
              <a:latin typeface="Inter" panose="02000503000000020004" pitchFamily="2" charset="0"/>
              <a:ea typeface="Inter" panose="02000503000000020004" pitchFamily="2" charset="0"/>
              <a:cs typeface="Inter" panose="02000503000000020004" pitchFamily="2" charset="0"/>
            </a:endParaRPr>
          </a:p>
        </p:txBody>
      </p:sp>
      <p:sp>
        <p:nvSpPr>
          <p:cNvPr id="18" name="Text 29">
            <a:extLst>
              <a:ext uri="{FF2B5EF4-FFF2-40B4-BE49-F238E27FC236}">
                <a16:creationId xmlns:a16="http://schemas.microsoft.com/office/drawing/2014/main" id="{9E1E0491-D373-E211-4142-F5D8EE1CBA5E}"/>
              </a:ext>
            </a:extLst>
          </p:cNvPr>
          <p:cNvSpPr/>
          <p:nvPr/>
        </p:nvSpPr>
        <p:spPr>
          <a:xfrm>
            <a:off x="708076" y="4249420"/>
            <a:ext cx="3877056" cy="219456"/>
          </a:xfrm>
          <a:prstGeom prst="rect">
            <a:avLst/>
          </a:prstGeom>
          <a:noFill/>
          <a:ln/>
        </p:spPr>
        <p:txBody>
          <a:bodyPr wrap="square" lIns="0" tIns="0" rIns="0" bIns="0" rtlCol="0" anchor="ctr"/>
          <a:lstStyle/>
          <a:p>
            <a:r>
              <a:rPr lang="en-US" sz="1000" b="1" kern="0" spc="107">
                <a:solidFill>
                  <a:srgbClr val="3A8A65"/>
                </a:solidFill>
                <a:latin typeface="Inter" panose="02000503000000020004" pitchFamily="2" charset="0"/>
                <a:ea typeface="Inter" panose="02000503000000020004" pitchFamily="2" charset="0"/>
                <a:cs typeface="Inter" panose="02000503000000020004" pitchFamily="2" charset="0"/>
              </a:rPr>
              <a:t>CLOUD INFRASTRUCTURE DEMAND SUPERCYCLE</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19" name="Shape 31">
            <a:extLst>
              <a:ext uri="{FF2B5EF4-FFF2-40B4-BE49-F238E27FC236}">
                <a16:creationId xmlns:a16="http://schemas.microsoft.com/office/drawing/2014/main" id="{53B665C5-933B-C785-A311-8FC3A63F54F3}"/>
              </a:ext>
            </a:extLst>
          </p:cNvPr>
          <p:cNvSpPr/>
          <p:nvPr/>
        </p:nvSpPr>
        <p:spPr>
          <a:xfrm>
            <a:off x="170688" y="4637024"/>
            <a:ext cx="4340352" cy="1292352"/>
          </a:xfrm>
          <a:prstGeom prst="rect">
            <a:avLst/>
          </a:prstGeom>
          <a:solidFill>
            <a:schemeClr val="accent1">
              <a:lumMod val="20000"/>
              <a:lumOff val="80000"/>
            </a:schemeClr>
          </a:solidFill>
          <a:ln w="12700">
            <a:solidFill>
              <a:srgbClr val="1E3558"/>
            </a:solidFill>
            <a:prstDash val="solid"/>
          </a:ln>
        </p:spPr>
        <p:txBody>
          <a:bodyPr/>
          <a:lstStyle/>
          <a:p>
            <a:endParaRPr lang="en-US" sz="2400"/>
          </a:p>
        </p:txBody>
      </p:sp>
      <p:sp>
        <p:nvSpPr>
          <p:cNvPr id="20" name="Shape 32">
            <a:extLst>
              <a:ext uri="{FF2B5EF4-FFF2-40B4-BE49-F238E27FC236}">
                <a16:creationId xmlns:a16="http://schemas.microsoft.com/office/drawing/2014/main" id="{7FEFA283-4122-36DA-C0D2-4BFFF7818968}"/>
              </a:ext>
            </a:extLst>
          </p:cNvPr>
          <p:cNvSpPr/>
          <p:nvPr/>
        </p:nvSpPr>
        <p:spPr>
          <a:xfrm>
            <a:off x="170688" y="4637024"/>
            <a:ext cx="341376" cy="1292352"/>
          </a:xfrm>
          <a:prstGeom prst="rect">
            <a:avLst/>
          </a:prstGeom>
          <a:solidFill>
            <a:schemeClr val="accent1">
              <a:lumMod val="50000"/>
            </a:schemeClr>
          </a:solidFill>
          <a:ln w="12700">
            <a:solidFill>
              <a:srgbClr val="2D6A4F"/>
            </a:solidFill>
            <a:prstDash val="solid"/>
          </a:ln>
        </p:spPr>
        <p:txBody>
          <a:bodyPr/>
          <a:lstStyle/>
          <a:p>
            <a:endParaRPr lang="en-US" sz="2400"/>
          </a:p>
        </p:txBody>
      </p:sp>
      <p:sp>
        <p:nvSpPr>
          <p:cNvPr id="21" name="Text 34">
            <a:extLst>
              <a:ext uri="{FF2B5EF4-FFF2-40B4-BE49-F238E27FC236}">
                <a16:creationId xmlns:a16="http://schemas.microsoft.com/office/drawing/2014/main" id="{7EE99C41-2A38-FBDD-623C-EB404EAEA9F3}"/>
              </a:ext>
            </a:extLst>
          </p:cNvPr>
          <p:cNvSpPr/>
          <p:nvPr/>
        </p:nvSpPr>
        <p:spPr>
          <a:xfrm>
            <a:off x="725893" y="4814003"/>
            <a:ext cx="1341120" cy="463296"/>
          </a:xfrm>
          <a:prstGeom prst="rect">
            <a:avLst/>
          </a:prstGeom>
          <a:noFill/>
          <a:ln/>
        </p:spPr>
        <p:txBody>
          <a:bodyPr wrap="square" lIns="0" tIns="0" rIns="0" bIns="0" rtlCol="0" anchor="ctr"/>
          <a:lstStyle/>
          <a:p>
            <a:r>
              <a:rPr lang="en-US" sz="3300" b="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&lt;10%</a:t>
            </a:r>
            <a:endParaRPr lang="en-US" sz="3300">
              <a:solidFill>
                <a:schemeClr val="bg2">
                  <a:lumMod val="10000"/>
                </a:schemeClr>
              </a:solidFill>
              <a:latin typeface="Inter" panose="02000503000000020004" pitchFamily="2" charset="0"/>
              <a:ea typeface="Inter" panose="02000503000000020004" pitchFamily="2" charset="0"/>
              <a:cs typeface="Inter" panose="02000503000000020004" pitchFamily="2" charset="0"/>
            </a:endParaRPr>
          </a:p>
        </p:txBody>
      </p:sp>
      <p:sp>
        <p:nvSpPr>
          <p:cNvPr id="22" name="Text 35">
            <a:extLst>
              <a:ext uri="{FF2B5EF4-FFF2-40B4-BE49-F238E27FC236}">
                <a16:creationId xmlns:a16="http://schemas.microsoft.com/office/drawing/2014/main" id="{EE612C8F-0C95-4D49-A504-7A368327BE50}"/>
              </a:ext>
            </a:extLst>
          </p:cNvPr>
          <p:cNvSpPr/>
          <p:nvPr/>
        </p:nvSpPr>
        <p:spPr>
          <a:xfrm>
            <a:off x="671500" y="5397500"/>
            <a:ext cx="3877056" cy="219456"/>
          </a:xfrm>
          <a:prstGeom prst="rect">
            <a:avLst/>
          </a:prstGeom>
          <a:noFill/>
          <a:ln/>
        </p:spPr>
        <p:txBody>
          <a:bodyPr wrap="square" lIns="0" tIns="0" rIns="0" bIns="0" rtlCol="0" anchor="ctr"/>
          <a:lstStyle/>
          <a:p>
            <a:r>
              <a:rPr lang="en-US" sz="1000" i="1">
                <a:solidFill>
                  <a:srgbClr val="000000"/>
                </a:solidFill>
                <a:latin typeface="Inter" panose="02000503000000020004" pitchFamily="2" charset="0"/>
                <a:ea typeface="Inter" panose="02000503000000020004" pitchFamily="2" charset="0"/>
                <a:cs typeface="Inter" panose="02000503000000020004" pitchFamily="2" charset="0"/>
              </a:rPr>
              <a:t>combined share held by top 5 players in target segments</a:t>
            </a:r>
            <a:endParaRPr lang="en-US" sz="1000">
              <a:solidFill>
                <a:srgbClr val="000000"/>
              </a:solidFill>
              <a:latin typeface="Inter" panose="02000503000000020004" pitchFamily="2" charset="0"/>
              <a:ea typeface="Inter" panose="02000503000000020004" pitchFamily="2" charset="0"/>
              <a:cs typeface="Inter" panose="02000503000000020004" pitchFamily="2" charset="0"/>
            </a:endParaRPr>
          </a:p>
        </p:txBody>
      </p:sp>
      <p:sp>
        <p:nvSpPr>
          <p:cNvPr id="23" name="Text 36">
            <a:extLst>
              <a:ext uri="{FF2B5EF4-FFF2-40B4-BE49-F238E27FC236}">
                <a16:creationId xmlns:a16="http://schemas.microsoft.com/office/drawing/2014/main" id="{1F49738A-5DAF-95ED-A207-9327EC863149}"/>
              </a:ext>
            </a:extLst>
          </p:cNvPr>
          <p:cNvSpPr/>
          <p:nvPr/>
        </p:nvSpPr>
        <p:spPr>
          <a:xfrm>
            <a:off x="671500" y="5616956"/>
            <a:ext cx="3877056" cy="219456"/>
          </a:xfrm>
          <a:prstGeom prst="rect">
            <a:avLst/>
          </a:prstGeom>
          <a:noFill/>
          <a:ln/>
        </p:spPr>
        <p:txBody>
          <a:bodyPr wrap="square" lIns="0" tIns="0" rIns="0" bIns="0" rtlCol="0" anchor="ctr"/>
          <a:lstStyle/>
          <a:p>
            <a:r>
              <a:rPr lang="en-US" sz="1000" b="1" kern="0" spc="107">
                <a:solidFill>
                  <a:srgbClr val="3A8A65"/>
                </a:solidFill>
                <a:latin typeface="Inter" panose="02000503000000020004" pitchFamily="2" charset="0"/>
                <a:ea typeface="Inter" panose="02000503000000020004" pitchFamily="2" charset="0"/>
                <a:cs typeface="Inter" panose="02000503000000020004" pitchFamily="2" charset="0"/>
              </a:rPr>
              <a:t>FRAGMENTED INDUSTRY &amp; SPEED-TO-SCALE GAP</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25" name="Text 19">
            <a:extLst>
              <a:ext uri="{FF2B5EF4-FFF2-40B4-BE49-F238E27FC236}">
                <a16:creationId xmlns:a16="http://schemas.microsoft.com/office/drawing/2014/main" id="{9FFC7E5A-9902-FE91-B605-98B30D42753B}"/>
              </a:ext>
            </a:extLst>
          </p:cNvPr>
          <p:cNvSpPr/>
          <p:nvPr/>
        </p:nvSpPr>
        <p:spPr>
          <a:xfrm>
            <a:off x="170688" y="2414016"/>
            <a:ext cx="341376" cy="341376"/>
          </a:xfrm>
          <a:prstGeom prst="rect">
            <a:avLst/>
          </a:prstGeom>
          <a:noFill/>
          <a:ln/>
        </p:spPr>
        <p:txBody>
          <a:bodyPr wrap="square" lIns="0" tIns="0" rIns="0" bIns="0" rtlCol="0" anchor="ctr"/>
          <a:lstStyle/>
          <a:p>
            <a:pPr algn="ctr"/>
            <a:r>
              <a:rPr lang="en-US" sz="1200" b="1">
                <a:solidFill>
                  <a:srgbClr val="FFFFFF"/>
                </a:solidFill>
                <a:latin typeface="Inter" panose="02000503000000020004" pitchFamily="2" charset="0"/>
                <a:ea typeface="Inter" panose="02000503000000020004" pitchFamily="2" charset="0"/>
                <a:cs typeface="Inter" panose="02000503000000020004" pitchFamily="2" charset="0"/>
              </a:rPr>
              <a:t>01</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26" name="Text 26">
            <a:extLst>
              <a:ext uri="{FF2B5EF4-FFF2-40B4-BE49-F238E27FC236}">
                <a16:creationId xmlns:a16="http://schemas.microsoft.com/office/drawing/2014/main" id="{725D61A2-15D1-CFC8-469A-7111A32114F7}"/>
              </a:ext>
            </a:extLst>
          </p:cNvPr>
          <p:cNvSpPr/>
          <p:nvPr/>
        </p:nvSpPr>
        <p:spPr>
          <a:xfrm>
            <a:off x="170688" y="3779520"/>
            <a:ext cx="341376" cy="341376"/>
          </a:xfrm>
          <a:prstGeom prst="rect">
            <a:avLst/>
          </a:prstGeom>
          <a:noFill/>
          <a:ln/>
        </p:spPr>
        <p:txBody>
          <a:bodyPr wrap="square" lIns="0" tIns="0" rIns="0" bIns="0" rtlCol="0" anchor="ctr"/>
          <a:lstStyle/>
          <a:p>
            <a:pPr algn="ctr"/>
            <a:r>
              <a:rPr lang="en-US" sz="1200" b="1">
                <a:solidFill>
                  <a:srgbClr val="FFFFFF"/>
                </a:solidFill>
                <a:latin typeface="Inter" panose="02000503000000020004" pitchFamily="2" charset="0"/>
                <a:ea typeface="Inter" panose="02000503000000020004" pitchFamily="2" charset="0"/>
                <a:cs typeface="Inter" panose="02000503000000020004" pitchFamily="2" charset="0"/>
              </a:rPr>
              <a:t>02</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27" name="Text 33">
            <a:extLst>
              <a:ext uri="{FF2B5EF4-FFF2-40B4-BE49-F238E27FC236}">
                <a16:creationId xmlns:a16="http://schemas.microsoft.com/office/drawing/2014/main" id="{DF1DD29B-DDA1-F5CB-7C60-40522CF878C5}"/>
              </a:ext>
            </a:extLst>
          </p:cNvPr>
          <p:cNvSpPr/>
          <p:nvPr/>
        </p:nvSpPr>
        <p:spPr>
          <a:xfrm>
            <a:off x="170688" y="5120640"/>
            <a:ext cx="341376" cy="341376"/>
          </a:xfrm>
          <a:prstGeom prst="rect">
            <a:avLst/>
          </a:prstGeom>
          <a:noFill/>
          <a:ln/>
        </p:spPr>
        <p:txBody>
          <a:bodyPr wrap="square" lIns="0" tIns="0" rIns="0" bIns="0" rtlCol="0" anchor="ctr"/>
          <a:lstStyle/>
          <a:p>
            <a:pPr algn="ctr"/>
            <a:r>
              <a:rPr lang="en-US" sz="1200" b="1">
                <a:solidFill>
                  <a:srgbClr val="FFFFFF"/>
                </a:solidFill>
                <a:latin typeface="Inter" panose="02000503000000020004" pitchFamily="2" charset="0"/>
                <a:ea typeface="Inter" panose="02000503000000020004" pitchFamily="2" charset="0"/>
                <a:cs typeface="Inter" panose="02000503000000020004" pitchFamily="2" charset="0"/>
              </a:rPr>
              <a:t>03</a:t>
            </a:r>
            <a:endParaRPr lang="en-US" sz="1200">
              <a:latin typeface="Inter" panose="02000503000000020004" pitchFamily="2" charset="0"/>
              <a:ea typeface="Inter" panose="02000503000000020004" pitchFamily="2" charset="0"/>
              <a:cs typeface="Inter" panose="02000503000000020004" pitchFamily="2" charset="0"/>
            </a:endParaRPr>
          </a:p>
        </p:txBody>
      </p:sp>
      <p:sp>
        <p:nvSpPr>
          <p:cNvPr id="28" name="Shape 42">
            <a:extLst>
              <a:ext uri="{FF2B5EF4-FFF2-40B4-BE49-F238E27FC236}">
                <a16:creationId xmlns:a16="http://schemas.microsoft.com/office/drawing/2014/main" id="{FB87DACC-0463-49D8-63E7-FFEFCAE3D6B3}"/>
              </a:ext>
            </a:extLst>
          </p:cNvPr>
          <p:cNvSpPr/>
          <p:nvPr/>
        </p:nvSpPr>
        <p:spPr>
          <a:xfrm>
            <a:off x="4730496" y="1901952"/>
            <a:ext cx="3608832" cy="2194560"/>
          </a:xfrm>
          <a:prstGeom prst="rect">
            <a:avLst/>
          </a:prstGeom>
          <a:solidFill>
            <a:schemeClr val="accent1">
              <a:lumMod val="20000"/>
              <a:lumOff val="80000"/>
            </a:schemeClr>
          </a:solidFill>
          <a:ln w="12700">
            <a:solidFill>
              <a:srgbClr val="1E3558"/>
            </a:solidFill>
            <a:prstDash val="solid"/>
          </a:ln>
        </p:spPr>
        <p:txBody>
          <a:bodyPr/>
          <a:lstStyle/>
          <a:p>
            <a:endParaRPr lang="en-US" sz="2400"/>
          </a:p>
        </p:txBody>
      </p:sp>
      <p:sp>
        <p:nvSpPr>
          <p:cNvPr id="29" name="Shape 43">
            <a:extLst>
              <a:ext uri="{FF2B5EF4-FFF2-40B4-BE49-F238E27FC236}">
                <a16:creationId xmlns:a16="http://schemas.microsoft.com/office/drawing/2014/main" id="{E7BA752D-56E0-F930-9887-7CC7017E4290}"/>
              </a:ext>
            </a:extLst>
          </p:cNvPr>
          <p:cNvSpPr/>
          <p:nvPr/>
        </p:nvSpPr>
        <p:spPr>
          <a:xfrm>
            <a:off x="4730496" y="1901952"/>
            <a:ext cx="3608832" cy="73152"/>
          </a:xfrm>
          <a:prstGeom prst="rect">
            <a:avLst/>
          </a:prstGeom>
          <a:solidFill>
            <a:schemeClr val="accent1">
              <a:lumMod val="50000"/>
            </a:schemeClr>
          </a:solidFill>
          <a:ln w="12700">
            <a:noFill/>
            <a:prstDash val="solid"/>
          </a:ln>
        </p:spPr>
        <p:txBody>
          <a:bodyPr/>
          <a:lstStyle/>
          <a:p>
            <a:endParaRPr lang="en-US" sz="2400">
              <a:solidFill>
                <a:srgbClr val="000000"/>
              </a:solidFill>
            </a:endParaRPr>
          </a:p>
        </p:txBody>
      </p:sp>
      <p:sp>
        <p:nvSpPr>
          <p:cNvPr id="30" name="Text 44">
            <a:extLst>
              <a:ext uri="{FF2B5EF4-FFF2-40B4-BE49-F238E27FC236}">
                <a16:creationId xmlns:a16="http://schemas.microsoft.com/office/drawing/2014/main" id="{9CFF56CD-6797-5552-0475-4632122E869E}"/>
              </a:ext>
            </a:extLst>
          </p:cNvPr>
          <p:cNvSpPr/>
          <p:nvPr/>
        </p:nvSpPr>
        <p:spPr>
          <a:xfrm>
            <a:off x="4931378" y="2099300"/>
            <a:ext cx="390144" cy="316992"/>
          </a:xfrm>
          <a:prstGeom prst="rect">
            <a:avLst/>
          </a:prstGeom>
          <a:noFill/>
          <a:ln/>
        </p:spPr>
        <p:txBody>
          <a:bodyPr wrap="square" lIns="0" tIns="0" rIns="0" bIns="0" rtlCol="0" anchor="ctr"/>
          <a:lstStyle/>
          <a:p>
            <a:r>
              <a:rPr lang="en-US" sz="2200" b="1">
                <a:solidFill>
                  <a:srgbClr val="000000"/>
                </a:solidFill>
                <a:latin typeface="Inter" panose="02000503000000020004" pitchFamily="2" charset="0"/>
                <a:ea typeface="Inter" panose="02000503000000020004" pitchFamily="2" charset="0"/>
                <a:cs typeface="Inter" panose="02000503000000020004" pitchFamily="2" charset="0"/>
              </a:rPr>
              <a:t>01</a:t>
            </a:r>
          </a:p>
        </p:txBody>
      </p:sp>
      <p:sp>
        <p:nvSpPr>
          <p:cNvPr id="31" name="Text 45">
            <a:extLst>
              <a:ext uri="{FF2B5EF4-FFF2-40B4-BE49-F238E27FC236}">
                <a16:creationId xmlns:a16="http://schemas.microsoft.com/office/drawing/2014/main" id="{91F2E1DA-17F4-E221-E376-D025BDE0E2D8}"/>
              </a:ext>
            </a:extLst>
          </p:cNvPr>
          <p:cNvSpPr/>
          <p:nvPr/>
        </p:nvSpPr>
        <p:spPr>
          <a:xfrm>
            <a:off x="5419058" y="2266442"/>
            <a:ext cx="2974848" cy="316992"/>
          </a:xfrm>
          <a:prstGeom prst="rect">
            <a:avLst/>
          </a:prstGeom>
          <a:noFill/>
          <a:ln/>
        </p:spPr>
        <p:txBody>
          <a:bodyPr wrap="square" lIns="0" tIns="0" rIns="0" bIns="0" rtlCol="0" anchor="ctr"/>
          <a:lstStyle/>
          <a:p>
            <a:r>
              <a:rPr lang="en-US" sz="2200" kern="0" spc="107">
                <a:solidFill>
                  <a:srgbClr val="000000"/>
                </a:solidFill>
                <a:latin typeface="Inter" panose="02000503000000020004" pitchFamily="2" charset="0"/>
                <a:ea typeface="Inter" panose="02000503000000020004" pitchFamily="2" charset="0"/>
                <a:cs typeface="Inter" panose="02000503000000020004" pitchFamily="2" charset="0"/>
              </a:rPr>
              <a:t>SOURCING EDGE</a:t>
            </a:r>
            <a:endParaRPr lang="en-US" sz="2200">
              <a:solidFill>
                <a:srgbClr val="000000"/>
              </a:solidFill>
              <a:latin typeface="Inter" panose="02000503000000020004" pitchFamily="2" charset="0"/>
              <a:ea typeface="Inter" panose="02000503000000020004" pitchFamily="2" charset="0"/>
              <a:cs typeface="Inter" panose="02000503000000020004" pitchFamily="2" charset="0"/>
            </a:endParaRPr>
          </a:p>
        </p:txBody>
      </p:sp>
      <p:sp>
        <p:nvSpPr>
          <p:cNvPr id="32" name="Text 46">
            <a:extLst>
              <a:ext uri="{FF2B5EF4-FFF2-40B4-BE49-F238E27FC236}">
                <a16:creationId xmlns:a16="http://schemas.microsoft.com/office/drawing/2014/main" id="{D0A272CE-3EDB-484F-83E0-D6FD3634BCB4}"/>
              </a:ext>
            </a:extLst>
          </p:cNvPr>
          <p:cNvSpPr/>
          <p:nvPr/>
        </p:nvSpPr>
        <p:spPr>
          <a:xfrm>
            <a:off x="4930648" y="3134477"/>
            <a:ext cx="3364992" cy="243840"/>
          </a:xfrm>
          <a:prstGeom prst="rect">
            <a:avLst/>
          </a:prstGeom>
          <a:noFill/>
          <a:ln/>
        </p:spPr>
        <p:txBody>
          <a:bodyPr wrap="square" lIns="0" tIns="0" rIns="0" bIns="0" rtlCol="0" anchor="ctr"/>
          <a:lstStyle/>
          <a:p>
            <a:r>
              <a:rPr lang="en-US" sz="1400" i="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As operators, we have enhanced proprietary access &amp; earn owner trust. We don’t overpay for it.</a:t>
            </a:r>
            <a:endParaRPr lang="en-US" sz="1400">
              <a:solidFill>
                <a:schemeClr val="bg2">
                  <a:lumMod val="10000"/>
                </a:schemeClr>
              </a:solidFill>
              <a:latin typeface="Inter" panose="02000503000000020004" pitchFamily="2" charset="0"/>
              <a:ea typeface="Inter" panose="02000503000000020004" pitchFamily="2" charset="0"/>
              <a:cs typeface="Inter" panose="02000503000000020004" pitchFamily="2" charset="0"/>
            </a:endParaRPr>
          </a:p>
        </p:txBody>
      </p:sp>
      <p:sp>
        <p:nvSpPr>
          <p:cNvPr id="33" name="Shape 52">
            <a:extLst>
              <a:ext uri="{FF2B5EF4-FFF2-40B4-BE49-F238E27FC236}">
                <a16:creationId xmlns:a16="http://schemas.microsoft.com/office/drawing/2014/main" id="{E18D57E9-23E9-29DC-956C-B09C493B09AC}"/>
              </a:ext>
            </a:extLst>
          </p:cNvPr>
          <p:cNvSpPr/>
          <p:nvPr/>
        </p:nvSpPr>
        <p:spPr>
          <a:xfrm>
            <a:off x="8436864" y="1901952"/>
            <a:ext cx="3608832" cy="2194560"/>
          </a:xfrm>
          <a:prstGeom prst="rect">
            <a:avLst/>
          </a:prstGeom>
          <a:solidFill>
            <a:schemeClr val="accent1">
              <a:lumMod val="20000"/>
              <a:lumOff val="80000"/>
            </a:schemeClr>
          </a:solidFill>
          <a:ln w="12700">
            <a:solidFill>
              <a:srgbClr val="1E3558"/>
            </a:solidFill>
            <a:prstDash val="solid"/>
          </a:ln>
        </p:spPr>
        <p:txBody>
          <a:bodyPr/>
          <a:lstStyle/>
          <a:p>
            <a:endParaRPr lang="en-US" sz="2400"/>
          </a:p>
        </p:txBody>
      </p:sp>
      <p:sp>
        <p:nvSpPr>
          <p:cNvPr id="34" name="Shape 53">
            <a:extLst>
              <a:ext uri="{FF2B5EF4-FFF2-40B4-BE49-F238E27FC236}">
                <a16:creationId xmlns:a16="http://schemas.microsoft.com/office/drawing/2014/main" id="{A026E404-7CED-AA5C-0F52-E043B038EA9D}"/>
              </a:ext>
            </a:extLst>
          </p:cNvPr>
          <p:cNvSpPr/>
          <p:nvPr/>
        </p:nvSpPr>
        <p:spPr>
          <a:xfrm>
            <a:off x="8436864" y="1901952"/>
            <a:ext cx="3608832" cy="73152"/>
          </a:xfrm>
          <a:prstGeom prst="rect">
            <a:avLst/>
          </a:prstGeom>
          <a:solidFill>
            <a:schemeClr val="accent1">
              <a:lumMod val="50000"/>
            </a:schemeClr>
          </a:solidFill>
          <a:ln w="12700">
            <a:noFill/>
            <a:prstDash val="solid"/>
          </a:ln>
        </p:spPr>
        <p:txBody>
          <a:bodyPr/>
          <a:lstStyle/>
          <a:p>
            <a:endParaRPr lang="en-US" sz="2400"/>
          </a:p>
        </p:txBody>
      </p:sp>
      <p:sp>
        <p:nvSpPr>
          <p:cNvPr id="35" name="Text 54">
            <a:extLst>
              <a:ext uri="{FF2B5EF4-FFF2-40B4-BE49-F238E27FC236}">
                <a16:creationId xmlns:a16="http://schemas.microsoft.com/office/drawing/2014/main" id="{0CEAF0A7-31BD-406B-618C-3A3834C69E38}"/>
              </a:ext>
            </a:extLst>
          </p:cNvPr>
          <p:cNvSpPr/>
          <p:nvPr/>
        </p:nvSpPr>
        <p:spPr>
          <a:xfrm>
            <a:off x="8583506" y="2095089"/>
            <a:ext cx="390144" cy="316992"/>
          </a:xfrm>
          <a:prstGeom prst="rect">
            <a:avLst/>
          </a:prstGeom>
          <a:noFill/>
          <a:ln/>
        </p:spPr>
        <p:txBody>
          <a:bodyPr wrap="square" lIns="0" tIns="0" rIns="0" bIns="0" rtlCol="0" anchor="ctr"/>
          <a:lstStyle/>
          <a:p>
            <a:r>
              <a:rPr lang="en-US" sz="2200" b="1">
                <a:solidFill>
                  <a:srgbClr val="000000"/>
                </a:solidFill>
                <a:latin typeface="Inter" panose="02000503000000020004" pitchFamily="2" charset="0"/>
                <a:ea typeface="Inter" panose="02000503000000020004" pitchFamily="2" charset="0"/>
                <a:cs typeface="Inter" panose="02000503000000020004" pitchFamily="2" charset="0"/>
              </a:rPr>
              <a:t>02</a:t>
            </a:r>
          </a:p>
        </p:txBody>
      </p:sp>
      <p:sp>
        <p:nvSpPr>
          <p:cNvPr id="36" name="Text 55">
            <a:extLst>
              <a:ext uri="{FF2B5EF4-FFF2-40B4-BE49-F238E27FC236}">
                <a16:creationId xmlns:a16="http://schemas.microsoft.com/office/drawing/2014/main" id="{0EC59905-3B96-3541-BEBB-FD897C61060C}"/>
              </a:ext>
            </a:extLst>
          </p:cNvPr>
          <p:cNvSpPr/>
          <p:nvPr/>
        </p:nvSpPr>
        <p:spPr>
          <a:xfrm>
            <a:off x="9168384" y="2259992"/>
            <a:ext cx="2612799" cy="315057"/>
          </a:xfrm>
          <a:prstGeom prst="rect">
            <a:avLst/>
          </a:prstGeom>
          <a:noFill/>
          <a:ln/>
        </p:spPr>
        <p:txBody>
          <a:bodyPr wrap="square" lIns="0" tIns="0" rIns="0" bIns="0" rtlCol="0" anchor="ctr"/>
          <a:lstStyle/>
          <a:p>
            <a:r>
              <a:rPr lang="en-US" sz="2200" kern="0" spc="107">
                <a:solidFill>
                  <a:srgbClr val="000000"/>
                </a:solidFill>
                <a:latin typeface="Inter" panose="02000503000000020004" pitchFamily="2" charset="0"/>
                <a:ea typeface="Inter" panose="02000503000000020004" pitchFamily="2" charset="0"/>
                <a:cs typeface="Inter" panose="02000503000000020004" pitchFamily="2" charset="0"/>
              </a:rPr>
              <a:t>NEGOTIATING EDGE</a:t>
            </a:r>
            <a:endParaRPr lang="en-US" sz="2200">
              <a:solidFill>
                <a:srgbClr val="000000"/>
              </a:solidFill>
              <a:latin typeface="Inter" panose="02000503000000020004" pitchFamily="2" charset="0"/>
              <a:ea typeface="Inter" panose="02000503000000020004" pitchFamily="2" charset="0"/>
              <a:cs typeface="Inter" panose="02000503000000020004" pitchFamily="2" charset="0"/>
            </a:endParaRPr>
          </a:p>
        </p:txBody>
      </p:sp>
      <p:sp>
        <p:nvSpPr>
          <p:cNvPr id="37" name="Text 56">
            <a:extLst>
              <a:ext uri="{FF2B5EF4-FFF2-40B4-BE49-F238E27FC236}">
                <a16:creationId xmlns:a16="http://schemas.microsoft.com/office/drawing/2014/main" id="{B7CCE85B-12AB-81B2-3AB5-542F96A06597}"/>
              </a:ext>
            </a:extLst>
          </p:cNvPr>
          <p:cNvSpPr/>
          <p:nvPr/>
        </p:nvSpPr>
        <p:spPr>
          <a:xfrm>
            <a:off x="8558784" y="3229550"/>
            <a:ext cx="3364992" cy="243840"/>
          </a:xfrm>
          <a:prstGeom prst="rect">
            <a:avLst/>
          </a:prstGeom>
          <a:noFill/>
          <a:ln/>
        </p:spPr>
        <p:txBody>
          <a:bodyPr wrap="square" lIns="0" tIns="0" rIns="0" bIns="0" rtlCol="0" anchor="ctr"/>
          <a:lstStyle/>
          <a:p>
            <a:r>
              <a:rPr lang="en-US" sz="1400" i="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We close deals others sponsors can’t, because we understand the operational and market reality they can’t underwrite</a:t>
            </a:r>
            <a:endParaRPr lang="en-US" sz="1400">
              <a:solidFill>
                <a:schemeClr val="bg2">
                  <a:lumMod val="10000"/>
                </a:schemeClr>
              </a:solidFill>
              <a:latin typeface="Inter" panose="02000503000000020004" pitchFamily="2" charset="0"/>
              <a:ea typeface="Inter" panose="02000503000000020004" pitchFamily="2" charset="0"/>
              <a:cs typeface="Inter" panose="02000503000000020004" pitchFamily="2" charset="0"/>
            </a:endParaRPr>
          </a:p>
        </p:txBody>
      </p:sp>
      <p:sp>
        <p:nvSpPr>
          <p:cNvPr id="38" name="Shape 62">
            <a:extLst>
              <a:ext uri="{FF2B5EF4-FFF2-40B4-BE49-F238E27FC236}">
                <a16:creationId xmlns:a16="http://schemas.microsoft.com/office/drawing/2014/main" id="{2AA2D822-06BF-3B0A-4899-CFA11E92F3D2}"/>
              </a:ext>
            </a:extLst>
          </p:cNvPr>
          <p:cNvSpPr/>
          <p:nvPr/>
        </p:nvSpPr>
        <p:spPr>
          <a:xfrm>
            <a:off x="4730496" y="4169664"/>
            <a:ext cx="3608832" cy="1755648"/>
          </a:xfrm>
          <a:prstGeom prst="rect">
            <a:avLst/>
          </a:prstGeom>
          <a:solidFill>
            <a:schemeClr val="accent1">
              <a:lumMod val="20000"/>
              <a:lumOff val="80000"/>
            </a:schemeClr>
          </a:solidFill>
          <a:ln w="12700">
            <a:solidFill>
              <a:srgbClr val="1E3558"/>
            </a:solidFill>
            <a:prstDash val="solid"/>
          </a:ln>
        </p:spPr>
        <p:txBody>
          <a:bodyPr/>
          <a:lstStyle/>
          <a:p>
            <a:pPr marL="342900" indent="-342900">
              <a:buFont typeface="Arial" panose="020B0604020202020204" pitchFamily="34" charset="0"/>
              <a:buChar char="•"/>
            </a:pPr>
            <a:endParaRPr lang="en-US" sz="2400"/>
          </a:p>
        </p:txBody>
      </p:sp>
      <p:sp>
        <p:nvSpPr>
          <p:cNvPr id="39" name="Shape 63">
            <a:extLst>
              <a:ext uri="{FF2B5EF4-FFF2-40B4-BE49-F238E27FC236}">
                <a16:creationId xmlns:a16="http://schemas.microsoft.com/office/drawing/2014/main" id="{8C3413BB-6109-CFF1-8E92-7C34E8E92105}"/>
              </a:ext>
            </a:extLst>
          </p:cNvPr>
          <p:cNvSpPr/>
          <p:nvPr/>
        </p:nvSpPr>
        <p:spPr>
          <a:xfrm>
            <a:off x="4730496" y="4169664"/>
            <a:ext cx="3608832" cy="73152"/>
          </a:xfrm>
          <a:prstGeom prst="rect">
            <a:avLst/>
          </a:prstGeom>
          <a:solidFill>
            <a:schemeClr val="accent1">
              <a:lumMod val="50000"/>
            </a:schemeClr>
          </a:solidFill>
          <a:ln w="12700">
            <a:noFill/>
            <a:prstDash val="solid"/>
          </a:ln>
        </p:spPr>
        <p:txBody>
          <a:bodyPr/>
          <a:lstStyle/>
          <a:p>
            <a:endParaRPr lang="en-US" sz="2400"/>
          </a:p>
        </p:txBody>
      </p:sp>
      <p:sp>
        <p:nvSpPr>
          <p:cNvPr id="40" name="Text 64">
            <a:extLst>
              <a:ext uri="{FF2B5EF4-FFF2-40B4-BE49-F238E27FC236}">
                <a16:creationId xmlns:a16="http://schemas.microsoft.com/office/drawing/2014/main" id="{FCACDAC8-3C9E-F328-8FEE-A390D20949BC}"/>
              </a:ext>
            </a:extLst>
          </p:cNvPr>
          <p:cNvSpPr/>
          <p:nvPr/>
        </p:nvSpPr>
        <p:spPr>
          <a:xfrm>
            <a:off x="4876800" y="4271928"/>
            <a:ext cx="466372" cy="515933"/>
          </a:xfrm>
          <a:prstGeom prst="rect">
            <a:avLst/>
          </a:prstGeom>
          <a:noFill/>
          <a:ln/>
        </p:spPr>
        <p:txBody>
          <a:bodyPr wrap="square" lIns="0" tIns="0" rIns="0" bIns="0" rtlCol="0" anchor="ctr"/>
          <a:lstStyle/>
          <a:p>
            <a:r>
              <a:rPr lang="en-US" sz="2200" b="1">
                <a:solidFill>
                  <a:srgbClr val="000000"/>
                </a:solidFill>
                <a:latin typeface="Inter" panose="02000503000000020004" pitchFamily="2" charset="0"/>
                <a:ea typeface="Inter" panose="02000503000000020004" pitchFamily="2" charset="0"/>
                <a:cs typeface="Inter" panose="02000503000000020004" pitchFamily="2" charset="0"/>
              </a:rPr>
              <a:t>03</a:t>
            </a:r>
          </a:p>
        </p:txBody>
      </p:sp>
      <p:sp>
        <p:nvSpPr>
          <p:cNvPr id="41" name="Text 65">
            <a:extLst>
              <a:ext uri="{FF2B5EF4-FFF2-40B4-BE49-F238E27FC236}">
                <a16:creationId xmlns:a16="http://schemas.microsoft.com/office/drawing/2014/main" id="{391BC320-21A9-A206-AC10-2D16B4D0CC1D}"/>
              </a:ext>
            </a:extLst>
          </p:cNvPr>
          <p:cNvSpPr/>
          <p:nvPr/>
        </p:nvSpPr>
        <p:spPr>
          <a:xfrm>
            <a:off x="5440708" y="4529894"/>
            <a:ext cx="2974848" cy="316992"/>
          </a:xfrm>
          <a:prstGeom prst="rect">
            <a:avLst/>
          </a:prstGeom>
          <a:noFill/>
          <a:ln/>
        </p:spPr>
        <p:txBody>
          <a:bodyPr wrap="square" lIns="0" tIns="0" rIns="0" bIns="0" rtlCol="0" anchor="ctr"/>
          <a:lstStyle/>
          <a:p>
            <a:r>
              <a:rPr lang="en-US" sz="2200" kern="0" spc="107">
                <a:solidFill>
                  <a:srgbClr val="000000"/>
                </a:solidFill>
                <a:latin typeface="Inter" panose="02000503000000020004" pitchFamily="2" charset="0"/>
                <a:ea typeface="Inter" panose="02000503000000020004" pitchFamily="2" charset="0"/>
                <a:cs typeface="Inter" panose="02000503000000020004" pitchFamily="2" charset="0"/>
              </a:rPr>
              <a:t>UNDERWRITING EDGE</a:t>
            </a:r>
            <a:endParaRPr lang="en-US" sz="2200">
              <a:solidFill>
                <a:srgbClr val="000000"/>
              </a:solidFill>
              <a:latin typeface="Inter" panose="02000503000000020004" pitchFamily="2" charset="0"/>
              <a:ea typeface="Inter" panose="02000503000000020004" pitchFamily="2" charset="0"/>
              <a:cs typeface="Inter" panose="02000503000000020004" pitchFamily="2" charset="0"/>
            </a:endParaRPr>
          </a:p>
        </p:txBody>
      </p:sp>
      <p:sp>
        <p:nvSpPr>
          <p:cNvPr id="42" name="Text 66">
            <a:extLst>
              <a:ext uri="{FF2B5EF4-FFF2-40B4-BE49-F238E27FC236}">
                <a16:creationId xmlns:a16="http://schemas.microsoft.com/office/drawing/2014/main" id="{7DB87017-5D51-957A-EDC8-801B31CB7074}"/>
              </a:ext>
            </a:extLst>
          </p:cNvPr>
          <p:cNvSpPr/>
          <p:nvPr/>
        </p:nvSpPr>
        <p:spPr>
          <a:xfrm>
            <a:off x="4894802" y="5340096"/>
            <a:ext cx="3364992" cy="243840"/>
          </a:xfrm>
          <a:prstGeom prst="rect">
            <a:avLst/>
          </a:prstGeom>
          <a:noFill/>
          <a:ln/>
        </p:spPr>
        <p:txBody>
          <a:bodyPr wrap="square" lIns="0" tIns="0" rIns="0" bIns="0" rtlCol="0" anchor="ctr"/>
          <a:lstStyle/>
          <a:p>
            <a:r>
              <a:rPr lang="en-US" sz="1400" i="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We have decades of PE, operating &amp; Industry Expertise tightly aligned to our investment strategy</a:t>
            </a:r>
            <a:endParaRPr lang="en-US" sz="1400">
              <a:solidFill>
                <a:schemeClr val="bg2">
                  <a:lumMod val="10000"/>
                </a:schemeClr>
              </a:solidFill>
              <a:latin typeface="Inter" panose="02000503000000020004" pitchFamily="2" charset="0"/>
              <a:ea typeface="Inter" panose="02000503000000020004" pitchFamily="2" charset="0"/>
              <a:cs typeface="Inter" panose="02000503000000020004" pitchFamily="2" charset="0"/>
            </a:endParaRPr>
          </a:p>
        </p:txBody>
      </p:sp>
      <p:sp>
        <p:nvSpPr>
          <p:cNvPr id="43" name="Shape 72">
            <a:extLst>
              <a:ext uri="{FF2B5EF4-FFF2-40B4-BE49-F238E27FC236}">
                <a16:creationId xmlns:a16="http://schemas.microsoft.com/office/drawing/2014/main" id="{EE5FE071-FB81-A578-0552-B3B555EE5372}"/>
              </a:ext>
            </a:extLst>
          </p:cNvPr>
          <p:cNvSpPr/>
          <p:nvPr/>
        </p:nvSpPr>
        <p:spPr>
          <a:xfrm>
            <a:off x="8436864" y="4169664"/>
            <a:ext cx="3608832" cy="1750568"/>
          </a:xfrm>
          <a:prstGeom prst="rect">
            <a:avLst/>
          </a:prstGeom>
          <a:solidFill>
            <a:schemeClr val="accent1">
              <a:lumMod val="20000"/>
              <a:lumOff val="80000"/>
            </a:schemeClr>
          </a:solidFill>
          <a:ln w="12700">
            <a:solidFill>
              <a:srgbClr val="1E3558"/>
            </a:solidFill>
            <a:prstDash val="solid"/>
          </a:ln>
        </p:spPr>
        <p:txBody>
          <a:bodyPr/>
          <a:lstStyle/>
          <a:p>
            <a:endParaRPr lang="en-US" sz="2400"/>
          </a:p>
        </p:txBody>
      </p:sp>
      <p:sp>
        <p:nvSpPr>
          <p:cNvPr id="44" name="Shape 73">
            <a:extLst>
              <a:ext uri="{FF2B5EF4-FFF2-40B4-BE49-F238E27FC236}">
                <a16:creationId xmlns:a16="http://schemas.microsoft.com/office/drawing/2014/main" id="{A825CD32-E397-EBAF-3368-5BC25041D822}"/>
              </a:ext>
            </a:extLst>
          </p:cNvPr>
          <p:cNvSpPr/>
          <p:nvPr/>
        </p:nvSpPr>
        <p:spPr>
          <a:xfrm>
            <a:off x="8436864" y="4169664"/>
            <a:ext cx="3608832" cy="73152"/>
          </a:xfrm>
          <a:prstGeom prst="rect">
            <a:avLst/>
          </a:prstGeom>
          <a:solidFill>
            <a:schemeClr val="accent1">
              <a:lumMod val="50000"/>
            </a:schemeClr>
          </a:solidFill>
          <a:ln w="12700">
            <a:noFill/>
            <a:prstDash val="solid"/>
          </a:ln>
        </p:spPr>
        <p:txBody>
          <a:bodyPr/>
          <a:lstStyle/>
          <a:p>
            <a:endParaRPr lang="en-US" sz="2400"/>
          </a:p>
        </p:txBody>
      </p:sp>
      <p:sp>
        <p:nvSpPr>
          <p:cNvPr id="45" name="Text 74">
            <a:extLst>
              <a:ext uri="{FF2B5EF4-FFF2-40B4-BE49-F238E27FC236}">
                <a16:creationId xmlns:a16="http://schemas.microsoft.com/office/drawing/2014/main" id="{92698D4D-8ACC-912C-99F5-169952482E07}"/>
              </a:ext>
            </a:extLst>
          </p:cNvPr>
          <p:cNvSpPr/>
          <p:nvPr/>
        </p:nvSpPr>
        <p:spPr>
          <a:xfrm>
            <a:off x="8620082" y="4362078"/>
            <a:ext cx="390144" cy="316992"/>
          </a:xfrm>
          <a:prstGeom prst="rect">
            <a:avLst/>
          </a:prstGeom>
          <a:noFill/>
          <a:ln/>
        </p:spPr>
        <p:txBody>
          <a:bodyPr wrap="square" lIns="0" tIns="0" rIns="0" bIns="0" rtlCol="0" anchor="ctr"/>
          <a:lstStyle/>
          <a:p>
            <a:r>
              <a:rPr lang="en-US" sz="2200" b="1">
                <a:solidFill>
                  <a:srgbClr val="000000"/>
                </a:solidFill>
                <a:latin typeface="Inter" panose="02000503000000020004" pitchFamily="2" charset="0"/>
                <a:ea typeface="Inter" panose="02000503000000020004" pitchFamily="2" charset="0"/>
                <a:cs typeface="Inter" panose="02000503000000020004" pitchFamily="2" charset="0"/>
              </a:rPr>
              <a:t>04</a:t>
            </a:r>
          </a:p>
        </p:txBody>
      </p:sp>
      <p:sp>
        <p:nvSpPr>
          <p:cNvPr id="46" name="Text 75">
            <a:extLst>
              <a:ext uri="{FF2B5EF4-FFF2-40B4-BE49-F238E27FC236}">
                <a16:creationId xmlns:a16="http://schemas.microsoft.com/office/drawing/2014/main" id="{7142C1A1-BAA0-97C6-6389-003B033C85B8}"/>
              </a:ext>
            </a:extLst>
          </p:cNvPr>
          <p:cNvSpPr/>
          <p:nvPr/>
        </p:nvSpPr>
        <p:spPr>
          <a:xfrm>
            <a:off x="9168384" y="4523426"/>
            <a:ext cx="2974848" cy="316992"/>
          </a:xfrm>
          <a:prstGeom prst="rect">
            <a:avLst/>
          </a:prstGeom>
          <a:noFill/>
          <a:ln/>
        </p:spPr>
        <p:txBody>
          <a:bodyPr wrap="square" lIns="0" tIns="0" rIns="0" bIns="0" rtlCol="0" anchor="ctr"/>
          <a:lstStyle/>
          <a:p>
            <a:r>
              <a:rPr lang="en-US" sz="2200" kern="0" spc="107">
                <a:solidFill>
                  <a:srgbClr val="000000"/>
                </a:solidFill>
                <a:latin typeface="Inter" panose="02000503000000020004" pitchFamily="2" charset="0"/>
                <a:ea typeface="Inter" panose="02000503000000020004" pitchFamily="2" charset="0"/>
                <a:cs typeface="Inter" panose="02000503000000020004" pitchFamily="2" charset="0"/>
              </a:rPr>
              <a:t>OPERATIONAL EDGE</a:t>
            </a:r>
            <a:endParaRPr lang="en-US" sz="2200">
              <a:solidFill>
                <a:srgbClr val="000000"/>
              </a:solidFill>
              <a:latin typeface="Inter" panose="02000503000000020004" pitchFamily="2" charset="0"/>
              <a:ea typeface="Inter" panose="02000503000000020004" pitchFamily="2" charset="0"/>
              <a:cs typeface="Inter" panose="02000503000000020004" pitchFamily="2" charset="0"/>
            </a:endParaRPr>
          </a:p>
        </p:txBody>
      </p:sp>
      <p:sp>
        <p:nvSpPr>
          <p:cNvPr id="47" name="Text 76">
            <a:extLst>
              <a:ext uri="{FF2B5EF4-FFF2-40B4-BE49-F238E27FC236}">
                <a16:creationId xmlns:a16="http://schemas.microsoft.com/office/drawing/2014/main" id="{6FADC253-89B3-9645-3322-E9C89DB03AE8}"/>
              </a:ext>
            </a:extLst>
          </p:cNvPr>
          <p:cNvSpPr/>
          <p:nvPr/>
        </p:nvSpPr>
        <p:spPr>
          <a:xfrm>
            <a:off x="8569783" y="5229038"/>
            <a:ext cx="3364992" cy="243840"/>
          </a:xfrm>
          <a:prstGeom prst="rect">
            <a:avLst/>
          </a:prstGeom>
          <a:noFill/>
          <a:ln/>
        </p:spPr>
        <p:txBody>
          <a:bodyPr wrap="square" lIns="0" tIns="0" rIns="0" bIns="0" rtlCol="0" anchor="ctr"/>
          <a:lstStyle/>
          <a:p>
            <a:r>
              <a:rPr lang="en-US" sz="1400" i="1">
                <a:solidFill>
                  <a:schemeClr val="bg2">
                    <a:lumMod val="10000"/>
                  </a:schemeClr>
                </a:solidFill>
                <a:latin typeface="Inter" panose="02000503000000020004" pitchFamily="2" charset="0"/>
                <a:ea typeface="Inter" panose="02000503000000020004" pitchFamily="2" charset="0"/>
                <a:cs typeface="Inter" panose="02000503000000020004" pitchFamily="2" charset="0"/>
              </a:rPr>
              <a:t>We are investor-operators who directly engage</a:t>
            </a:r>
            <a:endParaRPr lang="en-US" sz="1400">
              <a:solidFill>
                <a:schemeClr val="bg2">
                  <a:lumMod val="10000"/>
                </a:schemeClr>
              </a:solidFill>
              <a:latin typeface="Inter" panose="02000503000000020004" pitchFamily="2" charset="0"/>
              <a:ea typeface="Inter" panose="02000503000000020004" pitchFamily="2" charset="0"/>
              <a:cs typeface="Inter" panose="02000503000000020004" pitchFamily="2" charset="0"/>
            </a:endParaRPr>
          </a:p>
        </p:txBody>
      </p:sp>
    </p:spTree>
    <p:extLst>
      <p:ext uri="{BB962C8B-B14F-4D97-AF65-F5344CB8AC3E}">
        <p14:creationId xmlns:p14="http://schemas.microsoft.com/office/powerpoint/2010/main" val="721067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E1A5D-FDA7-FE75-42F2-E15E43FCB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B1911-00A8-F67D-E8BE-4202C9D9BB0F}"/>
              </a:ext>
            </a:extLst>
          </p:cNvPr>
          <p:cNvSpPr>
            <a:spLocks noGrp="1"/>
          </p:cNvSpPr>
          <p:nvPr>
            <p:ph type="title"/>
          </p:nvPr>
        </p:nvSpPr>
        <p:spPr>
          <a:xfrm>
            <a:off x="1259918" y="1725348"/>
            <a:ext cx="3932237" cy="1600200"/>
          </a:xfrm>
        </p:spPr>
        <p:txBody>
          <a:bodyPr/>
          <a:lstStyle/>
          <a:p>
            <a:pPr>
              <a:defRPr sz="3200" b="1">
                <a:solidFill>
                  <a:srgbClr val="1B4D3E"/>
                </a:solidFill>
              </a:defRPr>
            </a:pPr>
            <a:r>
              <a:rPr lang="en-US">
                <a:solidFill>
                  <a:schemeClr val="tx2"/>
                </a:solidFill>
              </a:rPr>
              <a:t>Let's Build Enduring Value Together</a:t>
            </a:r>
          </a:p>
        </p:txBody>
      </p:sp>
      <p:pic>
        <p:nvPicPr>
          <p:cNvPr id="8" name="Content Placeholder 7" descr="A green and black logo&#10;&#10;AI-generated content may be incorrect.">
            <a:extLst>
              <a:ext uri="{FF2B5EF4-FFF2-40B4-BE49-F238E27FC236}">
                <a16:creationId xmlns:a16="http://schemas.microsoft.com/office/drawing/2014/main" id="{535851F7-F68E-6F69-7A2F-6AEBBF24B8A3}"/>
              </a:ext>
            </a:extLst>
          </p:cNvPr>
          <p:cNvPicPr>
            <a:picLocks noGrp="1" noChangeAspect="1"/>
          </p:cNvPicPr>
          <p:nvPr>
            <p:ph idx="1"/>
          </p:nvPr>
        </p:nvPicPr>
        <p:blipFill>
          <a:blip r:embed="rId2"/>
          <a:stretch>
            <a:fillRect/>
          </a:stretch>
        </p:blipFill>
        <p:spPr>
          <a:xfrm>
            <a:off x="6365789" y="2283403"/>
            <a:ext cx="4566293" cy="2283147"/>
          </a:xfrm>
        </p:spPr>
      </p:pic>
      <p:sp>
        <p:nvSpPr>
          <p:cNvPr id="4" name="Text Placeholder 3">
            <a:extLst>
              <a:ext uri="{FF2B5EF4-FFF2-40B4-BE49-F238E27FC236}">
                <a16:creationId xmlns:a16="http://schemas.microsoft.com/office/drawing/2014/main" id="{DB8DE6EA-C2AC-1832-158D-543893D134A5}"/>
              </a:ext>
            </a:extLst>
          </p:cNvPr>
          <p:cNvSpPr>
            <a:spLocks noGrp="1"/>
          </p:cNvSpPr>
          <p:nvPr>
            <p:ph type="body" sz="half" idx="2"/>
          </p:nvPr>
        </p:nvSpPr>
        <p:spPr>
          <a:xfrm>
            <a:off x="1259918" y="3325548"/>
            <a:ext cx="3932237" cy="3811588"/>
          </a:xfrm>
        </p:spPr>
        <p:txBody>
          <a:bodyPr/>
          <a:lstStyle/>
          <a:p>
            <a:r>
              <a:rPr lang="en-US"/>
              <a:t>We partner with management teams, investors, and strategic operators who share our belief in clarity, craft, and stewardship of capital.</a:t>
            </a:r>
            <a:br>
              <a:rPr lang="en-US"/>
            </a:br>
            <a:br>
              <a:rPr lang="en-US"/>
            </a:br>
            <a:r>
              <a:rPr lang="en-US" b="1">
                <a:solidFill>
                  <a:schemeClr val="accent1"/>
                </a:solidFill>
              </a:rPr>
              <a:t>info@catskillpartners.com</a:t>
            </a:r>
          </a:p>
          <a:p>
            <a:endParaRPr lang="en-US"/>
          </a:p>
        </p:txBody>
      </p:sp>
    </p:spTree>
    <p:extLst>
      <p:ext uri="{BB962C8B-B14F-4D97-AF65-F5344CB8AC3E}">
        <p14:creationId xmlns:p14="http://schemas.microsoft.com/office/powerpoint/2010/main" val="2904863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2A3BC-0F04-D9A0-2D61-FE919A492B41}"/>
            </a:ext>
          </a:extLst>
        </p:cNvPr>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68A27287-D14E-E34B-C157-837538062AA7}"/>
              </a:ext>
            </a:extLst>
          </p:cNvPr>
          <p:cNvCxnSpPr/>
          <p:nvPr/>
        </p:nvCxnSpPr>
        <p:spPr>
          <a:xfrm>
            <a:off x="3414403" y="2087607"/>
            <a:ext cx="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 name="Title 3">
            <a:extLst>
              <a:ext uri="{FF2B5EF4-FFF2-40B4-BE49-F238E27FC236}">
                <a16:creationId xmlns:a16="http://schemas.microsoft.com/office/drawing/2014/main" id="{9D252605-8689-7415-93D5-AFC228B50138}"/>
              </a:ext>
            </a:extLst>
          </p:cNvPr>
          <p:cNvSpPr>
            <a:spLocks noGrp="1"/>
          </p:cNvSpPr>
          <p:nvPr>
            <p:ph type="title"/>
          </p:nvPr>
        </p:nvSpPr>
        <p:spPr/>
        <p:txBody>
          <a:bodyPr/>
          <a:lstStyle/>
          <a:p>
            <a:r>
              <a:rPr lang="en-US"/>
              <a:t>Independent Sponsor Legal Structure</a:t>
            </a:r>
          </a:p>
        </p:txBody>
      </p:sp>
      <p:cxnSp>
        <p:nvCxnSpPr>
          <p:cNvPr id="137" name="Straight Connector 136">
            <a:extLst>
              <a:ext uri="{FF2B5EF4-FFF2-40B4-BE49-F238E27FC236}">
                <a16:creationId xmlns:a16="http://schemas.microsoft.com/office/drawing/2014/main" id="{26628102-790F-0D19-D4A5-85B61AF10DB6}"/>
              </a:ext>
            </a:extLst>
          </p:cNvPr>
          <p:cNvCxnSpPr/>
          <p:nvPr/>
        </p:nvCxnSpPr>
        <p:spPr>
          <a:xfrm>
            <a:off x="4084802" y="2834947"/>
            <a:ext cx="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8" name="TextBox 137">
            <a:extLst>
              <a:ext uri="{FF2B5EF4-FFF2-40B4-BE49-F238E27FC236}">
                <a16:creationId xmlns:a16="http://schemas.microsoft.com/office/drawing/2014/main" id="{954C1D2D-E85D-3173-476F-6437C3955B26}"/>
              </a:ext>
            </a:extLst>
          </p:cNvPr>
          <p:cNvSpPr txBox="1"/>
          <p:nvPr/>
        </p:nvSpPr>
        <p:spPr>
          <a:xfrm>
            <a:off x="7844971" y="4295905"/>
            <a:ext cx="2577734" cy="1084912"/>
          </a:xfrm>
          <a:prstGeom prst="rect">
            <a:avLst/>
          </a:prstGeom>
          <a:noFill/>
          <a:ln>
            <a:solidFill>
              <a:schemeClr val="accent1"/>
            </a:solidFill>
          </a:ln>
        </p:spPr>
        <p:txBody>
          <a:bodyPr wrap="square" rtlCol="0">
            <a:spAutoFit/>
          </a:bodyPr>
          <a:lstStyle/>
          <a:p>
            <a:pPr defTabSz="685800"/>
            <a:r>
              <a:rPr lang="en-US" sz="1050" b="1">
                <a:solidFill>
                  <a:srgbClr val="1A4C3D"/>
                </a:solidFill>
                <a:latin typeface="Inter" panose="02000503000000020004" pitchFamily="2" charset="0"/>
                <a:ea typeface="Inter" panose="02000503000000020004" pitchFamily="2" charset="0"/>
              </a:rPr>
              <a:t>Pre-Fund Acquisitions</a:t>
            </a:r>
            <a:br>
              <a:rPr lang="en-US" sz="1350">
                <a:solidFill>
                  <a:srgbClr val="1A4C3D"/>
                </a:solidFill>
                <a:latin typeface="Inter" panose="02000503000000020004" pitchFamily="2" charset="0"/>
                <a:ea typeface="Inter" panose="02000503000000020004" pitchFamily="2" charset="0"/>
              </a:rPr>
            </a:br>
            <a:r>
              <a:rPr lang="en-US" sz="900">
                <a:solidFill>
                  <a:srgbClr val="1A4C3D"/>
                </a:solidFill>
                <a:latin typeface="Inter" panose="02000503000000020004" pitchFamily="2" charset="0"/>
                <a:ea typeface="Inter" panose="02000503000000020004" pitchFamily="2" charset="0"/>
              </a:rPr>
              <a:t>Catskill Partners may pursue acquisitions prior to the formation of any investment fund. If a fund is formed in the future, such investments may be eligible to be contributed to, or otherwise held alongside, a fund vehicle, subject to applicable consents, valuation, and definitive documentation.</a:t>
            </a:r>
          </a:p>
        </p:txBody>
      </p:sp>
      <p:sp>
        <p:nvSpPr>
          <p:cNvPr id="139" name="Text 1">
            <a:extLst>
              <a:ext uri="{FF2B5EF4-FFF2-40B4-BE49-F238E27FC236}">
                <a16:creationId xmlns:a16="http://schemas.microsoft.com/office/drawing/2014/main" id="{80D46B37-96C5-5C68-8579-98E2A3DD4363}"/>
              </a:ext>
            </a:extLst>
          </p:cNvPr>
          <p:cNvSpPr/>
          <p:nvPr/>
        </p:nvSpPr>
        <p:spPr>
          <a:xfrm>
            <a:off x="1798320" y="1689866"/>
            <a:ext cx="8595360" cy="201168"/>
          </a:xfrm>
          <a:prstGeom prst="rect">
            <a:avLst/>
          </a:prstGeom>
          <a:noFill/>
          <a:ln/>
        </p:spPr>
        <p:txBody>
          <a:bodyPr wrap="square" rtlCol="0" anchor="ctr"/>
          <a:lstStyle/>
          <a:p>
            <a:pPr algn="ctr"/>
            <a:r>
              <a:rPr lang="en-US" sz="1000">
                <a:solidFill>
                  <a:srgbClr val="6B7A8D"/>
                </a:solidFill>
                <a:latin typeface="Calibri" pitchFamily="34" charset="0"/>
                <a:ea typeface="Calibri" pitchFamily="34" charset="-122"/>
                <a:cs typeface="Calibri" pitchFamily="34" charset="-120"/>
              </a:rPr>
              <a:t>Independent Sponsor Model  ·  Deal-by-Deal SPV Structure</a:t>
            </a:r>
            <a:endParaRPr lang="en-US" sz="1000">
              <a:solidFill>
                <a:prstClr val="black"/>
              </a:solidFill>
              <a:latin typeface="Calibri" panose="020F0502020204030204"/>
            </a:endParaRPr>
          </a:p>
        </p:txBody>
      </p:sp>
      <p:sp>
        <p:nvSpPr>
          <p:cNvPr id="140" name="Shape 2">
            <a:extLst>
              <a:ext uri="{FF2B5EF4-FFF2-40B4-BE49-F238E27FC236}">
                <a16:creationId xmlns:a16="http://schemas.microsoft.com/office/drawing/2014/main" id="{B0A70812-C424-C44E-E2AF-89AE290967F9}"/>
              </a:ext>
            </a:extLst>
          </p:cNvPr>
          <p:cNvSpPr/>
          <p:nvPr/>
        </p:nvSpPr>
        <p:spPr>
          <a:xfrm>
            <a:off x="4770120" y="1927610"/>
            <a:ext cx="2651760" cy="713232"/>
          </a:xfrm>
          <a:prstGeom prst="rect">
            <a:avLst/>
          </a:prstGeom>
          <a:solidFill>
            <a:srgbClr val="1E4D3A"/>
          </a:solidFill>
          <a:ln w="12700">
            <a:solidFill>
              <a:srgbClr val="1E4D3A"/>
            </a:solidFill>
            <a:prstDash val="solid"/>
          </a:ln>
        </p:spPr>
        <p:txBody>
          <a:bodyPr/>
          <a:lstStyle/>
          <a:p>
            <a:endParaRPr lang="en-US">
              <a:solidFill>
                <a:prstClr val="black"/>
              </a:solidFill>
              <a:latin typeface="Calibri" panose="020F0502020204030204"/>
            </a:endParaRPr>
          </a:p>
        </p:txBody>
      </p:sp>
      <p:sp>
        <p:nvSpPr>
          <p:cNvPr id="141" name="Text 3">
            <a:extLst>
              <a:ext uri="{FF2B5EF4-FFF2-40B4-BE49-F238E27FC236}">
                <a16:creationId xmlns:a16="http://schemas.microsoft.com/office/drawing/2014/main" id="{16549FAF-58E1-D50D-5349-55D140A7416D}"/>
              </a:ext>
            </a:extLst>
          </p:cNvPr>
          <p:cNvSpPr/>
          <p:nvPr/>
        </p:nvSpPr>
        <p:spPr>
          <a:xfrm>
            <a:off x="4843272" y="1927610"/>
            <a:ext cx="2505456" cy="713232"/>
          </a:xfrm>
          <a:prstGeom prst="rect">
            <a:avLst/>
          </a:prstGeom>
          <a:noFill/>
          <a:ln/>
        </p:spPr>
        <p:txBody>
          <a:bodyPr wrap="square" lIns="50800" tIns="50800" rIns="50800" bIns="50800" rtlCol="0" anchor="ctr"/>
          <a:lstStyle/>
          <a:p>
            <a:pPr algn="ctr"/>
            <a:r>
              <a:rPr lang="en-US" sz="1150" b="1">
                <a:solidFill>
                  <a:srgbClr val="FFFFFF"/>
                </a:solidFill>
                <a:latin typeface="Calibri" pitchFamily="34" charset="0"/>
                <a:ea typeface="Calibri" pitchFamily="34" charset="-122"/>
                <a:cs typeface="Calibri" pitchFamily="34" charset="-120"/>
              </a:rPr>
              <a:t>Catskill Partners, LLC</a:t>
            </a:r>
            <a:endParaRPr lang="en-US" sz="1150">
              <a:solidFill>
                <a:prstClr val="black"/>
              </a:solidFill>
              <a:latin typeface="Calibri" panose="020F0502020204030204"/>
            </a:endParaRPr>
          </a:p>
          <a:p>
            <a:pPr algn="ctr"/>
            <a:r>
              <a:rPr lang="en-US" sz="950">
                <a:solidFill>
                  <a:srgbClr val="FFFFFF"/>
                </a:solidFill>
                <a:latin typeface="Calibri" pitchFamily="34" charset="0"/>
                <a:ea typeface="Calibri" pitchFamily="34" charset="-122"/>
                <a:cs typeface="Calibri" pitchFamily="34" charset="-120"/>
              </a:rPr>
              <a:t>Management Company · Delaware LLC</a:t>
            </a:r>
            <a:endParaRPr lang="en-US" sz="1150">
              <a:solidFill>
                <a:prstClr val="black"/>
              </a:solidFill>
              <a:latin typeface="Calibri" panose="020F0502020204030204"/>
            </a:endParaRPr>
          </a:p>
        </p:txBody>
      </p:sp>
      <p:sp>
        <p:nvSpPr>
          <p:cNvPr id="142" name="Shape 4">
            <a:extLst>
              <a:ext uri="{FF2B5EF4-FFF2-40B4-BE49-F238E27FC236}">
                <a16:creationId xmlns:a16="http://schemas.microsoft.com/office/drawing/2014/main" id="{43BB562D-478D-E229-EB3E-10F24615C084}"/>
              </a:ext>
            </a:extLst>
          </p:cNvPr>
          <p:cNvSpPr/>
          <p:nvPr/>
        </p:nvSpPr>
        <p:spPr>
          <a:xfrm>
            <a:off x="4770120" y="2842010"/>
            <a:ext cx="2651760" cy="713232"/>
          </a:xfrm>
          <a:prstGeom prst="rect">
            <a:avLst/>
          </a:prstGeom>
          <a:solidFill>
            <a:srgbClr val="2E9E55"/>
          </a:solidFill>
          <a:ln w="12700">
            <a:solidFill>
              <a:srgbClr val="2E9E55"/>
            </a:solidFill>
            <a:prstDash val="solid"/>
          </a:ln>
        </p:spPr>
        <p:txBody>
          <a:bodyPr/>
          <a:lstStyle/>
          <a:p>
            <a:endParaRPr lang="en-US">
              <a:solidFill>
                <a:prstClr val="black"/>
              </a:solidFill>
              <a:latin typeface="Calibri" panose="020F0502020204030204"/>
            </a:endParaRPr>
          </a:p>
        </p:txBody>
      </p:sp>
      <p:sp>
        <p:nvSpPr>
          <p:cNvPr id="143" name="Text 5">
            <a:extLst>
              <a:ext uri="{FF2B5EF4-FFF2-40B4-BE49-F238E27FC236}">
                <a16:creationId xmlns:a16="http://schemas.microsoft.com/office/drawing/2014/main" id="{C5C7472E-58CF-9CD7-AEAD-460942F17C22}"/>
              </a:ext>
            </a:extLst>
          </p:cNvPr>
          <p:cNvSpPr/>
          <p:nvPr/>
        </p:nvSpPr>
        <p:spPr>
          <a:xfrm>
            <a:off x="4843272" y="2842010"/>
            <a:ext cx="2505456" cy="713232"/>
          </a:xfrm>
          <a:prstGeom prst="rect">
            <a:avLst/>
          </a:prstGeom>
          <a:noFill/>
          <a:ln/>
        </p:spPr>
        <p:txBody>
          <a:bodyPr wrap="square" lIns="50800" tIns="50800" rIns="50800" bIns="50800" rtlCol="0" anchor="ctr"/>
          <a:lstStyle/>
          <a:p>
            <a:pPr algn="ctr"/>
            <a:r>
              <a:rPr lang="en-US" sz="1150" b="1">
                <a:solidFill>
                  <a:srgbClr val="FFFFFF"/>
                </a:solidFill>
                <a:latin typeface="Calibri" pitchFamily="34" charset="0"/>
                <a:ea typeface="Calibri" pitchFamily="34" charset="-122"/>
                <a:cs typeface="Calibri" pitchFamily="34" charset="-120"/>
              </a:rPr>
              <a:t>Deal-Specific SPV LLC</a:t>
            </a:r>
            <a:endParaRPr lang="en-US" sz="1150">
              <a:solidFill>
                <a:prstClr val="black"/>
              </a:solidFill>
              <a:latin typeface="Calibri" panose="020F0502020204030204"/>
            </a:endParaRPr>
          </a:p>
          <a:p>
            <a:pPr algn="ctr"/>
            <a:r>
              <a:rPr lang="en-US" sz="950">
                <a:solidFill>
                  <a:srgbClr val="FFFFFF"/>
                </a:solidFill>
                <a:latin typeface="Calibri" pitchFamily="34" charset="0"/>
                <a:ea typeface="Calibri" pitchFamily="34" charset="-122"/>
                <a:cs typeface="Calibri" pitchFamily="34" charset="-120"/>
              </a:rPr>
              <a:t>Delaware LLC — one per transaction</a:t>
            </a:r>
            <a:endParaRPr lang="en-US" sz="1150">
              <a:solidFill>
                <a:prstClr val="black"/>
              </a:solidFill>
              <a:latin typeface="Calibri" panose="020F0502020204030204"/>
            </a:endParaRPr>
          </a:p>
        </p:txBody>
      </p:sp>
      <p:sp>
        <p:nvSpPr>
          <p:cNvPr id="144" name="Shape 6">
            <a:extLst>
              <a:ext uri="{FF2B5EF4-FFF2-40B4-BE49-F238E27FC236}">
                <a16:creationId xmlns:a16="http://schemas.microsoft.com/office/drawing/2014/main" id="{47FD3B85-EE79-8ED3-8E52-916BE9DC030F}"/>
              </a:ext>
            </a:extLst>
          </p:cNvPr>
          <p:cNvSpPr/>
          <p:nvPr/>
        </p:nvSpPr>
        <p:spPr>
          <a:xfrm>
            <a:off x="4770120" y="3756410"/>
            <a:ext cx="2651760" cy="713232"/>
          </a:xfrm>
          <a:prstGeom prst="rect">
            <a:avLst/>
          </a:prstGeom>
          <a:solidFill>
            <a:srgbClr val="1A7A8A"/>
          </a:solidFill>
          <a:ln w="12700">
            <a:solidFill>
              <a:srgbClr val="1A7A8A"/>
            </a:solidFill>
            <a:prstDash val="solid"/>
          </a:ln>
        </p:spPr>
        <p:txBody>
          <a:bodyPr/>
          <a:lstStyle/>
          <a:p>
            <a:endParaRPr lang="en-US">
              <a:solidFill>
                <a:prstClr val="black"/>
              </a:solidFill>
              <a:latin typeface="Calibri" panose="020F0502020204030204"/>
            </a:endParaRPr>
          </a:p>
        </p:txBody>
      </p:sp>
      <p:sp>
        <p:nvSpPr>
          <p:cNvPr id="145" name="Text 7">
            <a:extLst>
              <a:ext uri="{FF2B5EF4-FFF2-40B4-BE49-F238E27FC236}">
                <a16:creationId xmlns:a16="http://schemas.microsoft.com/office/drawing/2014/main" id="{4F20363D-2F93-FCBF-EAA5-F937188E43AE}"/>
              </a:ext>
            </a:extLst>
          </p:cNvPr>
          <p:cNvSpPr/>
          <p:nvPr/>
        </p:nvSpPr>
        <p:spPr>
          <a:xfrm>
            <a:off x="4843272" y="3756410"/>
            <a:ext cx="2505456" cy="713232"/>
          </a:xfrm>
          <a:prstGeom prst="rect">
            <a:avLst/>
          </a:prstGeom>
          <a:noFill/>
          <a:ln/>
        </p:spPr>
        <p:txBody>
          <a:bodyPr wrap="square" lIns="50800" tIns="50800" rIns="50800" bIns="50800" rtlCol="0" anchor="ctr"/>
          <a:lstStyle/>
          <a:p>
            <a:pPr algn="ctr"/>
            <a:r>
              <a:rPr lang="en-US" sz="1150" b="1">
                <a:solidFill>
                  <a:srgbClr val="FFFFFF"/>
                </a:solidFill>
                <a:latin typeface="Calibri" pitchFamily="34" charset="0"/>
                <a:ea typeface="Calibri" pitchFamily="34" charset="-122"/>
                <a:cs typeface="Calibri" pitchFamily="34" charset="-120"/>
              </a:rPr>
              <a:t>Portfolio Company HoldCo</a:t>
            </a:r>
            <a:endParaRPr lang="en-US" sz="1150">
              <a:solidFill>
                <a:prstClr val="black"/>
              </a:solidFill>
              <a:latin typeface="Calibri" panose="020F0502020204030204"/>
            </a:endParaRPr>
          </a:p>
          <a:p>
            <a:pPr algn="ctr"/>
            <a:r>
              <a:rPr lang="en-US" sz="950">
                <a:solidFill>
                  <a:srgbClr val="FFFFFF"/>
                </a:solidFill>
                <a:latin typeface="Calibri" pitchFamily="34" charset="0"/>
                <a:ea typeface="Calibri" pitchFamily="34" charset="-122"/>
                <a:cs typeface="Calibri" pitchFamily="34" charset="-120"/>
              </a:rPr>
              <a:t>Delaware LLC or C-Corp</a:t>
            </a:r>
            <a:endParaRPr lang="en-US" sz="1150">
              <a:solidFill>
                <a:prstClr val="black"/>
              </a:solidFill>
              <a:latin typeface="Calibri" panose="020F0502020204030204"/>
            </a:endParaRPr>
          </a:p>
        </p:txBody>
      </p:sp>
      <p:sp>
        <p:nvSpPr>
          <p:cNvPr id="146" name="Shape 8">
            <a:extLst>
              <a:ext uri="{FF2B5EF4-FFF2-40B4-BE49-F238E27FC236}">
                <a16:creationId xmlns:a16="http://schemas.microsoft.com/office/drawing/2014/main" id="{B5D08BF7-8FA5-BF45-9D82-2EB1D55060E5}"/>
              </a:ext>
            </a:extLst>
          </p:cNvPr>
          <p:cNvSpPr/>
          <p:nvPr/>
        </p:nvSpPr>
        <p:spPr>
          <a:xfrm>
            <a:off x="4770120" y="4670810"/>
            <a:ext cx="2651760" cy="713232"/>
          </a:xfrm>
          <a:prstGeom prst="rect">
            <a:avLst/>
          </a:prstGeom>
          <a:solidFill>
            <a:srgbClr val="2D3748"/>
          </a:solidFill>
          <a:ln w="12700">
            <a:solidFill>
              <a:srgbClr val="2D3748"/>
            </a:solidFill>
            <a:prstDash val="solid"/>
          </a:ln>
        </p:spPr>
        <p:txBody>
          <a:bodyPr/>
          <a:lstStyle/>
          <a:p>
            <a:endParaRPr lang="en-US">
              <a:solidFill>
                <a:prstClr val="black"/>
              </a:solidFill>
              <a:latin typeface="Calibri" panose="020F0502020204030204"/>
            </a:endParaRPr>
          </a:p>
        </p:txBody>
      </p:sp>
      <p:sp>
        <p:nvSpPr>
          <p:cNvPr id="147" name="Text 9">
            <a:extLst>
              <a:ext uri="{FF2B5EF4-FFF2-40B4-BE49-F238E27FC236}">
                <a16:creationId xmlns:a16="http://schemas.microsoft.com/office/drawing/2014/main" id="{CF5D5828-2370-BC01-F7CE-CEBC1C758F22}"/>
              </a:ext>
            </a:extLst>
          </p:cNvPr>
          <p:cNvSpPr/>
          <p:nvPr/>
        </p:nvSpPr>
        <p:spPr>
          <a:xfrm>
            <a:off x="4843272" y="4670810"/>
            <a:ext cx="2505456" cy="713232"/>
          </a:xfrm>
          <a:prstGeom prst="rect">
            <a:avLst/>
          </a:prstGeom>
          <a:noFill/>
          <a:ln/>
        </p:spPr>
        <p:txBody>
          <a:bodyPr wrap="square" lIns="50800" tIns="50800" rIns="50800" bIns="50800" rtlCol="0" anchor="ctr"/>
          <a:lstStyle/>
          <a:p>
            <a:pPr algn="ctr"/>
            <a:r>
              <a:rPr lang="en-US" sz="1150" b="1">
                <a:solidFill>
                  <a:srgbClr val="FFFFFF"/>
                </a:solidFill>
                <a:latin typeface="Calibri" pitchFamily="34" charset="0"/>
                <a:ea typeface="Calibri" pitchFamily="34" charset="-122"/>
                <a:cs typeface="Calibri" pitchFamily="34" charset="-120"/>
              </a:rPr>
              <a:t>Operating Company (OpCo)</a:t>
            </a:r>
            <a:endParaRPr lang="en-US" sz="1150">
              <a:solidFill>
                <a:prstClr val="black"/>
              </a:solidFill>
              <a:latin typeface="Calibri" panose="020F0502020204030204"/>
            </a:endParaRPr>
          </a:p>
          <a:p>
            <a:pPr algn="ctr"/>
            <a:r>
              <a:rPr lang="en-US" sz="950">
                <a:solidFill>
                  <a:srgbClr val="FFFFFF"/>
                </a:solidFill>
                <a:latin typeface="Calibri" pitchFamily="34" charset="0"/>
                <a:ea typeface="Calibri" pitchFamily="34" charset="-122"/>
                <a:cs typeface="Calibri" pitchFamily="34" charset="-120"/>
              </a:rPr>
              <a:t>Target entity</a:t>
            </a:r>
            <a:endParaRPr lang="en-US" sz="1150">
              <a:solidFill>
                <a:prstClr val="black"/>
              </a:solidFill>
              <a:latin typeface="Calibri" panose="020F0502020204030204"/>
            </a:endParaRPr>
          </a:p>
        </p:txBody>
      </p:sp>
      <p:sp>
        <p:nvSpPr>
          <p:cNvPr id="148" name="Shape 10">
            <a:extLst>
              <a:ext uri="{FF2B5EF4-FFF2-40B4-BE49-F238E27FC236}">
                <a16:creationId xmlns:a16="http://schemas.microsoft.com/office/drawing/2014/main" id="{88DE8A6E-66F3-1854-EC69-F15575E852A0}"/>
              </a:ext>
            </a:extLst>
          </p:cNvPr>
          <p:cNvSpPr/>
          <p:nvPr/>
        </p:nvSpPr>
        <p:spPr>
          <a:xfrm>
            <a:off x="6096000" y="2640842"/>
            <a:ext cx="0" cy="201168"/>
          </a:xfrm>
          <a:prstGeom prst="line">
            <a:avLst/>
          </a:prstGeom>
          <a:noFill/>
          <a:ln w="22860">
            <a:solidFill>
              <a:srgbClr val="9CA3AF"/>
            </a:solidFill>
            <a:prstDash val="solid"/>
            <a:tailEnd type="arrow"/>
          </a:ln>
        </p:spPr>
        <p:txBody>
          <a:bodyPr/>
          <a:lstStyle/>
          <a:p>
            <a:endParaRPr lang="en-US">
              <a:solidFill>
                <a:prstClr val="black"/>
              </a:solidFill>
              <a:latin typeface="Calibri" panose="020F0502020204030204"/>
            </a:endParaRPr>
          </a:p>
        </p:txBody>
      </p:sp>
      <p:sp>
        <p:nvSpPr>
          <p:cNvPr id="149" name="Shape 11">
            <a:extLst>
              <a:ext uri="{FF2B5EF4-FFF2-40B4-BE49-F238E27FC236}">
                <a16:creationId xmlns:a16="http://schemas.microsoft.com/office/drawing/2014/main" id="{3A0A971D-0790-90B3-E558-CA02EC1A51C1}"/>
              </a:ext>
            </a:extLst>
          </p:cNvPr>
          <p:cNvSpPr/>
          <p:nvPr/>
        </p:nvSpPr>
        <p:spPr>
          <a:xfrm>
            <a:off x="6096000" y="3555242"/>
            <a:ext cx="0" cy="201168"/>
          </a:xfrm>
          <a:prstGeom prst="line">
            <a:avLst/>
          </a:prstGeom>
          <a:noFill/>
          <a:ln w="22860">
            <a:solidFill>
              <a:srgbClr val="9CA3AF"/>
            </a:solidFill>
            <a:prstDash val="solid"/>
            <a:tailEnd type="arrow"/>
          </a:ln>
        </p:spPr>
        <p:txBody>
          <a:bodyPr/>
          <a:lstStyle/>
          <a:p>
            <a:endParaRPr lang="en-US">
              <a:solidFill>
                <a:prstClr val="black"/>
              </a:solidFill>
              <a:latin typeface="Calibri" panose="020F0502020204030204"/>
            </a:endParaRPr>
          </a:p>
        </p:txBody>
      </p:sp>
      <p:sp>
        <p:nvSpPr>
          <p:cNvPr id="150" name="Shape 12">
            <a:extLst>
              <a:ext uri="{FF2B5EF4-FFF2-40B4-BE49-F238E27FC236}">
                <a16:creationId xmlns:a16="http://schemas.microsoft.com/office/drawing/2014/main" id="{38F40D55-AE0F-BA01-6F30-4938B0AE2DDA}"/>
              </a:ext>
            </a:extLst>
          </p:cNvPr>
          <p:cNvSpPr/>
          <p:nvPr/>
        </p:nvSpPr>
        <p:spPr>
          <a:xfrm>
            <a:off x="6096000" y="4469642"/>
            <a:ext cx="0" cy="201168"/>
          </a:xfrm>
          <a:prstGeom prst="line">
            <a:avLst/>
          </a:prstGeom>
          <a:noFill/>
          <a:ln w="22860">
            <a:solidFill>
              <a:srgbClr val="9CA3AF"/>
            </a:solidFill>
            <a:prstDash val="solid"/>
            <a:tailEnd type="arrow"/>
          </a:ln>
        </p:spPr>
        <p:txBody>
          <a:bodyPr/>
          <a:lstStyle/>
          <a:p>
            <a:endParaRPr lang="en-US">
              <a:solidFill>
                <a:prstClr val="black"/>
              </a:solidFill>
              <a:latin typeface="Calibri" panose="020F0502020204030204"/>
            </a:endParaRPr>
          </a:p>
        </p:txBody>
      </p:sp>
      <p:sp>
        <p:nvSpPr>
          <p:cNvPr id="151" name="Shape 13">
            <a:extLst>
              <a:ext uri="{FF2B5EF4-FFF2-40B4-BE49-F238E27FC236}">
                <a16:creationId xmlns:a16="http://schemas.microsoft.com/office/drawing/2014/main" id="{1134C632-96DB-EBEB-E272-4EEB9A35D99B}"/>
              </a:ext>
            </a:extLst>
          </p:cNvPr>
          <p:cNvSpPr/>
          <p:nvPr/>
        </p:nvSpPr>
        <p:spPr>
          <a:xfrm>
            <a:off x="1752600" y="2750570"/>
            <a:ext cx="2148840" cy="713232"/>
          </a:xfrm>
          <a:prstGeom prst="rect">
            <a:avLst/>
          </a:prstGeom>
          <a:solidFill>
            <a:srgbClr val="92400E"/>
          </a:solidFill>
          <a:ln w="12700">
            <a:solidFill>
              <a:srgbClr val="92400E"/>
            </a:solidFill>
            <a:prstDash val="solid"/>
          </a:ln>
        </p:spPr>
        <p:txBody>
          <a:bodyPr/>
          <a:lstStyle/>
          <a:p>
            <a:endParaRPr lang="en-US">
              <a:solidFill>
                <a:prstClr val="black"/>
              </a:solidFill>
              <a:latin typeface="Calibri" panose="020F0502020204030204"/>
            </a:endParaRPr>
          </a:p>
        </p:txBody>
      </p:sp>
      <p:sp>
        <p:nvSpPr>
          <p:cNvPr id="152" name="Text 14">
            <a:extLst>
              <a:ext uri="{FF2B5EF4-FFF2-40B4-BE49-F238E27FC236}">
                <a16:creationId xmlns:a16="http://schemas.microsoft.com/office/drawing/2014/main" id="{274AE04C-6A89-2694-D544-C1E29682765A}"/>
              </a:ext>
            </a:extLst>
          </p:cNvPr>
          <p:cNvSpPr/>
          <p:nvPr/>
        </p:nvSpPr>
        <p:spPr>
          <a:xfrm>
            <a:off x="1825752" y="2750570"/>
            <a:ext cx="2002536" cy="713232"/>
          </a:xfrm>
          <a:prstGeom prst="rect">
            <a:avLst/>
          </a:prstGeom>
          <a:noFill/>
          <a:ln/>
        </p:spPr>
        <p:txBody>
          <a:bodyPr wrap="square" lIns="50800" tIns="50800" rIns="50800" bIns="50800" rtlCol="0" anchor="ctr"/>
          <a:lstStyle/>
          <a:p>
            <a:pPr algn="ctr"/>
            <a:r>
              <a:rPr lang="en-US" sz="1150" b="1">
                <a:solidFill>
                  <a:srgbClr val="FFFFFF"/>
                </a:solidFill>
                <a:latin typeface="Calibri" pitchFamily="34" charset="0"/>
                <a:ea typeface="Calibri" pitchFamily="34" charset="-122"/>
                <a:cs typeface="Calibri" pitchFamily="34" charset="-120"/>
              </a:rPr>
              <a:t>Carry / Promote Vehicle</a:t>
            </a:r>
            <a:endParaRPr lang="en-US" sz="1150">
              <a:solidFill>
                <a:prstClr val="black"/>
              </a:solidFill>
              <a:latin typeface="Calibri" panose="020F0502020204030204"/>
            </a:endParaRPr>
          </a:p>
          <a:p>
            <a:pPr algn="ctr"/>
            <a:r>
              <a:rPr lang="en-US" sz="950">
                <a:solidFill>
                  <a:srgbClr val="FFFFFF"/>
                </a:solidFill>
                <a:latin typeface="Calibri" pitchFamily="34" charset="0"/>
                <a:ea typeface="Calibri" pitchFamily="34" charset="-122"/>
                <a:cs typeface="Calibri" pitchFamily="34" charset="-120"/>
              </a:rPr>
              <a:t>Delaware LLC</a:t>
            </a:r>
            <a:endParaRPr lang="en-US" sz="1150">
              <a:solidFill>
                <a:prstClr val="black"/>
              </a:solidFill>
              <a:latin typeface="Calibri" panose="020F0502020204030204"/>
            </a:endParaRPr>
          </a:p>
        </p:txBody>
      </p:sp>
      <p:sp>
        <p:nvSpPr>
          <p:cNvPr id="153" name="Shape 15">
            <a:extLst>
              <a:ext uri="{FF2B5EF4-FFF2-40B4-BE49-F238E27FC236}">
                <a16:creationId xmlns:a16="http://schemas.microsoft.com/office/drawing/2014/main" id="{4F4A7D8F-9471-5C22-4C98-EE9DB3A462C8}"/>
              </a:ext>
            </a:extLst>
          </p:cNvPr>
          <p:cNvSpPr/>
          <p:nvPr/>
        </p:nvSpPr>
        <p:spPr>
          <a:xfrm>
            <a:off x="3901440" y="3107186"/>
            <a:ext cx="868680" cy="0"/>
          </a:xfrm>
          <a:prstGeom prst="line">
            <a:avLst/>
          </a:prstGeom>
          <a:noFill/>
          <a:ln w="22860">
            <a:solidFill>
              <a:srgbClr val="9CA3AF"/>
            </a:solidFill>
            <a:prstDash val="solid"/>
            <a:tailEnd type="arrow"/>
          </a:ln>
        </p:spPr>
        <p:txBody>
          <a:bodyPr/>
          <a:lstStyle/>
          <a:p>
            <a:endParaRPr lang="en-US">
              <a:solidFill>
                <a:prstClr val="black"/>
              </a:solidFill>
              <a:latin typeface="Calibri" panose="020F0502020204030204"/>
            </a:endParaRPr>
          </a:p>
        </p:txBody>
      </p:sp>
      <p:sp>
        <p:nvSpPr>
          <p:cNvPr id="154" name="Shape 17">
            <a:extLst>
              <a:ext uri="{FF2B5EF4-FFF2-40B4-BE49-F238E27FC236}">
                <a16:creationId xmlns:a16="http://schemas.microsoft.com/office/drawing/2014/main" id="{194AB385-7F83-347E-3E43-DF61029D03DC}"/>
              </a:ext>
            </a:extLst>
          </p:cNvPr>
          <p:cNvSpPr/>
          <p:nvPr/>
        </p:nvSpPr>
        <p:spPr>
          <a:xfrm>
            <a:off x="8290560" y="2457962"/>
            <a:ext cx="2148840" cy="713232"/>
          </a:xfrm>
          <a:prstGeom prst="rect">
            <a:avLst/>
          </a:prstGeom>
          <a:solidFill>
            <a:srgbClr val="1A4A8A"/>
          </a:solidFill>
          <a:ln w="12700">
            <a:solidFill>
              <a:srgbClr val="1A4A8A"/>
            </a:solidFill>
            <a:prstDash val="solid"/>
          </a:ln>
        </p:spPr>
        <p:txBody>
          <a:bodyPr/>
          <a:lstStyle/>
          <a:p>
            <a:endParaRPr lang="en-US">
              <a:solidFill>
                <a:prstClr val="black"/>
              </a:solidFill>
              <a:latin typeface="Calibri" panose="020F0502020204030204"/>
            </a:endParaRPr>
          </a:p>
        </p:txBody>
      </p:sp>
      <p:sp>
        <p:nvSpPr>
          <p:cNvPr id="155" name="Text 18">
            <a:extLst>
              <a:ext uri="{FF2B5EF4-FFF2-40B4-BE49-F238E27FC236}">
                <a16:creationId xmlns:a16="http://schemas.microsoft.com/office/drawing/2014/main" id="{42694826-ADAF-7E6D-2794-43CFBFC78AB6}"/>
              </a:ext>
            </a:extLst>
          </p:cNvPr>
          <p:cNvSpPr/>
          <p:nvPr/>
        </p:nvSpPr>
        <p:spPr>
          <a:xfrm>
            <a:off x="8363712" y="2457962"/>
            <a:ext cx="2002536" cy="713232"/>
          </a:xfrm>
          <a:prstGeom prst="rect">
            <a:avLst/>
          </a:prstGeom>
          <a:noFill/>
          <a:ln/>
        </p:spPr>
        <p:txBody>
          <a:bodyPr wrap="square" lIns="50800" tIns="50800" rIns="50800" bIns="50800" rtlCol="0" anchor="ctr"/>
          <a:lstStyle/>
          <a:p>
            <a:pPr algn="ctr"/>
            <a:r>
              <a:rPr lang="en-US" sz="1150" b="1">
                <a:solidFill>
                  <a:srgbClr val="FFFFFF"/>
                </a:solidFill>
                <a:latin typeface="Calibri" pitchFamily="34" charset="0"/>
                <a:ea typeface="Calibri" pitchFamily="34" charset="-122"/>
                <a:cs typeface="Calibri" pitchFamily="34" charset="-120"/>
              </a:rPr>
              <a:t>Co-Investors / LPs</a:t>
            </a:r>
            <a:endParaRPr lang="en-US" sz="1150">
              <a:solidFill>
                <a:prstClr val="black"/>
              </a:solidFill>
              <a:latin typeface="Calibri" panose="020F0502020204030204"/>
            </a:endParaRPr>
          </a:p>
          <a:p>
            <a:pPr algn="ctr"/>
            <a:r>
              <a:rPr lang="en-US" sz="950">
                <a:solidFill>
                  <a:srgbClr val="FFFFFF"/>
                </a:solidFill>
                <a:latin typeface="Calibri" pitchFamily="34" charset="0"/>
                <a:ea typeface="Calibri" pitchFamily="34" charset="-122"/>
                <a:cs typeface="Calibri" pitchFamily="34" charset="-120"/>
              </a:rPr>
              <a:t>Anchor LP · Family Offices · HNW</a:t>
            </a:r>
            <a:endParaRPr lang="en-US" sz="1150">
              <a:solidFill>
                <a:prstClr val="black"/>
              </a:solidFill>
              <a:latin typeface="Calibri" panose="020F0502020204030204"/>
            </a:endParaRPr>
          </a:p>
          <a:p>
            <a:pPr algn="ctr"/>
            <a:r>
              <a:rPr lang="en-US" sz="850" i="1">
                <a:solidFill>
                  <a:srgbClr val="FFFFFF"/>
                </a:solidFill>
                <a:latin typeface="Calibri" pitchFamily="34" charset="0"/>
                <a:ea typeface="Calibri" pitchFamily="34" charset="-122"/>
                <a:cs typeface="Calibri" pitchFamily="34" charset="-120"/>
              </a:rPr>
              <a:t>Direct LP capital into SPV</a:t>
            </a:r>
            <a:endParaRPr lang="en-US" sz="1150">
              <a:solidFill>
                <a:prstClr val="black"/>
              </a:solidFill>
              <a:latin typeface="Calibri" panose="020F0502020204030204"/>
            </a:endParaRPr>
          </a:p>
        </p:txBody>
      </p:sp>
      <p:sp>
        <p:nvSpPr>
          <p:cNvPr id="156" name="Shape 19">
            <a:extLst>
              <a:ext uri="{FF2B5EF4-FFF2-40B4-BE49-F238E27FC236}">
                <a16:creationId xmlns:a16="http://schemas.microsoft.com/office/drawing/2014/main" id="{4C16A599-536B-25D0-8DEB-6A52DEE1EA22}"/>
              </a:ext>
            </a:extLst>
          </p:cNvPr>
          <p:cNvSpPr/>
          <p:nvPr/>
        </p:nvSpPr>
        <p:spPr>
          <a:xfrm>
            <a:off x="8290560" y="3226058"/>
            <a:ext cx="2148840" cy="713232"/>
          </a:xfrm>
          <a:prstGeom prst="rect">
            <a:avLst/>
          </a:prstGeom>
          <a:solidFill>
            <a:srgbClr val="4A5568"/>
          </a:solidFill>
          <a:ln w="12700">
            <a:solidFill>
              <a:srgbClr val="4A5568"/>
            </a:solidFill>
            <a:prstDash val="solid"/>
          </a:ln>
        </p:spPr>
        <p:txBody>
          <a:bodyPr/>
          <a:lstStyle/>
          <a:p>
            <a:endParaRPr lang="en-US">
              <a:solidFill>
                <a:prstClr val="black"/>
              </a:solidFill>
              <a:latin typeface="Calibri" panose="020F0502020204030204"/>
            </a:endParaRPr>
          </a:p>
        </p:txBody>
      </p:sp>
      <p:sp>
        <p:nvSpPr>
          <p:cNvPr id="157" name="Text 20">
            <a:extLst>
              <a:ext uri="{FF2B5EF4-FFF2-40B4-BE49-F238E27FC236}">
                <a16:creationId xmlns:a16="http://schemas.microsoft.com/office/drawing/2014/main" id="{7D8069C8-5FDD-F080-83C7-67AD7EF73499}"/>
              </a:ext>
            </a:extLst>
          </p:cNvPr>
          <p:cNvSpPr/>
          <p:nvPr/>
        </p:nvSpPr>
        <p:spPr>
          <a:xfrm>
            <a:off x="8363712" y="3226058"/>
            <a:ext cx="2002536" cy="713232"/>
          </a:xfrm>
          <a:prstGeom prst="rect">
            <a:avLst/>
          </a:prstGeom>
          <a:noFill/>
          <a:ln/>
        </p:spPr>
        <p:txBody>
          <a:bodyPr wrap="square" lIns="50800" tIns="50800" rIns="50800" bIns="50800" rtlCol="0" anchor="ctr"/>
          <a:lstStyle/>
          <a:p>
            <a:pPr algn="ctr"/>
            <a:r>
              <a:rPr lang="en-US" sz="1150" b="1">
                <a:solidFill>
                  <a:srgbClr val="FFFFFF"/>
                </a:solidFill>
                <a:latin typeface="Calibri" pitchFamily="34" charset="0"/>
                <a:ea typeface="Calibri" pitchFamily="34" charset="-122"/>
                <a:cs typeface="Calibri" pitchFamily="34" charset="-120"/>
              </a:rPr>
              <a:t>Blocker LLC</a:t>
            </a:r>
            <a:endParaRPr lang="en-US" sz="1150">
              <a:solidFill>
                <a:prstClr val="black"/>
              </a:solidFill>
              <a:latin typeface="Calibri" panose="020F0502020204030204"/>
            </a:endParaRPr>
          </a:p>
          <a:p>
            <a:pPr algn="ctr"/>
            <a:r>
              <a:rPr lang="en-US" sz="950">
                <a:solidFill>
                  <a:srgbClr val="FFFFFF"/>
                </a:solidFill>
                <a:latin typeface="Calibri" pitchFamily="34" charset="0"/>
                <a:ea typeface="Calibri" pitchFamily="34" charset="-122"/>
                <a:cs typeface="Calibri" pitchFamily="34" charset="-120"/>
              </a:rPr>
              <a:t>Delaware LLC (if applicable)</a:t>
            </a:r>
            <a:endParaRPr lang="en-US" sz="1150">
              <a:solidFill>
                <a:prstClr val="black"/>
              </a:solidFill>
              <a:latin typeface="Calibri" panose="020F0502020204030204"/>
            </a:endParaRPr>
          </a:p>
        </p:txBody>
      </p:sp>
      <p:sp>
        <p:nvSpPr>
          <p:cNvPr id="158" name="Shape 21">
            <a:extLst>
              <a:ext uri="{FF2B5EF4-FFF2-40B4-BE49-F238E27FC236}">
                <a16:creationId xmlns:a16="http://schemas.microsoft.com/office/drawing/2014/main" id="{6159FB96-23A2-7143-DA7F-72C51C7E8580}"/>
              </a:ext>
            </a:extLst>
          </p:cNvPr>
          <p:cNvSpPr/>
          <p:nvPr/>
        </p:nvSpPr>
        <p:spPr>
          <a:xfrm flipH="1">
            <a:off x="7495032" y="2814578"/>
            <a:ext cx="795528" cy="292608"/>
          </a:xfrm>
          <a:prstGeom prst="line">
            <a:avLst/>
          </a:prstGeom>
          <a:noFill/>
          <a:ln w="22860">
            <a:solidFill>
              <a:srgbClr val="9CA3AF"/>
            </a:solidFill>
            <a:prstDash val="solid"/>
            <a:headEnd type="none"/>
            <a:tailEnd type="arrow"/>
          </a:ln>
        </p:spPr>
        <p:txBody>
          <a:bodyPr/>
          <a:lstStyle/>
          <a:p>
            <a:endParaRPr lang="en-US">
              <a:solidFill>
                <a:prstClr val="black"/>
              </a:solidFill>
              <a:latin typeface="Calibri" panose="020F0502020204030204"/>
            </a:endParaRPr>
          </a:p>
        </p:txBody>
      </p:sp>
      <p:sp>
        <p:nvSpPr>
          <p:cNvPr id="159" name="Shape 22">
            <a:extLst>
              <a:ext uri="{FF2B5EF4-FFF2-40B4-BE49-F238E27FC236}">
                <a16:creationId xmlns:a16="http://schemas.microsoft.com/office/drawing/2014/main" id="{A9B31E27-B0CC-D5F0-FBD7-F44BD3CDA728}"/>
              </a:ext>
            </a:extLst>
          </p:cNvPr>
          <p:cNvSpPr/>
          <p:nvPr/>
        </p:nvSpPr>
        <p:spPr>
          <a:xfrm flipH="1" flipV="1">
            <a:off x="7495032" y="3280922"/>
            <a:ext cx="795528" cy="301752"/>
          </a:xfrm>
          <a:prstGeom prst="line">
            <a:avLst/>
          </a:prstGeom>
          <a:noFill/>
          <a:ln w="22860">
            <a:solidFill>
              <a:srgbClr val="9CA3AF"/>
            </a:solidFill>
            <a:prstDash val="solid"/>
            <a:headEnd type="none"/>
            <a:tailEnd type="arrow"/>
          </a:ln>
        </p:spPr>
        <p:txBody>
          <a:bodyPr/>
          <a:lstStyle/>
          <a:p>
            <a:endParaRPr lang="en-US">
              <a:solidFill>
                <a:prstClr val="black"/>
              </a:solidFill>
              <a:latin typeface="Calibri" panose="020F0502020204030204"/>
            </a:endParaRPr>
          </a:p>
        </p:txBody>
      </p:sp>
      <p:sp>
        <p:nvSpPr>
          <p:cNvPr id="160" name="Shape 25">
            <a:extLst>
              <a:ext uri="{FF2B5EF4-FFF2-40B4-BE49-F238E27FC236}">
                <a16:creationId xmlns:a16="http://schemas.microsoft.com/office/drawing/2014/main" id="{148D37BD-A328-7D7D-1072-AA0E4EC51514}"/>
              </a:ext>
            </a:extLst>
          </p:cNvPr>
          <p:cNvSpPr/>
          <p:nvPr/>
        </p:nvSpPr>
        <p:spPr>
          <a:xfrm>
            <a:off x="1798320" y="5512058"/>
            <a:ext cx="8595360" cy="0"/>
          </a:xfrm>
          <a:prstGeom prst="line">
            <a:avLst/>
          </a:prstGeom>
          <a:noFill/>
          <a:ln w="12700">
            <a:solidFill>
              <a:srgbClr val="E5E7EB"/>
            </a:solidFill>
            <a:prstDash val="solid"/>
          </a:ln>
        </p:spPr>
        <p:txBody>
          <a:bodyPr/>
          <a:lstStyle/>
          <a:p>
            <a:endParaRPr lang="en-US">
              <a:solidFill>
                <a:prstClr val="black"/>
              </a:solidFill>
              <a:latin typeface="Calibri" panose="020F0502020204030204"/>
            </a:endParaRPr>
          </a:p>
        </p:txBody>
      </p:sp>
      <p:sp>
        <p:nvSpPr>
          <p:cNvPr id="161" name="Shape 26">
            <a:extLst>
              <a:ext uri="{FF2B5EF4-FFF2-40B4-BE49-F238E27FC236}">
                <a16:creationId xmlns:a16="http://schemas.microsoft.com/office/drawing/2014/main" id="{C2A1A42D-E570-29DE-6720-50FBCF8EDD5B}"/>
              </a:ext>
            </a:extLst>
          </p:cNvPr>
          <p:cNvSpPr/>
          <p:nvPr/>
        </p:nvSpPr>
        <p:spPr>
          <a:xfrm>
            <a:off x="1807464" y="5630930"/>
            <a:ext cx="137160" cy="137160"/>
          </a:xfrm>
          <a:prstGeom prst="rect">
            <a:avLst/>
          </a:prstGeom>
          <a:solidFill>
            <a:srgbClr val="1E4D3A"/>
          </a:solidFill>
          <a:ln w="12700">
            <a:solidFill>
              <a:srgbClr val="1E4D3A"/>
            </a:solidFill>
            <a:prstDash val="solid"/>
          </a:ln>
        </p:spPr>
        <p:txBody>
          <a:bodyPr/>
          <a:lstStyle/>
          <a:p>
            <a:endParaRPr lang="en-US">
              <a:solidFill>
                <a:prstClr val="black"/>
              </a:solidFill>
              <a:latin typeface="Calibri" panose="020F0502020204030204"/>
            </a:endParaRPr>
          </a:p>
        </p:txBody>
      </p:sp>
      <p:sp>
        <p:nvSpPr>
          <p:cNvPr id="162" name="Text 27">
            <a:extLst>
              <a:ext uri="{FF2B5EF4-FFF2-40B4-BE49-F238E27FC236}">
                <a16:creationId xmlns:a16="http://schemas.microsoft.com/office/drawing/2014/main" id="{42B1526F-FD9C-BF36-A490-F371F79A6C08}"/>
              </a:ext>
            </a:extLst>
          </p:cNvPr>
          <p:cNvSpPr/>
          <p:nvPr/>
        </p:nvSpPr>
        <p:spPr>
          <a:xfrm>
            <a:off x="1990344" y="5603498"/>
            <a:ext cx="1024128" cy="201168"/>
          </a:xfrm>
          <a:prstGeom prst="rect">
            <a:avLst/>
          </a:prstGeom>
          <a:noFill/>
          <a:ln/>
        </p:spPr>
        <p:txBody>
          <a:bodyPr wrap="square" rtlCol="0" anchor="ctr"/>
          <a:lstStyle/>
          <a:p>
            <a:r>
              <a:rPr lang="en-US" sz="800">
                <a:solidFill>
                  <a:srgbClr val="374151"/>
                </a:solidFill>
                <a:latin typeface="Calibri" pitchFamily="34" charset="0"/>
                <a:ea typeface="Calibri" pitchFamily="34" charset="-122"/>
                <a:cs typeface="Calibri" pitchFamily="34" charset="-120"/>
              </a:rPr>
              <a:t>Management company</a:t>
            </a:r>
            <a:endParaRPr lang="en-US" sz="800">
              <a:solidFill>
                <a:prstClr val="black"/>
              </a:solidFill>
              <a:latin typeface="Calibri" panose="020F0502020204030204"/>
            </a:endParaRPr>
          </a:p>
        </p:txBody>
      </p:sp>
      <p:sp>
        <p:nvSpPr>
          <p:cNvPr id="163" name="Shape 28">
            <a:extLst>
              <a:ext uri="{FF2B5EF4-FFF2-40B4-BE49-F238E27FC236}">
                <a16:creationId xmlns:a16="http://schemas.microsoft.com/office/drawing/2014/main" id="{829A9EBB-A56B-C098-29F0-A5294D482792}"/>
              </a:ext>
            </a:extLst>
          </p:cNvPr>
          <p:cNvSpPr/>
          <p:nvPr/>
        </p:nvSpPr>
        <p:spPr>
          <a:xfrm>
            <a:off x="3032760" y="5630930"/>
            <a:ext cx="137160" cy="137160"/>
          </a:xfrm>
          <a:prstGeom prst="rect">
            <a:avLst/>
          </a:prstGeom>
          <a:solidFill>
            <a:srgbClr val="92400E"/>
          </a:solidFill>
          <a:ln w="12700">
            <a:solidFill>
              <a:srgbClr val="92400E"/>
            </a:solidFill>
            <a:prstDash val="solid"/>
          </a:ln>
        </p:spPr>
        <p:txBody>
          <a:bodyPr/>
          <a:lstStyle/>
          <a:p>
            <a:endParaRPr lang="en-US">
              <a:solidFill>
                <a:prstClr val="black"/>
              </a:solidFill>
              <a:latin typeface="Calibri" panose="020F0502020204030204"/>
            </a:endParaRPr>
          </a:p>
        </p:txBody>
      </p:sp>
      <p:sp>
        <p:nvSpPr>
          <p:cNvPr id="164" name="Text 29">
            <a:extLst>
              <a:ext uri="{FF2B5EF4-FFF2-40B4-BE49-F238E27FC236}">
                <a16:creationId xmlns:a16="http://schemas.microsoft.com/office/drawing/2014/main" id="{C68C82DF-171B-9181-7435-C9A572E321E4}"/>
              </a:ext>
            </a:extLst>
          </p:cNvPr>
          <p:cNvSpPr/>
          <p:nvPr/>
        </p:nvSpPr>
        <p:spPr>
          <a:xfrm>
            <a:off x="3215640" y="5603498"/>
            <a:ext cx="1024128" cy="201168"/>
          </a:xfrm>
          <a:prstGeom prst="rect">
            <a:avLst/>
          </a:prstGeom>
          <a:noFill/>
          <a:ln/>
        </p:spPr>
        <p:txBody>
          <a:bodyPr wrap="square" rtlCol="0" anchor="ctr"/>
          <a:lstStyle/>
          <a:p>
            <a:r>
              <a:rPr lang="en-US" sz="800">
                <a:solidFill>
                  <a:srgbClr val="374151"/>
                </a:solidFill>
                <a:latin typeface="Calibri" pitchFamily="34" charset="0"/>
                <a:ea typeface="Calibri" pitchFamily="34" charset="-122"/>
                <a:cs typeface="Calibri" pitchFamily="34" charset="-120"/>
              </a:rPr>
              <a:t>Carry / promote vehicle</a:t>
            </a:r>
            <a:endParaRPr lang="en-US" sz="800">
              <a:solidFill>
                <a:prstClr val="black"/>
              </a:solidFill>
              <a:latin typeface="Calibri" panose="020F0502020204030204"/>
            </a:endParaRPr>
          </a:p>
        </p:txBody>
      </p:sp>
      <p:sp>
        <p:nvSpPr>
          <p:cNvPr id="165" name="Shape 30">
            <a:extLst>
              <a:ext uri="{FF2B5EF4-FFF2-40B4-BE49-F238E27FC236}">
                <a16:creationId xmlns:a16="http://schemas.microsoft.com/office/drawing/2014/main" id="{B83CF36D-0496-B307-6D99-7DEAD959AC16}"/>
              </a:ext>
            </a:extLst>
          </p:cNvPr>
          <p:cNvSpPr/>
          <p:nvPr/>
        </p:nvSpPr>
        <p:spPr>
          <a:xfrm>
            <a:off x="4258056" y="5630930"/>
            <a:ext cx="137160" cy="137160"/>
          </a:xfrm>
          <a:prstGeom prst="rect">
            <a:avLst/>
          </a:prstGeom>
          <a:solidFill>
            <a:srgbClr val="1A4A8A"/>
          </a:solidFill>
          <a:ln w="12700">
            <a:solidFill>
              <a:srgbClr val="1A4A8A"/>
            </a:solidFill>
            <a:prstDash val="solid"/>
          </a:ln>
        </p:spPr>
        <p:txBody>
          <a:bodyPr/>
          <a:lstStyle/>
          <a:p>
            <a:endParaRPr lang="en-US">
              <a:solidFill>
                <a:prstClr val="black"/>
              </a:solidFill>
              <a:latin typeface="Calibri" panose="020F0502020204030204"/>
            </a:endParaRPr>
          </a:p>
        </p:txBody>
      </p:sp>
      <p:sp>
        <p:nvSpPr>
          <p:cNvPr id="166" name="Text 31">
            <a:extLst>
              <a:ext uri="{FF2B5EF4-FFF2-40B4-BE49-F238E27FC236}">
                <a16:creationId xmlns:a16="http://schemas.microsoft.com/office/drawing/2014/main" id="{C543430A-74FF-1BAB-F565-1904512E094B}"/>
              </a:ext>
            </a:extLst>
          </p:cNvPr>
          <p:cNvSpPr/>
          <p:nvPr/>
        </p:nvSpPr>
        <p:spPr>
          <a:xfrm>
            <a:off x="4440936" y="5603498"/>
            <a:ext cx="1024128" cy="201168"/>
          </a:xfrm>
          <a:prstGeom prst="rect">
            <a:avLst/>
          </a:prstGeom>
          <a:noFill/>
          <a:ln/>
        </p:spPr>
        <p:txBody>
          <a:bodyPr wrap="square" rtlCol="0" anchor="ctr"/>
          <a:lstStyle/>
          <a:p>
            <a:r>
              <a:rPr lang="en-US" sz="800">
                <a:solidFill>
                  <a:srgbClr val="374151"/>
                </a:solidFill>
                <a:latin typeface="Calibri" pitchFamily="34" charset="0"/>
                <a:ea typeface="Calibri" pitchFamily="34" charset="-122"/>
                <a:cs typeface="Calibri" pitchFamily="34" charset="-120"/>
              </a:rPr>
              <a:t>Co-investors / LPs</a:t>
            </a:r>
            <a:endParaRPr lang="en-US" sz="800">
              <a:solidFill>
                <a:prstClr val="black"/>
              </a:solidFill>
              <a:latin typeface="Calibri" panose="020F0502020204030204"/>
            </a:endParaRPr>
          </a:p>
        </p:txBody>
      </p:sp>
      <p:sp>
        <p:nvSpPr>
          <p:cNvPr id="167" name="Shape 32">
            <a:extLst>
              <a:ext uri="{FF2B5EF4-FFF2-40B4-BE49-F238E27FC236}">
                <a16:creationId xmlns:a16="http://schemas.microsoft.com/office/drawing/2014/main" id="{089A54E8-657A-1BB4-DB1A-200D2495CE81}"/>
              </a:ext>
            </a:extLst>
          </p:cNvPr>
          <p:cNvSpPr/>
          <p:nvPr/>
        </p:nvSpPr>
        <p:spPr>
          <a:xfrm>
            <a:off x="5483352" y="5630930"/>
            <a:ext cx="137160" cy="137160"/>
          </a:xfrm>
          <a:prstGeom prst="rect">
            <a:avLst/>
          </a:prstGeom>
          <a:solidFill>
            <a:srgbClr val="4A5568"/>
          </a:solidFill>
          <a:ln w="12700">
            <a:solidFill>
              <a:srgbClr val="4A5568"/>
            </a:solidFill>
            <a:prstDash val="solid"/>
          </a:ln>
        </p:spPr>
        <p:txBody>
          <a:bodyPr/>
          <a:lstStyle/>
          <a:p>
            <a:endParaRPr lang="en-US">
              <a:solidFill>
                <a:prstClr val="black"/>
              </a:solidFill>
              <a:latin typeface="Calibri" panose="020F0502020204030204"/>
            </a:endParaRPr>
          </a:p>
        </p:txBody>
      </p:sp>
      <p:sp>
        <p:nvSpPr>
          <p:cNvPr id="168" name="Text 33">
            <a:extLst>
              <a:ext uri="{FF2B5EF4-FFF2-40B4-BE49-F238E27FC236}">
                <a16:creationId xmlns:a16="http://schemas.microsoft.com/office/drawing/2014/main" id="{6AD5C641-0A5C-757D-24FF-93F7F32DC1F1}"/>
              </a:ext>
            </a:extLst>
          </p:cNvPr>
          <p:cNvSpPr/>
          <p:nvPr/>
        </p:nvSpPr>
        <p:spPr>
          <a:xfrm>
            <a:off x="5666232" y="5603498"/>
            <a:ext cx="1024128" cy="201168"/>
          </a:xfrm>
          <a:prstGeom prst="rect">
            <a:avLst/>
          </a:prstGeom>
          <a:noFill/>
          <a:ln/>
        </p:spPr>
        <p:txBody>
          <a:bodyPr wrap="square" rtlCol="0" anchor="ctr"/>
          <a:lstStyle/>
          <a:p>
            <a:r>
              <a:rPr lang="en-US" sz="800">
                <a:solidFill>
                  <a:srgbClr val="374151"/>
                </a:solidFill>
                <a:latin typeface="Calibri" pitchFamily="34" charset="0"/>
                <a:ea typeface="Calibri" pitchFamily="34" charset="-122"/>
                <a:cs typeface="Calibri" pitchFamily="34" charset="-120"/>
              </a:rPr>
              <a:t>Tax blocker (situational)</a:t>
            </a:r>
            <a:endParaRPr lang="en-US" sz="800">
              <a:solidFill>
                <a:prstClr val="black"/>
              </a:solidFill>
              <a:latin typeface="Calibri" panose="020F0502020204030204"/>
            </a:endParaRPr>
          </a:p>
        </p:txBody>
      </p:sp>
      <p:sp>
        <p:nvSpPr>
          <p:cNvPr id="169" name="Shape 34">
            <a:extLst>
              <a:ext uri="{FF2B5EF4-FFF2-40B4-BE49-F238E27FC236}">
                <a16:creationId xmlns:a16="http://schemas.microsoft.com/office/drawing/2014/main" id="{F1E8CDEC-B789-A647-9EB5-8B4708B3D420}"/>
              </a:ext>
            </a:extLst>
          </p:cNvPr>
          <p:cNvSpPr/>
          <p:nvPr/>
        </p:nvSpPr>
        <p:spPr>
          <a:xfrm>
            <a:off x="6708648" y="5630930"/>
            <a:ext cx="137160" cy="137160"/>
          </a:xfrm>
          <a:prstGeom prst="rect">
            <a:avLst/>
          </a:prstGeom>
          <a:solidFill>
            <a:srgbClr val="2E9E55"/>
          </a:solidFill>
          <a:ln w="12700">
            <a:solidFill>
              <a:srgbClr val="2E9E55"/>
            </a:solidFill>
            <a:prstDash val="solid"/>
          </a:ln>
        </p:spPr>
        <p:txBody>
          <a:bodyPr/>
          <a:lstStyle/>
          <a:p>
            <a:endParaRPr lang="en-US">
              <a:solidFill>
                <a:prstClr val="black"/>
              </a:solidFill>
              <a:latin typeface="Calibri" panose="020F0502020204030204"/>
            </a:endParaRPr>
          </a:p>
        </p:txBody>
      </p:sp>
      <p:sp>
        <p:nvSpPr>
          <p:cNvPr id="170" name="Text 35">
            <a:extLst>
              <a:ext uri="{FF2B5EF4-FFF2-40B4-BE49-F238E27FC236}">
                <a16:creationId xmlns:a16="http://schemas.microsoft.com/office/drawing/2014/main" id="{B6725920-7487-7F67-1ED4-042B845BA15E}"/>
              </a:ext>
            </a:extLst>
          </p:cNvPr>
          <p:cNvSpPr/>
          <p:nvPr/>
        </p:nvSpPr>
        <p:spPr>
          <a:xfrm>
            <a:off x="6891528" y="5603498"/>
            <a:ext cx="1024128" cy="201168"/>
          </a:xfrm>
          <a:prstGeom prst="rect">
            <a:avLst/>
          </a:prstGeom>
          <a:noFill/>
          <a:ln/>
        </p:spPr>
        <p:txBody>
          <a:bodyPr wrap="square" rtlCol="0" anchor="ctr"/>
          <a:lstStyle/>
          <a:p>
            <a:r>
              <a:rPr lang="en-US" sz="800">
                <a:solidFill>
                  <a:srgbClr val="374151"/>
                </a:solidFill>
                <a:latin typeface="Calibri" pitchFamily="34" charset="0"/>
                <a:ea typeface="Calibri" pitchFamily="34" charset="-122"/>
                <a:cs typeface="Calibri" pitchFamily="34" charset="-120"/>
              </a:rPr>
              <a:t>Deal SPV (per transaction)</a:t>
            </a:r>
            <a:endParaRPr lang="en-US" sz="800">
              <a:solidFill>
                <a:prstClr val="black"/>
              </a:solidFill>
              <a:latin typeface="Calibri" panose="020F0502020204030204"/>
            </a:endParaRPr>
          </a:p>
        </p:txBody>
      </p:sp>
      <p:sp>
        <p:nvSpPr>
          <p:cNvPr id="171" name="Shape 36">
            <a:extLst>
              <a:ext uri="{FF2B5EF4-FFF2-40B4-BE49-F238E27FC236}">
                <a16:creationId xmlns:a16="http://schemas.microsoft.com/office/drawing/2014/main" id="{D3EE69BE-6818-153F-D1DE-D5B621CB5BB2}"/>
              </a:ext>
            </a:extLst>
          </p:cNvPr>
          <p:cNvSpPr/>
          <p:nvPr/>
        </p:nvSpPr>
        <p:spPr>
          <a:xfrm>
            <a:off x="7933944" y="5630930"/>
            <a:ext cx="137160" cy="137160"/>
          </a:xfrm>
          <a:prstGeom prst="rect">
            <a:avLst/>
          </a:prstGeom>
          <a:solidFill>
            <a:srgbClr val="1A7A8A"/>
          </a:solidFill>
          <a:ln w="12700">
            <a:solidFill>
              <a:srgbClr val="1A7A8A"/>
            </a:solidFill>
            <a:prstDash val="solid"/>
          </a:ln>
        </p:spPr>
        <p:txBody>
          <a:bodyPr/>
          <a:lstStyle/>
          <a:p>
            <a:endParaRPr lang="en-US">
              <a:solidFill>
                <a:prstClr val="black"/>
              </a:solidFill>
              <a:latin typeface="Calibri" panose="020F0502020204030204"/>
            </a:endParaRPr>
          </a:p>
        </p:txBody>
      </p:sp>
      <p:sp>
        <p:nvSpPr>
          <p:cNvPr id="172" name="Text 37">
            <a:extLst>
              <a:ext uri="{FF2B5EF4-FFF2-40B4-BE49-F238E27FC236}">
                <a16:creationId xmlns:a16="http://schemas.microsoft.com/office/drawing/2014/main" id="{CF6CEEFD-4670-4BAD-4234-51C602CFA4A5}"/>
              </a:ext>
            </a:extLst>
          </p:cNvPr>
          <p:cNvSpPr/>
          <p:nvPr/>
        </p:nvSpPr>
        <p:spPr>
          <a:xfrm>
            <a:off x="8116824" y="5603498"/>
            <a:ext cx="1024128" cy="201168"/>
          </a:xfrm>
          <a:prstGeom prst="rect">
            <a:avLst/>
          </a:prstGeom>
          <a:noFill/>
          <a:ln/>
        </p:spPr>
        <p:txBody>
          <a:bodyPr wrap="square" rtlCol="0" anchor="ctr"/>
          <a:lstStyle/>
          <a:p>
            <a:r>
              <a:rPr lang="en-US" sz="800">
                <a:solidFill>
                  <a:srgbClr val="374151"/>
                </a:solidFill>
                <a:latin typeface="Calibri" pitchFamily="34" charset="0"/>
                <a:ea typeface="Calibri" pitchFamily="34" charset="-122"/>
                <a:cs typeface="Calibri" pitchFamily="34" charset="-120"/>
              </a:rPr>
              <a:t>Acquisition HoldCo</a:t>
            </a:r>
            <a:endParaRPr lang="en-US" sz="800">
              <a:solidFill>
                <a:prstClr val="black"/>
              </a:solidFill>
              <a:latin typeface="Calibri" panose="020F0502020204030204"/>
            </a:endParaRPr>
          </a:p>
        </p:txBody>
      </p:sp>
      <p:sp>
        <p:nvSpPr>
          <p:cNvPr id="173" name="Shape 38">
            <a:extLst>
              <a:ext uri="{FF2B5EF4-FFF2-40B4-BE49-F238E27FC236}">
                <a16:creationId xmlns:a16="http://schemas.microsoft.com/office/drawing/2014/main" id="{EF769386-1587-D53D-FCA4-2FA80822B69E}"/>
              </a:ext>
            </a:extLst>
          </p:cNvPr>
          <p:cNvSpPr/>
          <p:nvPr/>
        </p:nvSpPr>
        <p:spPr>
          <a:xfrm>
            <a:off x="9159240" y="5630930"/>
            <a:ext cx="137160" cy="137160"/>
          </a:xfrm>
          <a:prstGeom prst="rect">
            <a:avLst/>
          </a:prstGeom>
          <a:solidFill>
            <a:srgbClr val="2D3748"/>
          </a:solidFill>
          <a:ln w="12700">
            <a:solidFill>
              <a:srgbClr val="2D3748"/>
            </a:solidFill>
            <a:prstDash val="solid"/>
          </a:ln>
        </p:spPr>
        <p:txBody>
          <a:bodyPr/>
          <a:lstStyle/>
          <a:p>
            <a:endParaRPr lang="en-US">
              <a:solidFill>
                <a:prstClr val="black"/>
              </a:solidFill>
              <a:latin typeface="Calibri" panose="020F0502020204030204"/>
            </a:endParaRPr>
          </a:p>
        </p:txBody>
      </p:sp>
      <p:sp>
        <p:nvSpPr>
          <p:cNvPr id="174" name="Text 39">
            <a:extLst>
              <a:ext uri="{FF2B5EF4-FFF2-40B4-BE49-F238E27FC236}">
                <a16:creationId xmlns:a16="http://schemas.microsoft.com/office/drawing/2014/main" id="{95DA29FD-459D-35BC-2C6A-35D5D598483D}"/>
              </a:ext>
            </a:extLst>
          </p:cNvPr>
          <p:cNvSpPr/>
          <p:nvPr/>
        </p:nvSpPr>
        <p:spPr>
          <a:xfrm>
            <a:off x="9342120" y="5603498"/>
            <a:ext cx="1024128" cy="201168"/>
          </a:xfrm>
          <a:prstGeom prst="rect">
            <a:avLst/>
          </a:prstGeom>
          <a:noFill/>
          <a:ln/>
        </p:spPr>
        <p:txBody>
          <a:bodyPr wrap="square" rtlCol="0" anchor="ctr"/>
          <a:lstStyle/>
          <a:p>
            <a:r>
              <a:rPr lang="en-US" sz="800">
                <a:solidFill>
                  <a:srgbClr val="374151"/>
                </a:solidFill>
                <a:latin typeface="Calibri" pitchFamily="34" charset="0"/>
                <a:ea typeface="Calibri" pitchFamily="34" charset="-122"/>
                <a:cs typeface="Calibri" pitchFamily="34" charset="-120"/>
              </a:rPr>
              <a:t>Operating company</a:t>
            </a:r>
            <a:endParaRPr lang="en-US" sz="800">
              <a:solidFill>
                <a:prstClr val="black"/>
              </a:solidFill>
              <a:latin typeface="Calibri" panose="020F0502020204030204"/>
            </a:endParaRPr>
          </a:p>
        </p:txBody>
      </p:sp>
      <p:sp>
        <p:nvSpPr>
          <p:cNvPr id="175" name="Text 0">
            <a:extLst>
              <a:ext uri="{FF2B5EF4-FFF2-40B4-BE49-F238E27FC236}">
                <a16:creationId xmlns:a16="http://schemas.microsoft.com/office/drawing/2014/main" id="{BF9B2FA8-9D6D-1147-5D2D-B73B0C7CC2C4}"/>
              </a:ext>
            </a:extLst>
          </p:cNvPr>
          <p:cNvSpPr/>
          <p:nvPr/>
        </p:nvSpPr>
        <p:spPr>
          <a:xfrm>
            <a:off x="1798320" y="1360682"/>
            <a:ext cx="8595360" cy="347472"/>
          </a:xfrm>
          <a:prstGeom prst="rect">
            <a:avLst/>
          </a:prstGeom>
          <a:noFill/>
          <a:ln/>
        </p:spPr>
        <p:txBody>
          <a:bodyPr wrap="square" rtlCol="0" anchor="ctr"/>
          <a:lstStyle/>
          <a:p>
            <a:pPr marL="0" indent="0" algn="ctr">
              <a:buNone/>
            </a:pPr>
            <a:r>
              <a:rPr lang="en-US" sz="1700" b="1">
                <a:solidFill>
                  <a:srgbClr val="1E4D3A"/>
                </a:solidFill>
                <a:latin typeface="Calibri" pitchFamily="34" charset="0"/>
                <a:ea typeface="Calibri" pitchFamily="34" charset="-122"/>
                <a:cs typeface="Calibri" pitchFamily="34" charset="-120"/>
              </a:rPr>
              <a:t>Catskill Partners — Legal Entity Structure</a:t>
            </a:r>
            <a:endParaRPr lang="en-US" sz="1700"/>
          </a:p>
        </p:txBody>
      </p:sp>
    </p:spTree>
    <p:extLst>
      <p:ext uri="{BB962C8B-B14F-4D97-AF65-F5344CB8AC3E}">
        <p14:creationId xmlns:p14="http://schemas.microsoft.com/office/powerpoint/2010/main" val="2124982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73FDE-8405-17EA-1AB8-33401F90F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627113-341F-75B1-02B2-06A55A99653B}"/>
              </a:ext>
            </a:extLst>
          </p:cNvPr>
          <p:cNvSpPr>
            <a:spLocks noGrp="1"/>
          </p:cNvSpPr>
          <p:nvPr>
            <p:ph type="title"/>
          </p:nvPr>
        </p:nvSpPr>
        <p:spPr>
          <a:xfrm>
            <a:off x="675686" y="318529"/>
            <a:ext cx="10285081" cy="656029"/>
          </a:xfrm>
        </p:spPr>
        <p:txBody>
          <a:bodyPr/>
          <a:lstStyle/>
          <a:p>
            <a:r>
              <a:rPr lang="en-US"/>
              <a:t>Independent Sponsor Model Economics Overview</a:t>
            </a:r>
          </a:p>
        </p:txBody>
      </p:sp>
      <p:cxnSp>
        <p:nvCxnSpPr>
          <p:cNvPr id="14" name="Straight Connector 13">
            <a:extLst>
              <a:ext uri="{FF2B5EF4-FFF2-40B4-BE49-F238E27FC236}">
                <a16:creationId xmlns:a16="http://schemas.microsoft.com/office/drawing/2014/main" id="{641B84D7-D5B1-C24D-77D2-614749308DED}"/>
              </a:ext>
            </a:extLst>
          </p:cNvPr>
          <p:cNvCxnSpPr/>
          <p:nvPr/>
        </p:nvCxnSpPr>
        <p:spPr>
          <a:xfrm>
            <a:off x="3414403" y="2087607"/>
            <a:ext cx="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3CF8B73-EEB9-02FE-2990-6456695E44F1}"/>
              </a:ext>
            </a:extLst>
          </p:cNvPr>
          <p:cNvSpPr txBox="1"/>
          <p:nvPr/>
        </p:nvSpPr>
        <p:spPr>
          <a:xfrm>
            <a:off x="675686" y="1245268"/>
            <a:ext cx="3378956" cy="5726877"/>
          </a:xfrm>
          <a:prstGeom prst="rect">
            <a:avLst/>
          </a:prstGeom>
          <a:noFill/>
          <a:ln>
            <a:noFill/>
          </a:ln>
        </p:spPr>
        <p:txBody>
          <a:bodyPr wrap="square" rtlCol="0">
            <a:noAutofit/>
          </a:bodyPr>
          <a:lstStyle/>
          <a:p>
            <a:pPr>
              <a:spcAft>
                <a:spcPts val="300"/>
              </a:spcAft>
            </a:pPr>
            <a:r>
              <a:rPr lang="en-US" sz="1400" b="1">
                <a:latin typeface="Inter" panose="02000503000000020004" pitchFamily="2" charset="0"/>
                <a:ea typeface="Inter" panose="02000503000000020004" pitchFamily="2" charset="0"/>
              </a:rPr>
              <a:t>Deal Economics</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Preferred Return to LPs: 8%</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Carried Interest: GP Catch up after Preferred Return, 80/20 LP/GP after Catch Up, 75/25 after 3X MOIC</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GP Co-Invest: GP principals co-invest personal capital alongside LPs, including reinvestment of a portion of transaction fees, aligning economics with long-term performance.</a:t>
            </a:r>
          </a:p>
          <a:p>
            <a:pPr marL="285750" indent="-285750">
              <a:spcAft>
                <a:spcPts val="300"/>
              </a:spcAft>
              <a:buFont typeface="Arial" panose="020B0604020202020204" pitchFamily="34" charset="0"/>
              <a:buChar char="•"/>
            </a:pPr>
            <a:endParaRPr lang="en-US" sz="1200">
              <a:latin typeface="Inter" panose="02000503000000020004" pitchFamily="2" charset="0"/>
              <a:ea typeface="Inter" panose="02000503000000020004" pitchFamily="2" charset="0"/>
            </a:endParaRPr>
          </a:p>
          <a:p>
            <a:pPr>
              <a:spcAft>
                <a:spcPts val="300"/>
              </a:spcAft>
            </a:pPr>
            <a:r>
              <a:rPr lang="en-US" sz="1400" b="1">
                <a:latin typeface="Inter" panose="02000503000000020004" pitchFamily="2" charset="0"/>
                <a:ea typeface="Inter" panose="02000503000000020004" pitchFamily="2" charset="0"/>
              </a:rPr>
              <a:t>Management Fee Structure</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Management &amp; Operating Support Fee: Benchmark-based and tied to portfolio company scale, subject to an annual minimum of $300k and cap of $1.5M</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Paid by: Portfolio Company, not LP</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Term: During hold period (~4-6 years)</a:t>
            </a:r>
            <a:endParaRPr lang="en-US" sz="1200" i="1">
              <a:latin typeface="Inter" panose="02000503000000020004" pitchFamily="2" charset="0"/>
              <a:ea typeface="Inter" panose="02000503000000020004" pitchFamily="2" charset="0"/>
            </a:endParaRPr>
          </a:p>
        </p:txBody>
      </p:sp>
      <p:sp>
        <p:nvSpPr>
          <p:cNvPr id="3" name="TextBox 2">
            <a:extLst>
              <a:ext uri="{FF2B5EF4-FFF2-40B4-BE49-F238E27FC236}">
                <a16:creationId xmlns:a16="http://schemas.microsoft.com/office/drawing/2014/main" id="{638DC55C-27C7-1868-991D-AC777040F4C2}"/>
              </a:ext>
            </a:extLst>
          </p:cNvPr>
          <p:cNvSpPr txBox="1"/>
          <p:nvPr/>
        </p:nvSpPr>
        <p:spPr>
          <a:xfrm>
            <a:off x="8137355" y="1245268"/>
            <a:ext cx="3378957" cy="4560784"/>
          </a:xfrm>
          <a:prstGeom prst="rect">
            <a:avLst/>
          </a:prstGeom>
          <a:noFill/>
          <a:ln>
            <a:noFill/>
          </a:ln>
        </p:spPr>
        <p:txBody>
          <a:bodyPr wrap="square" rtlCol="0">
            <a:noAutofit/>
          </a:bodyPr>
          <a:lstStyle/>
          <a:p>
            <a:pPr>
              <a:spcAft>
                <a:spcPts val="300"/>
              </a:spcAft>
            </a:pPr>
            <a:r>
              <a:rPr lang="en-US" sz="1400" b="1">
                <a:latin typeface="Inter" panose="02000503000000020004" pitchFamily="2" charset="0"/>
                <a:ea typeface="Inter" panose="02000503000000020004" pitchFamily="2" charset="0"/>
              </a:rPr>
              <a:t>Investment Timeline</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Deployment: 2-3 Platforms over 24 months</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Target Hold: 4-6 years</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Underwritten Target IRR: 25-30% </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Underwritten Target MOIC: 3.0X – 4.0X</a:t>
            </a:r>
          </a:p>
          <a:p>
            <a:pPr>
              <a:spcAft>
                <a:spcPts val="300"/>
              </a:spcAft>
            </a:pPr>
            <a:endParaRPr lang="en-US" sz="1200" i="1">
              <a:latin typeface="Inter" panose="02000503000000020004" pitchFamily="2" charset="0"/>
              <a:ea typeface="Inter" panose="02000503000000020004" pitchFamily="2" charset="0"/>
            </a:endParaRPr>
          </a:p>
          <a:p>
            <a:pPr>
              <a:spcAft>
                <a:spcPts val="300"/>
              </a:spcAft>
            </a:pPr>
            <a:r>
              <a:rPr lang="en-US" sz="1400" b="1">
                <a:latin typeface="Inter" panose="02000503000000020004" pitchFamily="2" charset="0"/>
                <a:ea typeface="Inter" panose="02000503000000020004" pitchFamily="2" charset="0"/>
              </a:rPr>
              <a:t>LP Terms</a:t>
            </a:r>
          </a:p>
          <a:p>
            <a:pPr marL="192024" indent="-192024">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Commitment: Deal by Deal</a:t>
            </a:r>
          </a:p>
          <a:p>
            <a:pPr marL="192024" indent="-192024">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Target / Min Investment: $1M / negotiable</a:t>
            </a:r>
          </a:p>
          <a:p>
            <a:pPr marL="192024" indent="-192024">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Information Rights: Quarterly Investor Reports / Annual Audits</a:t>
            </a:r>
          </a:p>
          <a:p>
            <a:pPr marL="192024" indent="-192024">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Pro-rata participation rights in add-ons; non-participation results in dilution</a:t>
            </a:r>
          </a:p>
        </p:txBody>
      </p:sp>
      <p:sp>
        <p:nvSpPr>
          <p:cNvPr id="4" name="TextBox 3">
            <a:extLst>
              <a:ext uri="{FF2B5EF4-FFF2-40B4-BE49-F238E27FC236}">
                <a16:creationId xmlns:a16="http://schemas.microsoft.com/office/drawing/2014/main" id="{CFD0A0CE-5619-57D1-1F40-F89DEEE6A2E4}"/>
              </a:ext>
            </a:extLst>
          </p:cNvPr>
          <p:cNvSpPr txBox="1"/>
          <p:nvPr/>
        </p:nvSpPr>
        <p:spPr>
          <a:xfrm>
            <a:off x="4406522" y="1245268"/>
            <a:ext cx="3378956" cy="5726877"/>
          </a:xfrm>
          <a:prstGeom prst="rect">
            <a:avLst/>
          </a:prstGeom>
          <a:noFill/>
          <a:ln>
            <a:noFill/>
          </a:ln>
        </p:spPr>
        <p:txBody>
          <a:bodyPr wrap="square" rtlCol="0">
            <a:noAutofit/>
          </a:bodyPr>
          <a:lstStyle/>
          <a:p>
            <a:pPr>
              <a:spcAft>
                <a:spcPts val="300"/>
              </a:spcAft>
            </a:pPr>
            <a:r>
              <a:rPr lang="en-US" sz="1400" b="1">
                <a:latin typeface="Inter" panose="02000503000000020004" pitchFamily="2" charset="0"/>
                <a:ea typeface="Inter" panose="02000503000000020004" pitchFamily="2" charset="0"/>
              </a:rPr>
              <a:t>Transaction Fee</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Transaction Fee: 2% of EV, paid at closing. This is a one-time fee for investment origination, diligence coordination, structuring, and execution services</a:t>
            </a:r>
          </a:p>
          <a:p>
            <a:pPr marL="194310" indent="-194310">
              <a:spcAft>
                <a:spcPts val="300"/>
              </a:spcAft>
              <a:buFont typeface="Arial" panose="020B0604020202020204" pitchFamily="34" charset="0"/>
              <a:buChar char="•"/>
            </a:pPr>
            <a:endParaRPr lang="en-US" sz="1200">
              <a:latin typeface="Inter" panose="02000503000000020004" pitchFamily="2" charset="0"/>
              <a:ea typeface="Inter" panose="02000503000000020004" pitchFamily="2" charset="0"/>
            </a:endParaRPr>
          </a:p>
          <a:p>
            <a:pPr>
              <a:spcAft>
                <a:spcPts val="300"/>
              </a:spcAft>
            </a:pPr>
            <a:r>
              <a:rPr lang="en-US" sz="1400" b="1">
                <a:latin typeface="Inter" panose="02000503000000020004" pitchFamily="2" charset="0"/>
                <a:ea typeface="Inter" panose="02000503000000020004" pitchFamily="2" charset="0"/>
              </a:rPr>
              <a:t>Typical Deal Profile</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Enterprise Value: $25-$100M</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EBITDA: $5-$12M (deal specific)</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Multiple: Typically, within prevailing lower-middle-market ranges (historically ~5–8x, deal-specific).</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Structure: 50/50 Debt/Equity</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Leverage: 3-4X</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Control: Control investments</a:t>
            </a:r>
          </a:p>
          <a:p>
            <a:pPr>
              <a:spcAft>
                <a:spcPts val="300"/>
              </a:spcAft>
            </a:pPr>
            <a:endParaRPr lang="en-US" sz="1200" b="1">
              <a:latin typeface="Inter" panose="02000503000000020004" pitchFamily="2" charset="0"/>
              <a:ea typeface="Inter" panose="02000503000000020004" pitchFamily="2" charset="0"/>
            </a:endParaRPr>
          </a:p>
          <a:p>
            <a:pPr marL="194310" indent="-194310">
              <a:spcAft>
                <a:spcPts val="300"/>
              </a:spcAft>
              <a:buFont typeface="Arial" panose="020B0604020202020204" pitchFamily="34" charset="0"/>
              <a:buChar char="•"/>
            </a:pPr>
            <a:endParaRPr lang="en-US" sz="1200">
              <a:latin typeface="Inter" panose="02000503000000020004" pitchFamily="2" charset="0"/>
              <a:ea typeface="Inter" panose="02000503000000020004" pitchFamily="2" charset="0"/>
            </a:endParaRPr>
          </a:p>
          <a:p>
            <a:pPr marL="194310" indent="-194310">
              <a:spcAft>
                <a:spcPts val="300"/>
              </a:spcAft>
              <a:buFont typeface="Arial" panose="020B0604020202020204" pitchFamily="34" charset="0"/>
              <a:buChar char="•"/>
            </a:pPr>
            <a:endParaRPr lang="en-US" sz="1200" i="1">
              <a:latin typeface="Inter" panose="02000503000000020004" pitchFamily="2" charset="0"/>
              <a:ea typeface="Inter" panose="02000503000000020004" pitchFamily="2" charset="0"/>
            </a:endParaRPr>
          </a:p>
          <a:p>
            <a:pPr marL="285750" indent="-285750">
              <a:spcAft>
                <a:spcPts val="300"/>
              </a:spcAft>
              <a:buFont typeface="Arial" panose="020B0604020202020204" pitchFamily="34" charset="0"/>
              <a:buChar char="•"/>
            </a:pPr>
            <a:endParaRPr lang="en-US" sz="1200" i="1">
              <a:latin typeface="Inter" panose="02000503000000020004" pitchFamily="2" charset="0"/>
              <a:ea typeface="Inter" panose="02000503000000020004" pitchFamily="2" charset="0"/>
            </a:endParaRPr>
          </a:p>
          <a:p>
            <a:pPr marL="285750" indent="-285750">
              <a:spcAft>
                <a:spcPts val="300"/>
              </a:spcAft>
              <a:buFont typeface="Arial" panose="020B0604020202020204" pitchFamily="34" charset="0"/>
              <a:buChar char="•"/>
            </a:pPr>
            <a:endParaRPr lang="en-US" sz="1200" i="1">
              <a:latin typeface="Inter" panose="02000503000000020004" pitchFamily="2" charset="0"/>
              <a:ea typeface="Inter" panose="02000503000000020004" pitchFamily="2" charset="0"/>
            </a:endParaRPr>
          </a:p>
        </p:txBody>
      </p:sp>
      <p:cxnSp>
        <p:nvCxnSpPr>
          <p:cNvPr id="5" name="Straight Connector 4">
            <a:extLst>
              <a:ext uri="{FF2B5EF4-FFF2-40B4-BE49-F238E27FC236}">
                <a16:creationId xmlns:a16="http://schemas.microsoft.com/office/drawing/2014/main" id="{CDD55528-FC4F-8F59-2A8C-47C6D84EAE71}"/>
              </a:ext>
            </a:extLst>
          </p:cNvPr>
          <p:cNvCxnSpPr>
            <a:cxnSpLocks/>
          </p:cNvCxnSpPr>
          <p:nvPr/>
        </p:nvCxnSpPr>
        <p:spPr>
          <a:xfrm>
            <a:off x="4217068" y="1245268"/>
            <a:ext cx="0" cy="4060658"/>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F31C0D-82DB-FF5E-E653-6D1891649DA0}"/>
              </a:ext>
            </a:extLst>
          </p:cNvPr>
          <p:cNvCxnSpPr>
            <a:cxnSpLocks/>
          </p:cNvCxnSpPr>
          <p:nvPr/>
        </p:nvCxnSpPr>
        <p:spPr>
          <a:xfrm>
            <a:off x="7922794" y="1245268"/>
            <a:ext cx="0" cy="4060658"/>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8174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6A763-130E-9763-75EF-FDAA27B6F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F397C-A8D5-C8D0-1915-2EFAE28BA74E}"/>
              </a:ext>
            </a:extLst>
          </p:cNvPr>
          <p:cNvSpPr>
            <a:spLocks noGrp="1"/>
          </p:cNvSpPr>
          <p:nvPr>
            <p:ph type="title"/>
          </p:nvPr>
        </p:nvSpPr>
        <p:spPr>
          <a:xfrm>
            <a:off x="675687" y="318529"/>
            <a:ext cx="8793166" cy="668060"/>
          </a:xfrm>
        </p:spPr>
        <p:txBody>
          <a:bodyPr/>
          <a:lstStyle/>
          <a:p>
            <a:r>
              <a:rPr lang="en-US"/>
              <a:t>Fund I Model Economics Overview</a:t>
            </a:r>
          </a:p>
        </p:txBody>
      </p:sp>
      <p:cxnSp>
        <p:nvCxnSpPr>
          <p:cNvPr id="14" name="Straight Connector 13">
            <a:extLst>
              <a:ext uri="{FF2B5EF4-FFF2-40B4-BE49-F238E27FC236}">
                <a16:creationId xmlns:a16="http://schemas.microsoft.com/office/drawing/2014/main" id="{8D641D67-6846-0DE7-C77E-877AAA7BA4AB}"/>
              </a:ext>
            </a:extLst>
          </p:cNvPr>
          <p:cNvCxnSpPr/>
          <p:nvPr/>
        </p:nvCxnSpPr>
        <p:spPr>
          <a:xfrm>
            <a:off x="3414403" y="2087607"/>
            <a:ext cx="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907D1C08-78B1-FD7D-6D48-2101337285AA}"/>
              </a:ext>
            </a:extLst>
          </p:cNvPr>
          <p:cNvSpPr txBox="1"/>
          <p:nvPr/>
        </p:nvSpPr>
        <p:spPr>
          <a:xfrm>
            <a:off x="675689" y="1245268"/>
            <a:ext cx="3018006" cy="4193456"/>
          </a:xfrm>
          <a:prstGeom prst="rect">
            <a:avLst/>
          </a:prstGeom>
          <a:noFill/>
          <a:ln>
            <a:noFill/>
          </a:ln>
        </p:spPr>
        <p:txBody>
          <a:bodyPr wrap="square" rtlCol="0">
            <a:spAutoFit/>
          </a:bodyPr>
          <a:lstStyle/>
          <a:p>
            <a:pPr>
              <a:spcAft>
                <a:spcPts val="300"/>
              </a:spcAft>
            </a:pPr>
            <a:r>
              <a:rPr lang="en-US" sz="1400" b="1">
                <a:latin typeface="Inter" panose="02000503000000020004" pitchFamily="2" charset="0"/>
                <a:ea typeface="Inter" panose="02000503000000020004" pitchFamily="2" charset="0"/>
              </a:rPr>
              <a:t>Fund Structure</a:t>
            </a:r>
          </a:p>
          <a:p>
            <a:pPr marL="192024" indent="-192024">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Target Fund Size: $250M</a:t>
            </a:r>
          </a:p>
          <a:p>
            <a:pPr marL="192024" indent="-192024">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Investment Period: 5 years with two 1-year extensions at GP discretion</a:t>
            </a:r>
          </a:p>
          <a:p>
            <a:pPr marL="192024" indent="-192024">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Fund Life: 10 years, with two 1-year extensions subject to LP approval</a:t>
            </a:r>
          </a:p>
          <a:p>
            <a:pPr marL="192024" indent="-192024">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Reserve: ~25% for add-on acquisitions (flexible based on opportunities)</a:t>
            </a:r>
          </a:p>
          <a:p>
            <a:pPr>
              <a:spcAft>
                <a:spcPts val="300"/>
              </a:spcAft>
            </a:pPr>
            <a:endParaRPr lang="en-US" sz="1200" b="1">
              <a:latin typeface="Inter" panose="02000503000000020004" pitchFamily="2" charset="0"/>
              <a:ea typeface="Inter" panose="02000503000000020004" pitchFamily="2" charset="0"/>
            </a:endParaRPr>
          </a:p>
          <a:p>
            <a:pPr>
              <a:spcAft>
                <a:spcPts val="300"/>
              </a:spcAft>
            </a:pPr>
            <a:r>
              <a:rPr lang="en-US" sz="1400" b="1">
                <a:latin typeface="Inter" panose="02000503000000020004" pitchFamily="2" charset="0"/>
                <a:ea typeface="Inter" panose="02000503000000020004" pitchFamily="2" charset="0"/>
              </a:rPr>
              <a:t>Deal Economics</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Preferred Return to LPs: 8%</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Carried Interest: GP Catch up after Preferred Return, 80/20 LP/GP after Catch Up, 75/25 after 3X MOIC</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GP commits 2.0% of equity per platform deal, funded from transaction fees and personal capital. Total GP commitment: $5M over investment period. </a:t>
            </a:r>
          </a:p>
        </p:txBody>
      </p:sp>
      <p:sp>
        <p:nvSpPr>
          <p:cNvPr id="3" name="TextBox 2">
            <a:extLst>
              <a:ext uri="{FF2B5EF4-FFF2-40B4-BE49-F238E27FC236}">
                <a16:creationId xmlns:a16="http://schemas.microsoft.com/office/drawing/2014/main" id="{A009CAA2-7576-9A65-EAE9-456050189973}"/>
              </a:ext>
            </a:extLst>
          </p:cNvPr>
          <p:cNvSpPr txBox="1"/>
          <p:nvPr/>
        </p:nvSpPr>
        <p:spPr>
          <a:xfrm>
            <a:off x="9071810" y="1245268"/>
            <a:ext cx="2779292" cy="4262705"/>
          </a:xfrm>
          <a:prstGeom prst="rect">
            <a:avLst/>
          </a:prstGeom>
          <a:noFill/>
          <a:ln>
            <a:noFill/>
          </a:ln>
        </p:spPr>
        <p:txBody>
          <a:bodyPr wrap="square" rtlCol="0">
            <a:spAutoFit/>
          </a:bodyPr>
          <a:lstStyle/>
          <a:p>
            <a:pPr>
              <a:spcAft>
                <a:spcPts val="300"/>
              </a:spcAft>
            </a:pPr>
            <a:r>
              <a:rPr lang="en-US" sz="1400" b="1">
                <a:latin typeface="Inter" panose="02000503000000020004" pitchFamily="2" charset="0"/>
                <a:ea typeface="Inter" panose="02000503000000020004" pitchFamily="2" charset="0"/>
              </a:rPr>
              <a:t>Investment Timeline</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Deployment: 6-8 platforms over 60 months</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Target Hold: 4-6 years</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Underwritten Target IRR: </a:t>
            </a:r>
            <a:br>
              <a:rPr lang="en-US" sz="1200">
                <a:latin typeface="Inter" panose="02000503000000020004" pitchFamily="2" charset="0"/>
                <a:ea typeface="Inter" panose="02000503000000020004" pitchFamily="2" charset="0"/>
              </a:rPr>
            </a:br>
            <a:r>
              <a:rPr lang="en-US" sz="1200">
                <a:latin typeface="Inter" panose="02000503000000020004" pitchFamily="2" charset="0"/>
                <a:ea typeface="Inter" panose="02000503000000020004" pitchFamily="2" charset="0"/>
              </a:rPr>
              <a:t>25-30% </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Underwritten Target MOIC: </a:t>
            </a:r>
            <a:br>
              <a:rPr lang="en-US" sz="1200">
                <a:latin typeface="Inter" panose="02000503000000020004" pitchFamily="2" charset="0"/>
                <a:ea typeface="Inter" panose="02000503000000020004" pitchFamily="2" charset="0"/>
              </a:rPr>
            </a:br>
            <a:r>
              <a:rPr lang="en-US" sz="1200">
                <a:latin typeface="Inter" panose="02000503000000020004" pitchFamily="2" charset="0"/>
                <a:ea typeface="Inter" panose="02000503000000020004" pitchFamily="2" charset="0"/>
              </a:rPr>
              <a:t>3.0X – 4.0X</a:t>
            </a:r>
          </a:p>
          <a:p>
            <a:pPr>
              <a:spcAft>
                <a:spcPts val="300"/>
              </a:spcAft>
            </a:pPr>
            <a:endParaRPr lang="en-US" sz="1400" i="1">
              <a:latin typeface="Inter" panose="02000503000000020004" pitchFamily="2" charset="0"/>
              <a:ea typeface="Inter" panose="02000503000000020004" pitchFamily="2" charset="0"/>
            </a:endParaRPr>
          </a:p>
          <a:p>
            <a:pPr>
              <a:spcAft>
                <a:spcPts val="300"/>
              </a:spcAft>
            </a:pPr>
            <a:r>
              <a:rPr lang="en-US" sz="1400" b="1">
                <a:latin typeface="Inter" panose="02000503000000020004" pitchFamily="2" charset="0"/>
                <a:ea typeface="Inter" panose="02000503000000020004" pitchFamily="2" charset="0"/>
              </a:rPr>
              <a:t>LP Terms</a:t>
            </a:r>
          </a:p>
          <a:p>
            <a:pPr marL="192024" indent="-192024">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Minimum Investment: </a:t>
            </a:r>
            <a:br>
              <a:rPr lang="en-US" sz="1200">
                <a:latin typeface="Inter" panose="02000503000000020004" pitchFamily="2" charset="0"/>
                <a:ea typeface="Inter" panose="02000503000000020004" pitchFamily="2" charset="0"/>
              </a:rPr>
            </a:br>
            <a:r>
              <a:rPr lang="en-US" sz="1200">
                <a:latin typeface="Inter" panose="02000503000000020004" pitchFamily="2" charset="0"/>
                <a:ea typeface="Inter" panose="02000503000000020004" pitchFamily="2" charset="0"/>
              </a:rPr>
              <a:t>$1M (individual), $3M (family office), $5M (institutional)</a:t>
            </a:r>
          </a:p>
          <a:p>
            <a:pPr marL="192024" indent="-192024">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Information Rights: Quarterly Investor Reports / Annual Audits</a:t>
            </a:r>
          </a:p>
          <a:p>
            <a:pPr marL="192024" indent="-192024">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Platform / Add-On Allocation: 75% Platforms / 25% add-ons, subject to GP discretion based on investment opportunities</a:t>
            </a:r>
          </a:p>
          <a:p>
            <a:pPr marL="171450" indent="-171450">
              <a:spcAft>
                <a:spcPts val="300"/>
              </a:spcAft>
              <a:buFont typeface="Arial" panose="020B0604020202020204" pitchFamily="34" charset="0"/>
              <a:buChar char="•"/>
            </a:pPr>
            <a:endParaRPr lang="en-US" sz="1200">
              <a:latin typeface="Inter" panose="02000503000000020004" pitchFamily="2" charset="0"/>
              <a:ea typeface="Inter" panose="02000503000000020004" pitchFamily="2" charset="0"/>
            </a:endParaRPr>
          </a:p>
        </p:txBody>
      </p:sp>
      <p:sp>
        <p:nvSpPr>
          <p:cNvPr id="4" name="TextBox 3">
            <a:extLst>
              <a:ext uri="{FF2B5EF4-FFF2-40B4-BE49-F238E27FC236}">
                <a16:creationId xmlns:a16="http://schemas.microsoft.com/office/drawing/2014/main" id="{E239984F-75A9-C11F-5AA7-331B529D3B61}"/>
              </a:ext>
            </a:extLst>
          </p:cNvPr>
          <p:cNvSpPr txBox="1"/>
          <p:nvPr/>
        </p:nvSpPr>
        <p:spPr>
          <a:xfrm>
            <a:off x="4078705" y="1245268"/>
            <a:ext cx="4644190" cy="4939814"/>
          </a:xfrm>
          <a:prstGeom prst="rect">
            <a:avLst/>
          </a:prstGeom>
          <a:noFill/>
          <a:ln>
            <a:noFill/>
          </a:ln>
        </p:spPr>
        <p:txBody>
          <a:bodyPr wrap="square" rtlCol="0">
            <a:spAutoFit/>
          </a:bodyPr>
          <a:lstStyle/>
          <a:p>
            <a:pPr>
              <a:spcAft>
                <a:spcPts val="300"/>
              </a:spcAft>
            </a:pPr>
            <a:r>
              <a:rPr lang="en-US" sz="1400" b="1">
                <a:latin typeface="Inter" panose="02000503000000020004" pitchFamily="2" charset="0"/>
                <a:ea typeface="Inter" panose="02000503000000020004" pitchFamily="2" charset="0"/>
              </a:rPr>
              <a:t>Management Fee Structure</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Investment Period (Years 1-5): 2.0% of Committed Capital</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Harvest Period (Years 6-10): 1.5% of NAV</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Tiered structure available for larger commitments</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Paid by: Fund (called from LPs)</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Term: 10 years (5-year investment Period + 5 –year harvest period, plus two 1-year extensions)</a:t>
            </a:r>
          </a:p>
          <a:p>
            <a:pPr marL="194310" indent="-194310">
              <a:spcAft>
                <a:spcPts val="300"/>
              </a:spcAft>
              <a:buFont typeface="Arial" panose="020B0604020202020204" pitchFamily="34" charset="0"/>
              <a:buChar char="•"/>
            </a:pPr>
            <a:endParaRPr lang="en-US" sz="1400">
              <a:latin typeface="Inter" panose="02000503000000020004" pitchFamily="2" charset="0"/>
              <a:ea typeface="Inter" panose="02000503000000020004" pitchFamily="2" charset="0"/>
            </a:endParaRPr>
          </a:p>
          <a:p>
            <a:pPr lvl="0">
              <a:spcAft>
                <a:spcPts val="300"/>
              </a:spcAft>
              <a:defRPr/>
            </a:pPr>
            <a:r>
              <a:rPr lang="en-US" sz="1400" b="1">
                <a:solidFill>
                  <a:srgbClr val="1A4C3D"/>
                </a:solidFill>
                <a:latin typeface="Inter" panose="02000503000000020004" pitchFamily="2" charset="0"/>
                <a:ea typeface="Inter" panose="02000503000000020004" pitchFamily="2" charset="0"/>
              </a:rPr>
              <a:t>Transaction Fee</a:t>
            </a:r>
          </a:p>
          <a:p>
            <a:pPr marL="194310" lvl="0" indent="-194310">
              <a:spcAft>
                <a:spcPts val="300"/>
              </a:spcAft>
              <a:buFont typeface="Arial" panose="020B0604020202020204" pitchFamily="34" charset="0"/>
              <a:buChar char="•"/>
              <a:defRPr/>
            </a:pPr>
            <a:r>
              <a:rPr lang="en-US" sz="1200">
                <a:solidFill>
                  <a:srgbClr val="1A4C3D"/>
                </a:solidFill>
                <a:latin typeface="Inter" panose="02000503000000020004" pitchFamily="2" charset="0"/>
                <a:ea typeface="Inter" panose="02000503000000020004" pitchFamily="2" charset="0"/>
              </a:rPr>
              <a:t>Transaction Fee: 2% of EV, paid at closing. </a:t>
            </a:r>
            <a:br>
              <a:rPr lang="en-US" sz="1200">
                <a:solidFill>
                  <a:srgbClr val="1A4C3D"/>
                </a:solidFill>
                <a:latin typeface="Inter" panose="02000503000000020004" pitchFamily="2" charset="0"/>
                <a:ea typeface="Inter" panose="02000503000000020004" pitchFamily="2" charset="0"/>
              </a:rPr>
            </a:br>
            <a:r>
              <a:rPr lang="en-US" sz="1200">
                <a:solidFill>
                  <a:srgbClr val="1A4C3D"/>
                </a:solidFill>
                <a:latin typeface="Inter" panose="02000503000000020004" pitchFamily="2" charset="0"/>
                <a:ea typeface="Inter" panose="02000503000000020004" pitchFamily="2" charset="0"/>
              </a:rPr>
              <a:t>Transaction fees offset quarterly management fees.</a:t>
            </a:r>
          </a:p>
          <a:p>
            <a:pPr marL="194310" lvl="0" indent="-194310">
              <a:spcAft>
                <a:spcPts val="300"/>
              </a:spcAft>
              <a:buFont typeface="Arial" panose="020B0604020202020204" pitchFamily="34" charset="0"/>
              <a:buChar char="•"/>
              <a:defRPr/>
            </a:pPr>
            <a:endParaRPr lang="en-US" sz="1200" i="1">
              <a:solidFill>
                <a:srgbClr val="1A4C3D"/>
              </a:solidFill>
              <a:latin typeface="Inter" panose="02000503000000020004" pitchFamily="2" charset="0"/>
              <a:ea typeface="Inter" panose="02000503000000020004" pitchFamily="2" charset="0"/>
            </a:endParaRPr>
          </a:p>
          <a:p>
            <a:pPr>
              <a:spcAft>
                <a:spcPts val="300"/>
              </a:spcAft>
            </a:pPr>
            <a:r>
              <a:rPr lang="en-US" sz="1400" b="1">
                <a:latin typeface="Inter" panose="02000503000000020004" pitchFamily="2" charset="0"/>
                <a:ea typeface="Inter" panose="02000503000000020004" pitchFamily="2" charset="0"/>
              </a:rPr>
              <a:t>Typical Deal Profile</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Enterprise Value: $25-$100M</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EBITDA: $5-$12M (deal specific)</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Multiple: Typically, within prevailing lower-middle-market ranges (historically ~5–8x, deal-specific).</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Structure: 50/50 Debt/Equity</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Leverage: 3-4X</a:t>
            </a:r>
          </a:p>
          <a:p>
            <a:pPr marL="194310" indent="-194310">
              <a:spcAft>
                <a:spcPts val="300"/>
              </a:spcAft>
              <a:buFont typeface="Arial" panose="020B0604020202020204" pitchFamily="34" charset="0"/>
              <a:buChar char="•"/>
            </a:pPr>
            <a:r>
              <a:rPr lang="en-US" sz="1200">
                <a:latin typeface="Inter" panose="02000503000000020004" pitchFamily="2" charset="0"/>
                <a:ea typeface="Inter" panose="02000503000000020004" pitchFamily="2" charset="0"/>
              </a:rPr>
              <a:t>Control: Control investments</a:t>
            </a:r>
            <a:endParaRPr lang="en-US" sz="1200" b="1">
              <a:latin typeface="Inter" panose="02000503000000020004" pitchFamily="2" charset="0"/>
              <a:ea typeface="Inter" panose="02000503000000020004" pitchFamily="2" charset="0"/>
            </a:endParaRPr>
          </a:p>
          <a:p>
            <a:pPr marL="194310" lvl="0" indent="-194310">
              <a:spcAft>
                <a:spcPts val="300"/>
              </a:spcAft>
              <a:buFont typeface="Arial" panose="020B0604020202020204" pitchFamily="34" charset="0"/>
              <a:buChar char="•"/>
              <a:defRPr/>
            </a:pPr>
            <a:endParaRPr lang="en-US" sz="1200" i="1">
              <a:solidFill>
                <a:srgbClr val="1A4C3D"/>
              </a:solidFill>
              <a:latin typeface="Inter" panose="02000503000000020004" pitchFamily="2" charset="0"/>
              <a:ea typeface="Inter" panose="02000503000000020004" pitchFamily="2" charset="0"/>
            </a:endParaRPr>
          </a:p>
          <a:p>
            <a:pPr marL="285750" indent="-285750">
              <a:spcAft>
                <a:spcPts val="300"/>
              </a:spcAft>
              <a:buFont typeface="Arial" panose="020B0604020202020204" pitchFamily="34" charset="0"/>
              <a:buChar char="•"/>
            </a:pPr>
            <a:endParaRPr lang="en-US" sz="1200">
              <a:latin typeface="Inter" panose="02000503000000020004" pitchFamily="2" charset="0"/>
              <a:ea typeface="Inter" panose="02000503000000020004" pitchFamily="2" charset="0"/>
            </a:endParaRPr>
          </a:p>
        </p:txBody>
      </p:sp>
      <p:cxnSp>
        <p:nvCxnSpPr>
          <p:cNvPr id="5" name="Straight Connector 4">
            <a:extLst>
              <a:ext uri="{FF2B5EF4-FFF2-40B4-BE49-F238E27FC236}">
                <a16:creationId xmlns:a16="http://schemas.microsoft.com/office/drawing/2014/main" id="{99736FCB-D322-D518-A8A8-0BFC46785138}"/>
              </a:ext>
            </a:extLst>
          </p:cNvPr>
          <p:cNvCxnSpPr>
            <a:cxnSpLocks/>
          </p:cNvCxnSpPr>
          <p:nvPr/>
        </p:nvCxnSpPr>
        <p:spPr>
          <a:xfrm>
            <a:off x="3886199" y="1245268"/>
            <a:ext cx="0" cy="4638174"/>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8E7E2E6-4D33-3B15-AA25-95D847EF12AC}"/>
              </a:ext>
            </a:extLst>
          </p:cNvPr>
          <p:cNvCxnSpPr>
            <a:cxnSpLocks/>
          </p:cNvCxnSpPr>
          <p:nvPr/>
        </p:nvCxnSpPr>
        <p:spPr>
          <a:xfrm>
            <a:off x="8879304" y="1245268"/>
            <a:ext cx="0" cy="4638174"/>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5832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4DC9C-DF6B-B0BC-587F-F3E894D40D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E5D1B3-64D1-4BA9-33BF-F84F103F1C53}"/>
              </a:ext>
            </a:extLst>
          </p:cNvPr>
          <p:cNvSpPr txBox="1"/>
          <p:nvPr/>
        </p:nvSpPr>
        <p:spPr>
          <a:xfrm>
            <a:off x="4427771" y="1288129"/>
            <a:ext cx="3415051" cy="3792919"/>
          </a:xfrm>
          <a:prstGeom prst="rect">
            <a:avLst/>
          </a:prstGeom>
          <a:solidFill>
            <a:schemeClr val="accent3">
              <a:lumMod val="20000"/>
              <a:lumOff val="80000"/>
            </a:schemeClr>
          </a:solidFill>
          <a:ln>
            <a:noFill/>
          </a:ln>
        </p:spPr>
        <p:txBody>
          <a:bodyPr wrap="square" lIns="228600" tIns="228600" rIns="228600" bIns="228600" rtlCol="0">
            <a:noAutofit/>
          </a:bodyPr>
          <a:lstStyle/>
          <a:p>
            <a:r>
              <a:rPr lang="en-US" sz="1600" b="1">
                <a:solidFill>
                  <a:schemeClr val="accent1"/>
                </a:solidFill>
                <a:latin typeface="Inter" panose="02000503000000020004" pitchFamily="2" charset="0"/>
                <a:ea typeface="Inter" panose="02000503000000020004" pitchFamily="2" charset="0"/>
              </a:rPr>
              <a:t>MONTH 24</a:t>
            </a:r>
          </a:p>
          <a:p>
            <a:r>
              <a:rPr lang="en-US" sz="1600" b="1">
                <a:latin typeface="Inter" panose="02000503000000020004" pitchFamily="2" charset="0"/>
                <a:ea typeface="Inter" panose="02000503000000020004" pitchFamily="2" charset="0"/>
              </a:rPr>
              <a:t>Fund I Close (Day 1)</a:t>
            </a:r>
          </a:p>
          <a:p>
            <a:pPr>
              <a:spcAft>
                <a:spcPts val="600"/>
              </a:spcAft>
            </a:pPr>
            <a:endParaRPr lang="en-US" sz="1000" b="1">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Brian Steel</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Mike Fuller</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Principal</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Analyst</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Controller</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Executive Assistant</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External Partners</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Strategic Advisors</a:t>
            </a:r>
          </a:p>
          <a:p>
            <a:pPr marL="285750" indent="-285750">
              <a:spcAft>
                <a:spcPts val="600"/>
              </a:spcAft>
              <a:buFont typeface="Arial" panose="020B0604020202020204" pitchFamily="34" charset="0"/>
              <a:buChar char="•"/>
            </a:pPr>
            <a:endParaRPr lang="en-US" sz="1000">
              <a:latin typeface="Inter" panose="02000503000000020004" pitchFamily="2" charset="0"/>
              <a:ea typeface="Inter" panose="02000503000000020004" pitchFamily="2" charset="0"/>
            </a:endParaRPr>
          </a:p>
          <a:p>
            <a:pPr>
              <a:spcAft>
                <a:spcPts val="600"/>
              </a:spcAft>
            </a:pPr>
            <a:r>
              <a:rPr lang="en-US" sz="1400" b="1">
                <a:solidFill>
                  <a:schemeClr val="accent1"/>
                </a:solidFill>
                <a:latin typeface="Inter" panose="02000503000000020004" pitchFamily="2" charset="0"/>
                <a:ea typeface="Inter" panose="02000503000000020004" pitchFamily="2" charset="0"/>
              </a:rPr>
              <a:t>= 6 FTEs ready day 1</a:t>
            </a:r>
          </a:p>
        </p:txBody>
      </p:sp>
      <p:sp>
        <p:nvSpPr>
          <p:cNvPr id="2" name="Title 1">
            <a:extLst>
              <a:ext uri="{FF2B5EF4-FFF2-40B4-BE49-F238E27FC236}">
                <a16:creationId xmlns:a16="http://schemas.microsoft.com/office/drawing/2014/main" id="{11631A95-1CA2-0F32-D73B-DEC8CA090292}"/>
              </a:ext>
            </a:extLst>
          </p:cNvPr>
          <p:cNvSpPr>
            <a:spLocks noGrp="1"/>
          </p:cNvSpPr>
          <p:nvPr>
            <p:ph type="title"/>
          </p:nvPr>
        </p:nvSpPr>
        <p:spPr>
          <a:xfrm>
            <a:off x="675686" y="318530"/>
            <a:ext cx="10840627" cy="553998"/>
          </a:xfrm>
        </p:spPr>
        <p:txBody>
          <a:bodyPr/>
          <a:lstStyle/>
          <a:p>
            <a:r>
              <a:rPr lang="en-US"/>
              <a:t>Team Evolution &amp; Readiness</a:t>
            </a:r>
          </a:p>
        </p:txBody>
      </p:sp>
      <p:cxnSp>
        <p:nvCxnSpPr>
          <p:cNvPr id="14" name="Straight Connector 13">
            <a:extLst>
              <a:ext uri="{FF2B5EF4-FFF2-40B4-BE49-F238E27FC236}">
                <a16:creationId xmlns:a16="http://schemas.microsoft.com/office/drawing/2014/main" id="{A28162B0-3E26-3963-36DD-F5BDB77DC37B}"/>
              </a:ext>
            </a:extLst>
          </p:cNvPr>
          <p:cNvCxnSpPr/>
          <p:nvPr/>
        </p:nvCxnSpPr>
        <p:spPr>
          <a:xfrm>
            <a:off x="3414403" y="2398692"/>
            <a:ext cx="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23CBB1B7-DBBB-E3B5-CC01-69C55EB93CE5}"/>
              </a:ext>
            </a:extLst>
          </p:cNvPr>
          <p:cNvSpPr txBox="1"/>
          <p:nvPr/>
        </p:nvSpPr>
        <p:spPr>
          <a:xfrm>
            <a:off x="675685" y="1288128"/>
            <a:ext cx="3415051" cy="3792918"/>
          </a:xfrm>
          <a:prstGeom prst="rect">
            <a:avLst/>
          </a:prstGeom>
          <a:solidFill>
            <a:schemeClr val="accent3">
              <a:lumMod val="20000"/>
              <a:lumOff val="80000"/>
            </a:schemeClr>
          </a:solidFill>
          <a:ln>
            <a:noFill/>
          </a:ln>
        </p:spPr>
        <p:txBody>
          <a:bodyPr wrap="square" lIns="228600" tIns="228600" rIns="228600" bIns="228600" rtlCol="0">
            <a:noAutofit/>
          </a:bodyPr>
          <a:lstStyle/>
          <a:p>
            <a:r>
              <a:rPr lang="en-US" sz="1600" b="1">
                <a:solidFill>
                  <a:schemeClr val="accent1"/>
                </a:solidFill>
                <a:latin typeface="Inter" panose="02000503000000020004" pitchFamily="2" charset="0"/>
                <a:ea typeface="Inter" panose="02000503000000020004" pitchFamily="2" charset="0"/>
              </a:rPr>
              <a:t>TODAY</a:t>
            </a:r>
          </a:p>
          <a:p>
            <a:r>
              <a:rPr lang="en-US" sz="1600" b="1">
                <a:latin typeface="Inter" panose="02000503000000020004" pitchFamily="2" charset="0"/>
                <a:ea typeface="Inter" panose="02000503000000020004" pitchFamily="2" charset="0"/>
              </a:rPr>
              <a:t>Independent Sponsor Model</a:t>
            </a:r>
          </a:p>
          <a:p>
            <a:pPr>
              <a:spcAft>
                <a:spcPts val="600"/>
              </a:spcAft>
            </a:pPr>
            <a:endParaRPr lang="en-US" sz="1000" b="1">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Brian Steel</a:t>
            </a:r>
          </a:p>
          <a:p>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Mike Fuller</a:t>
            </a:r>
          </a:p>
          <a:p>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External Partners</a:t>
            </a:r>
          </a:p>
          <a:p>
            <a:pPr marL="285750" indent="-285750">
              <a:buFont typeface="Arial" panose="020B0604020202020204" pitchFamily="34" charset="0"/>
              <a:buChar char="•"/>
            </a:pPr>
            <a:r>
              <a:rPr lang="en-US" sz="1400">
                <a:latin typeface="Inter" panose="02000503000000020004" pitchFamily="2" charset="0"/>
                <a:ea typeface="Inter" panose="02000503000000020004" pitchFamily="2" charset="0"/>
              </a:rPr>
              <a:t>Legal</a:t>
            </a:r>
          </a:p>
          <a:p>
            <a:pPr marL="285750" indent="-285750">
              <a:buFont typeface="Arial" panose="020B0604020202020204" pitchFamily="34" charset="0"/>
              <a:buChar char="•"/>
            </a:pPr>
            <a:r>
              <a:rPr lang="en-US" sz="1400">
                <a:latin typeface="Inter" panose="02000503000000020004" pitchFamily="2" charset="0"/>
                <a:ea typeface="Inter" panose="02000503000000020004" pitchFamily="2" charset="0"/>
              </a:rPr>
              <a:t>Accounting</a:t>
            </a:r>
          </a:p>
          <a:p>
            <a:pPr marL="285750" indent="-285750">
              <a:buFont typeface="Arial" panose="020B0604020202020204" pitchFamily="34" charset="0"/>
              <a:buChar char="•"/>
            </a:pPr>
            <a:r>
              <a:rPr lang="en-US" sz="1400">
                <a:latin typeface="Inter" panose="02000503000000020004" pitchFamily="2" charset="0"/>
                <a:ea typeface="Inter" panose="02000503000000020004" pitchFamily="2" charset="0"/>
              </a:rPr>
              <a:t>Tax</a:t>
            </a:r>
          </a:p>
          <a:p>
            <a:pPr marL="285750" indent="-285750">
              <a:buFont typeface="Arial" panose="020B0604020202020204" pitchFamily="34" charset="0"/>
              <a:buChar char="•"/>
            </a:pPr>
            <a:r>
              <a:rPr lang="en-US" sz="1400">
                <a:latin typeface="Inter" panose="02000503000000020004" pitchFamily="2" charset="0"/>
                <a:ea typeface="Inter" panose="02000503000000020004" pitchFamily="2" charset="0"/>
              </a:rPr>
              <a:t>Back Office / Administration</a:t>
            </a:r>
          </a:p>
          <a:p>
            <a:pPr marL="285750" indent="-285750">
              <a:buFont typeface="Arial" panose="020B0604020202020204" pitchFamily="34" charset="0"/>
              <a:buChar char="•"/>
            </a:pPr>
            <a:r>
              <a:rPr lang="en-US" sz="1400">
                <a:latin typeface="Inter" panose="02000503000000020004" pitchFamily="2" charset="0"/>
                <a:ea typeface="Inter" panose="02000503000000020004" pitchFamily="2" charset="0"/>
              </a:rPr>
              <a:t>Marketing</a:t>
            </a:r>
          </a:p>
          <a:p>
            <a:pPr marL="285750" indent="-285750">
              <a:buFont typeface="Arial" panose="020B0604020202020204" pitchFamily="34" charset="0"/>
              <a:buChar char="•"/>
            </a:pPr>
            <a:r>
              <a:rPr lang="en-US" sz="1400">
                <a:latin typeface="Inter" panose="02000503000000020004" pitchFamily="2" charset="0"/>
                <a:ea typeface="Inter" panose="02000503000000020004" pitchFamily="2" charset="0"/>
              </a:rPr>
              <a:t>Diligence</a:t>
            </a:r>
          </a:p>
          <a:p>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Strategic Advisors</a:t>
            </a:r>
          </a:p>
        </p:txBody>
      </p:sp>
      <p:sp>
        <p:nvSpPr>
          <p:cNvPr id="4" name="TextBox 3">
            <a:extLst>
              <a:ext uri="{FF2B5EF4-FFF2-40B4-BE49-F238E27FC236}">
                <a16:creationId xmlns:a16="http://schemas.microsoft.com/office/drawing/2014/main" id="{5E643B6C-7996-E9B1-DEEA-7E23A368783B}"/>
              </a:ext>
            </a:extLst>
          </p:cNvPr>
          <p:cNvSpPr txBox="1"/>
          <p:nvPr/>
        </p:nvSpPr>
        <p:spPr>
          <a:xfrm>
            <a:off x="8179857" y="1287440"/>
            <a:ext cx="3415051" cy="3792919"/>
          </a:xfrm>
          <a:prstGeom prst="rect">
            <a:avLst/>
          </a:prstGeom>
          <a:solidFill>
            <a:schemeClr val="accent3">
              <a:lumMod val="20000"/>
              <a:lumOff val="80000"/>
            </a:schemeClr>
          </a:solidFill>
          <a:ln>
            <a:noFill/>
          </a:ln>
        </p:spPr>
        <p:txBody>
          <a:bodyPr wrap="square" lIns="228600" tIns="228600" rIns="228600" bIns="228600" rtlCol="0">
            <a:noAutofit/>
          </a:bodyPr>
          <a:lstStyle/>
          <a:p>
            <a:r>
              <a:rPr lang="en-US" sz="1600" b="1">
                <a:solidFill>
                  <a:schemeClr val="accent1"/>
                </a:solidFill>
                <a:latin typeface="Inter" panose="02000503000000020004" pitchFamily="2" charset="0"/>
                <a:ea typeface="Inter" panose="02000503000000020004" pitchFamily="2" charset="0"/>
              </a:rPr>
              <a:t>MONTHS 24-36</a:t>
            </a:r>
          </a:p>
          <a:p>
            <a:r>
              <a:rPr lang="en-US" sz="1600" b="1">
                <a:latin typeface="Inter" panose="02000503000000020004" pitchFamily="2" charset="0"/>
                <a:ea typeface="Inter" panose="02000503000000020004" pitchFamily="2" charset="0"/>
              </a:rPr>
              <a:t>Fully Staffed</a:t>
            </a:r>
          </a:p>
          <a:p>
            <a:pPr>
              <a:spcAft>
                <a:spcPts val="600"/>
              </a:spcAft>
            </a:pPr>
            <a:endParaRPr lang="en-US" sz="1000" b="1">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2 Partners</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2 Principal</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2 Associates</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1 Analyst</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2-3 Operating Partners (PT)</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Controller</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Executive Assistant</a:t>
            </a:r>
            <a:endParaRPr lang="en-US" sz="1000">
              <a:latin typeface="Inter" panose="02000503000000020004" pitchFamily="2" charset="0"/>
              <a:ea typeface="Inter" panose="02000503000000020004" pitchFamily="2" charset="0"/>
            </a:endParaRPr>
          </a:p>
          <a:p>
            <a:r>
              <a:rPr lang="en-US" sz="1400">
                <a:latin typeface="Inter" panose="02000503000000020004" pitchFamily="2" charset="0"/>
                <a:ea typeface="Inter" panose="02000503000000020004" pitchFamily="2" charset="0"/>
              </a:rPr>
              <a:t>Strategic Advisors</a:t>
            </a:r>
          </a:p>
          <a:p>
            <a:pPr marL="285750" indent="-285750">
              <a:spcAft>
                <a:spcPts val="600"/>
              </a:spcAft>
              <a:buFont typeface="Arial" panose="020B0604020202020204" pitchFamily="34" charset="0"/>
              <a:buChar char="•"/>
            </a:pPr>
            <a:endParaRPr lang="en-US" sz="1000">
              <a:latin typeface="Inter" panose="02000503000000020004" pitchFamily="2" charset="0"/>
              <a:ea typeface="Inter" panose="02000503000000020004" pitchFamily="2" charset="0"/>
            </a:endParaRPr>
          </a:p>
          <a:p>
            <a:pPr>
              <a:spcAft>
                <a:spcPts val="600"/>
              </a:spcAft>
            </a:pPr>
            <a:r>
              <a:rPr lang="en-US" sz="1400" b="1">
                <a:solidFill>
                  <a:schemeClr val="accent1"/>
                </a:solidFill>
                <a:latin typeface="Inter" panose="02000503000000020004" pitchFamily="2" charset="0"/>
                <a:ea typeface="Inter" panose="02000503000000020004" pitchFamily="2" charset="0"/>
              </a:rPr>
              <a:t>= 9 FTEs + 2-3 PTEs</a:t>
            </a:r>
          </a:p>
        </p:txBody>
      </p:sp>
      <p:sp>
        <p:nvSpPr>
          <p:cNvPr id="5" name="TextBox 4">
            <a:extLst>
              <a:ext uri="{FF2B5EF4-FFF2-40B4-BE49-F238E27FC236}">
                <a16:creationId xmlns:a16="http://schemas.microsoft.com/office/drawing/2014/main" id="{80FEE907-E25F-A65E-38AF-DDE70E5D9804}"/>
              </a:ext>
            </a:extLst>
          </p:cNvPr>
          <p:cNvSpPr txBox="1"/>
          <p:nvPr/>
        </p:nvSpPr>
        <p:spPr>
          <a:xfrm>
            <a:off x="675686" y="5326960"/>
            <a:ext cx="9298493" cy="553998"/>
          </a:xfrm>
          <a:prstGeom prst="rect">
            <a:avLst/>
          </a:prstGeom>
          <a:noFill/>
          <a:ln>
            <a:noFill/>
          </a:ln>
        </p:spPr>
        <p:txBody>
          <a:bodyPr wrap="square" rtlCol="0">
            <a:spAutoFit/>
          </a:bodyPr>
          <a:lstStyle/>
          <a:p>
            <a:r>
              <a:rPr lang="en-US" sz="1000">
                <a:latin typeface="Inter" panose="02000503000000020004" pitchFamily="2" charset="0"/>
                <a:ea typeface="Inter" panose="02000503000000020004" pitchFamily="2" charset="0"/>
              </a:rPr>
              <a:t>Day 1 deployment readiness through pre-close hiring </a:t>
            </a:r>
          </a:p>
          <a:p>
            <a:r>
              <a:rPr lang="en-US" sz="1000">
                <a:latin typeface="Inter" panose="02000503000000020004" pitchFamily="2" charset="0"/>
                <a:ea typeface="Inter" panose="02000503000000020004" pitchFamily="2" charset="0"/>
              </a:rPr>
              <a:t>Scale based on deal velocity: 2-3 transactions / year (1 platform + 1-2 add-ons)</a:t>
            </a:r>
          </a:p>
          <a:p>
            <a:r>
              <a:rPr lang="en-US" sz="1000">
                <a:latin typeface="Inter" panose="02000503000000020004" pitchFamily="2" charset="0"/>
                <a:ea typeface="Inter" panose="02000503000000020004" pitchFamily="2" charset="0"/>
              </a:rPr>
              <a:t>Role Clarity: Principals screen / execute with partner approval, Associates support, Analysts (50% sourcing / 50% modeling &amp; analytics)</a:t>
            </a:r>
          </a:p>
        </p:txBody>
      </p:sp>
    </p:spTree>
    <p:extLst>
      <p:ext uri="{BB962C8B-B14F-4D97-AF65-F5344CB8AC3E}">
        <p14:creationId xmlns:p14="http://schemas.microsoft.com/office/powerpoint/2010/main" val="1445944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5400000">
            <a:off x="5931408" y="566928"/>
            <a:ext cx="329184" cy="12192000"/>
          </a:xfrm>
          <a:prstGeom prst="rect">
            <a:avLst/>
          </a:prstGeom>
          <a:solidFill>
            <a:schemeClr val="accent1">
              <a:lumMod val="50000"/>
            </a:schemeClr>
          </a:solidFill>
          <a:ln w="12700">
            <a:solidFill>
              <a:srgbClr val="132240"/>
            </a:solidFill>
            <a:prstDash val="solid"/>
          </a:ln>
        </p:spPr>
        <p:txBody>
          <a:bodyPr/>
          <a:lstStyle/>
          <a:p>
            <a:endParaRPr lang="en-US" sz="2400"/>
          </a:p>
          <a:p>
            <a:endParaRPr lang="en-US" sz="2400"/>
          </a:p>
          <a:p>
            <a:endParaRPr lang="en-US" sz="2400"/>
          </a:p>
          <a:p>
            <a:endParaRPr lang="en-US" sz="2400"/>
          </a:p>
          <a:p>
            <a:endParaRPr lang="en-US" sz="2400"/>
          </a:p>
          <a:p>
            <a:endParaRPr lang="en-US" sz="2400"/>
          </a:p>
          <a:p>
            <a:endParaRPr lang="en-US" sz="2400"/>
          </a:p>
        </p:txBody>
      </p:sp>
      <p:sp>
        <p:nvSpPr>
          <p:cNvPr id="3" name="Shape 1"/>
          <p:cNvSpPr/>
          <p:nvPr/>
        </p:nvSpPr>
        <p:spPr>
          <a:xfrm>
            <a:off x="0" y="0"/>
            <a:ext cx="12192000" cy="1316736"/>
          </a:xfrm>
          <a:prstGeom prst="rect">
            <a:avLst/>
          </a:prstGeom>
          <a:solidFill>
            <a:schemeClr val="accent1">
              <a:lumMod val="50000"/>
            </a:schemeClr>
          </a:solidFill>
          <a:ln w="12700">
            <a:solidFill>
              <a:srgbClr val="132240"/>
            </a:solidFill>
            <a:prstDash val="solid"/>
          </a:ln>
        </p:spPr>
        <p:txBody>
          <a:bodyPr/>
          <a:lstStyle/>
          <a:p>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5" name="Text 3"/>
          <p:cNvSpPr/>
          <p:nvPr/>
        </p:nvSpPr>
        <p:spPr>
          <a:xfrm>
            <a:off x="390144" y="109728"/>
            <a:ext cx="7315200" cy="268224"/>
          </a:xfrm>
          <a:prstGeom prst="rect">
            <a:avLst/>
          </a:prstGeom>
          <a:noFill/>
          <a:ln/>
        </p:spPr>
        <p:txBody>
          <a:bodyPr wrap="square" lIns="0" tIns="0" rIns="0" bIns="0" rtlCol="0" anchor="ctr"/>
          <a:lstStyle/>
          <a:p>
            <a:r>
              <a:rPr lang="en-US" sz="1000" b="1" kern="0" spc="267">
                <a:solidFill>
                  <a:schemeClr val="bg1"/>
                </a:solidFill>
                <a:latin typeface="Inter" panose="02000503000000020004" pitchFamily="2" charset="0"/>
                <a:ea typeface="Inter" panose="02000503000000020004" pitchFamily="2" charset="0"/>
                <a:cs typeface="Inter" panose="02000503000000020004" pitchFamily="2" charset="0"/>
              </a:rPr>
              <a:t>CATSKILL PARTNERS  ·  PLATFORM INITIATIVE  ·  CONFIDENTIAL</a:t>
            </a:r>
            <a:endParaRPr lang="en-US" sz="1000">
              <a:solidFill>
                <a:schemeClr val="bg1"/>
              </a:solidFill>
              <a:latin typeface="Inter" panose="02000503000000020004" pitchFamily="2" charset="0"/>
              <a:ea typeface="Inter" panose="02000503000000020004" pitchFamily="2" charset="0"/>
              <a:cs typeface="Inter" panose="02000503000000020004" pitchFamily="2" charset="0"/>
            </a:endParaRPr>
          </a:p>
        </p:txBody>
      </p:sp>
      <p:sp>
        <p:nvSpPr>
          <p:cNvPr id="6" name="Text 4"/>
          <p:cNvSpPr/>
          <p:nvPr/>
        </p:nvSpPr>
        <p:spPr>
          <a:xfrm>
            <a:off x="390144" y="365760"/>
            <a:ext cx="6705600" cy="585216"/>
          </a:xfrm>
          <a:prstGeom prst="rect">
            <a:avLst/>
          </a:prstGeom>
          <a:noFill/>
          <a:ln/>
        </p:spPr>
        <p:txBody>
          <a:bodyPr wrap="square" lIns="0" tIns="0" rIns="0" bIns="0" rtlCol="0" anchor="ctr"/>
          <a:lstStyle/>
          <a:p>
            <a:r>
              <a:rPr lang="en-US" sz="3467" b="1">
                <a:solidFill>
                  <a:srgbClr val="FFFFFF"/>
                </a:solidFill>
                <a:latin typeface="Inter" panose="02000503000000020004" pitchFamily="2" charset="0"/>
                <a:ea typeface="Inter" panose="02000503000000020004" pitchFamily="2" charset="0"/>
                <a:cs typeface="Inter" panose="02000503000000020004" pitchFamily="2" charset="0"/>
              </a:rPr>
              <a:t>PROJECT ANCHOR</a:t>
            </a:r>
            <a:endParaRPr lang="en-US" sz="3467">
              <a:latin typeface="Inter" panose="02000503000000020004" pitchFamily="2" charset="0"/>
              <a:ea typeface="Inter" panose="02000503000000020004" pitchFamily="2" charset="0"/>
              <a:cs typeface="Inter" panose="02000503000000020004" pitchFamily="2" charset="0"/>
            </a:endParaRPr>
          </a:p>
        </p:txBody>
      </p:sp>
      <p:sp>
        <p:nvSpPr>
          <p:cNvPr id="7" name="Text 5"/>
          <p:cNvSpPr/>
          <p:nvPr/>
        </p:nvSpPr>
        <p:spPr>
          <a:xfrm>
            <a:off x="390144" y="950976"/>
            <a:ext cx="7924800" cy="292608"/>
          </a:xfrm>
          <a:prstGeom prst="rect">
            <a:avLst/>
          </a:prstGeom>
          <a:noFill/>
          <a:ln/>
        </p:spPr>
        <p:txBody>
          <a:bodyPr wrap="square" lIns="0" tIns="0" rIns="0" bIns="0" rtlCol="0" anchor="ctr"/>
          <a:lstStyle/>
          <a:p>
            <a:r>
              <a:rPr lang="en-US" sz="1333" i="1">
                <a:solidFill>
                  <a:schemeClr val="bg1"/>
                </a:solidFill>
                <a:latin typeface="Inter" panose="02000503000000020004" pitchFamily="2" charset="0"/>
                <a:ea typeface="Inter" panose="02000503000000020004" pitchFamily="2" charset="0"/>
                <a:cs typeface="Inter" panose="02000503000000020004" pitchFamily="2" charset="0"/>
              </a:rPr>
              <a:t>Industrial Power Solutions Platform: Platform Investment Summary </a:t>
            </a:r>
            <a:endParaRPr lang="en-US" sz="1333">
              <a:solidFill>
                <a:schemeClr val="bg1"/>
              </a:solidFill>
              <a:latin typeface="Inter" panose="02000503000000020004" pitchFamily="2" charset="0"/>
              <a:ea typeface="Inter" panose="02000503000000020004" pitchFamily="2" charset="0"/>
              <a:cs typeface="Inter" panose="02000503000000020004" pitchFamily="2" charset="0"/>
            </a:endParaRPr>
          </a:p>
        </p:txBody>
      </p:sp>
      <p:sp>
        <p:nvSpPr>
          <p:cNvPr id="8" name="Shape 6"/>
          <p:cNvSpPr/>
          <p:nvPr/>
        </p:nvSpPr>
        <p:spPr>
          <a:xfrm>
            <a:off x="8046720" y="121920"/>
            <a:ext cx="926592" cy="1072896"/>
          </a:xfrm>
          <a:prstGeom prst="rect">
            <a:avLst/>
          </a:prstGeom>
          <a:solidFill>
            <a:schemeClr val="accent1">
              <a:lumMod val="20000"/>
              <a:lumOff val="80000"/>
            </a:schemeClr>
          </a:solidFill>
          <a:ln w="12700">
            <a:solidFill>
              <a:srgbClr val="1A3060"/>
            </a:solidFill>
            <a:prstDash val="solid"/>
          </a:ln>
        </p:spPr>
        <p:txBody>
          <a:bodyPr/>
          <a:lstStyle/>
          <a:p>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9" name="Text 7"/>
          <p:cNvSpPr/>
          <p:nvPr/>
        </p:nvSpPr>
        <p:spPr>
          <a:xfrm>
            <a:off x="8046720" y="146304"/>
            <a:ext cx="926592" cy="536448"/>
          </a:xfrm>
          <a:prstGeom prst="rect">
            <a:avLst/>
          </a:prstGeom>
          <a:noFill/>
          <a:ln/>
        </p:spPr>
        <p:txBody>
          <a:bodyPr wrap="square" lIns="0" tIns="0" rIns="0" bIns="0" rtlCol="0" anchor="ctr"/>
          <a:lstStyle/>
          <a:p>
            <a:pPr algn="ctr"/>
            <a:r>
              <a:rPr lang="en-US" sz="1867" b="1">
                <a:solidFill>
                  <a:schemeClr val="accent1">
                    <a:lumMod val="50000"/>
                  </a:schemeClr>
                </a:solidFill>
              </a:rPr>
              <a:t>~$50M</a:t>
            </a:r>
            <a:endParaRPr lang="en-US" sz="1867">
              <a:solidFill>
                <a:schemeClr val="accent1">
                  <a:lumMod val="50000"/>
                </a:schemeClr>
              </a:solidFill>
            </a:endParaRPr>
          </a:p>
        </p:txBody>
      </p:sp>
      <p:sp>
        <p:nvSpPr>
          <p:cNvPr id="10" name="Text 8"/>
          <p:cNvSpPr/>
          <p:nvPr/>
        </p:nvSpPr>
        <p:spPr>
          <a:xfrm>
            <a:off x="8046720" y="694944"/>
            <a:ext cx="926592" cy="292608"/>
          </a:xfrm>
          <a:prstGeom prst="rect">
            <a:avLst/>
          </a:prstGeom>
          <a:noFill/>
          <a:ln/>
        </p:spPr>
        <p:txBody>
          <a:bodyPr wrap="square" lIns="0" tIns="0" rIns="0" bIns="0" rtlCol="0" anchor="ctr"/>
          <a:lstStyle/>
          <a:p>
            <a:pPr algn="ctr"/>
            <a:r>
              <a:rPr lang="en-US" sz="933" kern="0" spc="67">
                <a:solidFill>
                  <a:schemeClr val="accent1">
                    <a:lumMod val="50000"/>
                  </a:schemeClr>
                </a:solidFill>
              </a:rPr>
              <a:t>2025 Revenue</a:t>
            </a:r>
            <a:endParaRPr lang="en-US" sz="933">
              <a:solidFill>
                <a:schemeClr val="accent1">
                  <a:lumMod val="50000"/>
                </a:schemeClr>
              </a:solidFill>
            </a:endParaRPr>
          </a:p>
        </p:txBody>
      </p:sp>
      <p:sp>
        <p:nvSpPr>
          <p:cNvPr id="11" name="Shape 9"/>
          <p:cNvSpPr/>
          <p:nvPr/>
        </p:nvSpPr>
        <p:spPr>
          <a:xfrm>
            <a:off x="9070848" y="121920"/>
            <a:ext cx="926592" cy="1072896"/>
          </a:xfrm>
          <a:prstGeom prst="rect">
            <a:avLst/>
          </a:prstGeom>
          <a:solidFill>
            <a:schemeClr val="accent1">
              <a:lumMod val="20000"/>
              <a:lumOff val="80000"/>
            </a:schemeClr>
          </a:solidFill>
          <a:ln w="12700">
            <a:solidFill>
              <a:srgbClr val="1A3060"/>
            </a:solidFill>
            <a:prstDash val="solid"/>
          </a:ln>
        </p:spPr>
        <p:txBody>
          <a:bodyPr/>
          <a:lstStyle/>
          <a:p>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12" name="Text 10"/>
          <p:cNvSpPr/>
          <p:nvPr/>
        </p:nvSpPr>
        <p:spPr>
          <a:xfrm>
            <a:off x="9070848" y="146304"/>
            <a:ext cx="926592" cy="536448"/>
          </a:xfrm>
          <a:prstGeom prst="rect">
            <a:avLst/>
          </a:prstGeom>
          <a:noFill/>
          <a:ln/>
        </p:spPr>
        <p:txBody>
          <a:bodyPr wrap="square" lIns="0" tIns="0" rIns="0" bIns="0" rtlCol="0" anchor="ctr"/>
          <a:lstStyle/>
          <a:p>
            <a:pPr algn="ctr"/>
            <a:r>
              <a:rPr lang="en-US" sz="1867" b="1">
                <a:solidFill>
                  <a:schemeClr val="accent1">
                    <a:lumMod val="50000"/>
                  </a:schemeClr>
                </a:solidFill>
              </a:rPr>
              <a:t>~$13M</a:t>
            </a:r>
            <a:endParaRPr lang="en-US" sz="1867">
              <a:solidFill>
                <a:schemeClr val="accent1">
                  <a:lumMod val="50000"/>
                </a:schemeClr>
              </a:solidFill>
            </a:endParaRPr>
          </a:p>
        </p:txBody>
      </p:sp>
      <p:sp>
        <p:nvSpPr>
          <p:cNvPr id="13" name="Text 11"/>
          <p:cNvSpPr/>
          <p:nvPr/>
        </p:nvSpPr>
        <p:spPr>
          <a:xfrm>
            <a:off x="9070848" y="694944"/>
            <a:ext cx="926592" cy="292608"/>
          </a:xfrm>
          <a:prstGeom prst="rect">
            <a:avLst/>
          </a:prstGeom>
          <a:noFill/>
          <a:ln/>
        </p:spPr>
        <p:txBody>
          <a:bodyPr wrap="square" lIns="0" tIns="0" rIns="0" bIns="0" rtlCol="0" anchor="ctr"/>
          <a:lstStyle/>
          <a:p>
            <a:pPr algn="ctr"/>
            <a:r>
              <a:rPr lang="en-US" sz="933" kern="0" spc="67">
                <a:solidFill>
                  <a:schemeClr val="accent1">
                    <a:lumMod val="50000"/>
                  </a:schemeClr>
                </a:solidFill>
              </a:rPr>
              <a:t>2025 EBITDA</a:t>
            </a:r>
            <a:endParaRPr lang="en-US" sz="933">
              <a:solidFill>
                <a:schemeClr val="accent1">
                  <a:lumMod val="50000"/>
                </a:schemeClr>
              </a:solidFill>
            </a:endParaRPr>
          </a:p>
        </p:txBody>
      </p:sp>
      <p:sp>
        <p:nvSpPr>
          <p:cNvPr id="14" name="Shape 12"/>
          <p:cNvSpPr/>
          <p:nvPr/>
        </p:nvSpPr>
        <p:spPr>
          <a:xfrm>
            <a:off x="10094976" y="121920"/>
            <a:ext cx="926592" cy="1072896"/>
          </a:xfrm>
          <a:prstGeom prst="rect">
            <a:avLst/>
          </a:prstGeom>
          <a:solidFill>
            <a:schemeClr val="accent1">
              <a:lumMod val="20000"/>
              <a:lumOff val="80000"/>
            </a:schemeClr>
          </a:solidFill>
          <a:ln w="12700">
            <a:solidFill>
              <a:srgbClr val="1A3060"/>
            </a:solidFill>
            <a:prstDash val="solid"/>
          </a:ln>
        </p:spPr>
        <p:txBody>
          <a:bodyPr/>
          <a:lstStyle/>
          <a:p>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15" name="Text 13"/>
          <p:cNvSpPr/>
          <p:nvPr/>
        </p:nvSpPr>
        <p:spPr>
          <a:xfrm>
            <a:off x="10094976" y="146304"/>
            <a:ext cx="926592" cy="536448"/>
          </a:xfrm>
          <a:prstGeom prst="rect">
            <a:avLst/>
          </a:prstGeom>
          <a:noFill/>
          <a:ln/>
        </p:spPr>
        <p:txBody>
          <a:bodyPr wrap="square" lIns="0" tIns="0" rIns="0" bIns="0" rtlCol="0" anchor="ctr"/>
          <a:lstStyle/>
          <a:p>
            <a:pPr algn="ctr"/>
            <a:r>
              <a:rPr lang="en-US" sz="1867" b="1">
                <a:solidFill>
                  <a:schemeClr val="accent1">
                    <a:lumMod val="50000"/>
                  </a:schemeClr>
                </a:solidFill>
              </a:rPr>
              <a:t>~26%</a:t>
            </a:r>
            <a:endParaRPr lang="en-US" sz="1867">
              <a:solidFill>
                <a:schemeClr val="accent1">
                  <a:lumMod val="50000"/>
                </a:schemeClr>
              </a:solidFill>
            </a:endParaRPr>
          </a:p>
        </p:txBody>
      </p:sp>
      <p:sp>
        <p:nvSpPr>
          <p:cNvPr id="16" name="Text 14"/>
          <p:cNvSpPr/>
          <p:nvPr/>
        </p:nvSpPr>
        <p:spPr>
          <a:xfrm>
            <a:off x="10094976" y="694944"/>
            <a:ext cx="926592" cy="292608"/>
          </a:xfrm>
          <a:prstGeom prst="rect">
            <a:avLst/>
          </a:prstGeom>
          <a:noFill/>
          <a:ln/>
        </p:spPr>
        <p:txBody>
          <a:bodyPr wrap="square" lIns="0" tIns="0" rIns="0" bIns="0" rtlCol="0" anchor="ctr"/>
          <a:lstStyle/>
          <a:p>
            <a:pPr algn="ctr"/>
            <a:r>
              <a:rPr lang="en-US" sz="933" kern="0" spc="67">
                <a:solidFill>
                  <a:schemeClr val="accent1">
                    <a:lumMod val="50000"/>
                  </a:schemeClr>
                </a:solidFill>
              </a:rPr>
              <a:t>Margin</a:t>
            </a:r>
            <a:endParaRPr lang="en-US" sz="933">
              <a:solidFill>
                <a:schemeClr val="accent1">
                  <a:lumMod val="50000"/>
                </a:schemeClr>
              </a:solidFill>
            </a:endParaRPr>
          </a:p>
        </p:txBody>
      </p:sp>
      <p:sp>
        <p:nvSpPr>
          <p:cNvPr id="17" name="Shape 15"/>
          <p:cNvSpPr/>
          <p:nvPr/>
        </p:nvSpPr>
        <p:spPr>
          <a:xfrm>
            <a:off x="11119104" y="121920"/>
            <a:ext cx="926592" cy="1072896"/>
          </a:xfrm>
          <a:prstGeom prst="rect">
            <a:avLst/>
          </a:prstGeom>
          <a:solidFill>
            <a:schemeClr val="accent1">
              <a:lumMod val="20000"/>
              <a:lumOff val="80000"/>
            </a:schemeClr>
          </a:solidFill>
          <a:ln w="12700">
            <a:solidFill>
              <a:srgbClr val="1A3060"/>
            </a:solidFill>
            <a:prstDash val="solid"/>
          </a:ln>
        </p:spPr>
        <p:txBody>
          <a:bodyPr/>
          <a:lstStyle/>
          <a:p>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18" name="Text 16"/>
          <p:cNvSpPr/>
          <p:nvPr/>
        </p:nvSpPr>
        <p:spPr>
          <a:xfrm>
            <a:off x="11119104" y="146304"/>
            <a:ext cx="926592" cy="536448"/>
          </a:xfrm>
          <a:prstGeom prst="rect">
            <a:avLst/>
          </a:prstGeom>
          <a:noFill/>
          <a:ln/>
        </p:spPr>
        <p:txBody>
          <a:bodyPr wrap="square" lIns="0" tIns="0" rIns="0" bIns="0" rtlCol="0" anchor="ctr"/>
          <a:lstStyle/>
          <a:p>
            <a:pPr algn="ctr"/>
            <a:r>
              <a:rPr lang="en-US" sz="1867" b="1">
                <a:solidFill>
                  <a:schemeClr val="accent1">
                    <a:lumMod val="50000"/>
                  </a:schemeClr>
                </a:solidFill>
              </a:rPr>
              <a:t>~100+</a:t>
            </a:r>
            <a:endParaRPr lang="en-US" sz="1867">
              <a:solidFill>
                <a:schemeClr val="accent1">
                  <a:lumMod val="50000"/>
                </a:schemeClr>
              </a:solidFill>
            </a:endParaRPr>
          </a:p>
        </p:txBody>
      </p:sp>
      <p:sp>
        <p:nvSpPr>
          <p:cNvPr id="19" name="Text 17"/>
          <p:cNvSpPr/>
          <p:nvPr/>
        </p:nvSpPr>
        <p:spPr>
          <a:xfrm>
            <a:off x="11119104" y="694944"/>
            <a:ext cx="926592" cy="292608"/>
          </a:xfrm>
          <a:prstGeom prst="rect">
            <a:avLst/>
          </a:prstGeom>
          <a:noFill/>
          <a:ln/>
        </p:spPr>
        <p:txBody>
          <a:bodyPr wrap="square" lIns="0" tIns="0" rIns="0" bIns="0" rtlCol="0" anchor="ctr"/>
          <a:lstStyle/>
          <a:p>
            <a:pPr algn="ctr"/>
            <a:r>
              <a:rPr lang="en-US" sz="933" kern="0" spc="67">
                <a:solidFill>
                  <a:schemeClr val="accent1">
                    <a:lumMod val="50000"/>
                  </a:schemeClr>
                </a:solidFill>
              </a:rPr>
              <a:t>Yr History</a:t>
            </a:r>
            <a:endParaRPr lang="en-US" sz="933">
              <a:solidFill>
                <a:schemeClr val="accent1">
                  <a:lumMod val="50000"/>
                </a:schemeClr>
              </a:solidFill>
            </a:endParaRPr>
          </a:p>
        </p:txBody>
      </p:sp>
      <p:sp>
        <p:nvSpPr>
          <p:cNvPr id="20" name="Shape 18"/>
          <p:cNvSpPr/>
          <p:nvPr/>
        </p:nvSpPr>
        <p:spPr>
          <a:xfrm>
            <a:off x="268224" y="1438656"/>
            <a:ext cx="3779520" cy="341376"/>
          </a:xfrm>
          <a:prstGeom prst="rect">
            <a:avLst/>
          </a:prstGeom>
          <a:solidFill>
            <a:srgbClr val="132240"/>
          </a:solidFill>
          <a:ln w="12700">
            <a:solidFill>
              <a:srgbClr val="132240"/>
            </a:solidFill>
            <a:prstDash val="solid"/>
          </a:ln>
        </p:spPr>
        <p:txBody>
          <a:bodyPr/>
          <a:lstStyle/>
          <a:p>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21" name="Text 19"/>
          <p:cNvSpPr/>
          <p:nvPr/>
        </p:nvSpPr>
        <p:spPr>
          <a:xfrm>
            <a:off x="390144" y="1438656"/>
            <a:ext cx="3657600" cy="341376"/>
          </a:xfrm>
          <a:prstGeom prst="rect">
            <a:avLst/>
          </a:prstGeom>
          <a:noFill/>
          <a:ln/>
        </p:spPr>
        <p:txBody>
          <a:bodyPr wrap="square" lIns="0" tIns="0" rIns="0" bIns="0" rtlCol="0" anchor="ctr"/>
          <a:lstStyle/>
          <a:p>
            <a:r>
              <a:rPr lang="en-US" sz="1067" b="1" kern="0" spc="200">
                <a:solidFill>
                  <a:srgbClr val="FFFFFF"/>
                </a:solidFill>
              </a:rPr>
              <a:t>BUSINESS DESCRIPTION</a:t>
            </a:r>
            <a:endParaRPr lang="en-US" sz="1067"/>
          </a:p>
        </p:txBody>
      </p:sp>
      <p:sp>
        <p:nvSpPr>
          <p:cNvPr id="24" name="Text 22"/>
          <p:cNvSpPr/>
          <p:nvPr/>
        </p:nvSpPr>
        <p:spPr>
          <a:xfrm>
            <a:off x="353568" y="2448787"/>
            <a:ext cx="3718560" cy="536448"/>
          </a:xfrm>
          <a:prstGeom prst="rect">
            <a:avLst/>
          </a:prstGeom>
          <a:noFill/>
          <a:ln/>
        </p:spPr>
        <p:txBody>
          <a:bodyPr wrap="square" lIns="33867" tIns="67733" rIns="67733" bIns="33867" rtlCol="0" anchor="ctr"/>
          <a:lstStyle/>
          <a:p>
            <a:pPr>
              <a:spcAft>
                <a:spcPts val="267"/>
              </a:spcAft>
            </a:pPr>
            <a:r>
              <a:rPr lang="en-US" sz="1000" b="1">
                <a:solidFill>
                  <a:srgbClr val="1E3558"/>
                </a:solidFill>
                <a:latin typeface="Inter" panose="02000503000000020004" pitchFamily="2" charset="0"/>
                <a:ea typeface="Inter" panose="02000503000000020004" pitchFamily="2" charset="0"/>
                <a:cs typeface="Inter" panose="02000503000000020004" pitchFamily="2" charset="0"/>
              </a:rPr>
              <a:t>Core Business: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Vertically integrated custom switchgear manufacturer and power distribution equipment supplier serving industrial, utility, and OEM customers.</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26" name="Text 24"/>
          <p:cNvSpPr/>
          <p:nvPr/>
        </p:nvSpPr>
        <p:spPr>
          <a:xfrm>
            <a:off x="341376" y="3082771"/>
            <a:ext cx="3718560" cy="536448"/>
          </a:xfrm>
          <a:prstGeom prst="rect">
            <a:avLst/>
          </a:prstGeom>
          <a:noFill/>
          <a:ln/>
        </p:spPr>
        <p:txBody>
          <a:bodyPr wrap="square" lIns="33867" tIns="67733" rIns="67733" bIns="33867" rtlCol="0" anchor="ctr"/>
          <a:lstStyle/>
          <a:p>
            <a:pPr>
              <a:spcAft>
                <a:spcPts val="267"/>
              </a:spcAft>
            </a:pPr>
            <a:r>
              <a:rPr lang="en-US" sz="1000" b="1">
                <a:solidFill>
                  <a:srgbClr val="1E3558"/>
                </a:solidFill>
                <a:latin typeface="Inter" panose="02000503000000020004" pitchFamily="2" charset="0"/>
                <a:ea typeface="Inter" panose="02000503000000020004" pitchFamily="2" charset="0"/>
                <a:cs typeface="Inter" panose="02000503000000020004" pitchFamily="2" charset="0"/>
              </a:rPr>
              <a:t>Product Lines: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Six integrated lines: switchgear, transfer switches, distribution panels, prefab eHouse substations, enclosures, and control systems.</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28" name="Text 26"/>
          <p:cNvSpPr/>
          <p:nvPr/>
        </p:nvSpPr>
        <p:spPr>
          <a:xfrm>
            <a:off x="365760" y="1847088"/>
            <a:ext cx="3718560" cy="536448"/>
          </a:xfrm>
          <a:prstGeom prst="rect">
            <a:avLst/>
          </a:prstGeom>
          <a:noFill/>
          <a:ln/>
        </p:spPr>
        <p:txBody>
          <a:bodyPr wrap="square" lIns="33867" tIns="67733" rIns="67733" bIns="33867" rtlCol="0" anchor="ctr"/>
          <a:lstStyle/>
          <a:p>
            <a:pPr>
              <a:spcAft>
                <a:spcPts val="267"/>
              </a:spcAft>
            </a:pPr>
            <a:r>
              <a:rPr lang="en-US" sz="1000" b="1">
                <a:solidFill>
                  <a:srgbClr val="1E3558"/>
                </a:solidFill>
                <a:latin typeface="Inter" panose="02000503000000020004" pitchFamily="2" charset="0"/>
                <a:ea typeface="Inter" panose="02000503000000020004" pitchFamily="2" charset="0"/>
                <a:cs typeface="Inter" panose="02000503000000020004" pitchFamily="2" charset="0"/>
              </a:rPr>
              <a:t>Go-to-Market</a:t>
            </a:r>
            <a:r>
              <a:rPr lang="en-US" sz="1000">
                <a:solidFill>
                  <a:srgbClr val="1E3558"/>
                </a:solidFill>
                <a:latin typeface="Inter" panose="02000503000000020004" pitchFamily="2" charset="0"/>
                <a:ea typeface="Inter" panose="02000503000000020004" pitchFamily="2" charset="0"/>
                <a:cs typeface="Inter" panose="02000503000000020004" pitchFamily="2" charset="0"/>
              </a:rPr>
              <a:t>: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Design-build model; component-agnostic engineering. In-house fabrication of sheet metal, copper, and stainless steel.</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30" name="Text 28"/>
          <p:cNvSpPr/>
          <p:nvPr/>
        </p:nvSpPr>
        <p:spPr>
          <a:xfrm>
            <a:off x="304800" y="3596640"/>
            <a:ext cx="3718560" cy="536448"/>
          </a:xfrm>
          <a:prstGeom prst="rect">
            <a:avLst/>
          </a:prstGeom>
          <a:noFill/>
          <a:ln/>
        </p:spPr>
        <p:txBody>
          <a:bodyPr wrap="square" lIns="33867" tIns="67733" rIns="67733" bIns="33867" rtlCol="0" anchor="ctr"/>
          <a:lstStyle/>
          <a:p>
            <a:pPr>
              <a:spcAft>
                <a:spcPts val="267"/>
              </a:spcAft>
            </a:pPr>
            <a:r>
              <a:rPr lang="en-US" sz="1000" b="1">
                <a:solidFill>
                  <a:srgbClr val="1E3558"/>
                </a:solidFill>
                <a:latin typeface="Inter" panose="02000503000000020004" pitchFamily="2" charset="0"/>
                <a:ea typeface="Inter" panose="02000503000000020004" pitchFamily="2" charset="0"/>
                <a:cs typeface="Inter" panose="02000503000000020004" pitchFamily="2" charset="0"/>
              </a:rPr>
              <a:t>End-Markets: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Utilities and OEMs. No direct exposure to data center infrastructure end markets currently</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31" name="Shape 29"/>
          <p:cNvSpPr/>
          <p:nvPr/>
        </p:nvSpPr>
        <p:spPr>
          <a:xfrm>
            <a:off x="4206240" y="1438656"/>
            <a:ext cx="3718560" cy="341376"/>
          </a:xfrm>
          <a:prstGeom prst="rect">
            <a:avLst/>
          </a:prstGeom>
          <a:solidFill>
            <a:srgbClr val="2D6A4F"/>
          </a:solidFill>
          <a:ln w="12700">
            <a:solidFill>
              <a:srgbClr val="2D6A4F"/>
            </a:solidFill>
            <a:prstDash val="solid"/>
          </a:ln>
        </p:spPr>
        <p:txBody>
          <a:bodyPr/>
          <a:lstStyle/>
          <a:p>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32" name="Text 30"/>
          <p:cNvSpPr/>
          <p:nvPr/>
        </p:nvSpPr>
        <p:spPr>
          <a:xfrm>
            <a:off x="4328160" y="1438656"/>
            <a:ext cx="3596640" cy="341376"/>
          </a:xfrm>
          <a:prstGeom prst="rect">
            <a:avLst/>
          </a:prstGeom>
          <a:noFill/>
          <a:ln/>
        </p:spPr>
        <p:txBody>
          <a:bodyPr wrap="square" lIns="0" tIns="0" rIns="0" bIns="0" rtlCol="0" anchor="ctr"/>
          <a:lstStyle/>
          <a:p>
            <a:r>
              <a:rPr lang="en-US" sz="1067" b="1" kern="0" spc="200">
                <a:solidFill>
                  <a:srgbClr val="FFFFFF"/>
                </a:solidFill>
              </a:rPr>
              <a:t>INVESTMENT THESIS</a:t>
            </a:r>
            <a:endParaRPr lang="en-US" sz="1067"/>
          </a:p>
        </p:txBody>
      </p:sp>
      <p:sp>
        <p:nvSpPr>
          <p:cNvPr id="33" name="Text 31"/>
          <p:cNvSpPr/>
          <p:nvPr/>
        </p:nvSpPr>
        <p:spPr>
          <a:xfrm>
            <a:off x="4267200" y="1853184"/>
            <a:ext cx="3596640" cy="536448"/>
          </a:xfrm>
          <a:prstGeom prst="rect">
            <a:avLst/>
          </a:prstGeom>
          <a:noFill/>
          <a:ln/>
        </p:spPr>
        <p:txBody>
          <a:bodyPr wrap="square" lIns="33867" tIns="67733" rIns="67733" bIns="33867" rtlCol="0" anchor="ctr"/>
          <a:lstStyle/>
          <a:p>
            <a:pPr>
              <a:spcAft>
                <a:spcPts val="267"/>
              </a:spcAft>
            </a:pPr>
            <a:r>
              <a:rPr lang="en-US" sz="1000" b="1">
                <a:solidFill>
                  <a:srgbClr val="2D6A4F"/>
                </a:solidFill>
                <a:latin typeface="Inter" panose="02000503000000020004" pitchFamily="2" charset="0"/>
                <a:ea typeface="Inter" panose="02000503000000020004" pitchFamily="2" charset="0"/>
                <a:cs typeface="Inter" panose="02000503000000020004" pitchFamily="2" charset="0"/>
              </a:rPr>
              <a:t>ICT Tailwind: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Hyperscale data center build-out driving outsized demand for custom switchgear, prefab eHouse substations, and power distribution.</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34" name="Text 32"/>
          <p:cNvSpPr/>
          <p:nvPr/>
        </p:nvSpPr>
        <p:spPr>
          <a:xfrm>
            <a:off x="4267200" y="2414016"/>
            <a:ext cx="3596640" cy="536448"/>
          </a:xfrm>
          <a:prstGeom prst="rect">
            <a:avLst/>
          </a:prstGeom>
          <a:noFill/>
          <a:ln/>
        </p:spPr>
        <p:txBody>
          <a:bodyPr wrap="square" lIns="33867" tIns="67733" rIns="67733" bIns="33867" rtlCol="0" anchor="ctr"/>
          <a:lstStyle/>
          <a:p>
            <a:pPr>
              <a:spcAft>
                <a:spcPts val="267"/>
              </a:spcAft>
            </a:pPr>
            <a:r>
              <a:rPr lang="en-US" sz="1000" b="1">
                <a:solidFill>
                  <a:srgbClr val="2D6A4F"/>
                </a:solidFill>
                <a:latin typeface="Inter" panose="02000503000000020004" pitchFamily="2" charset="0"/>
                <a:ea typeface="Inter" panose="02000503000000020004" pitchFamily="2" charset="0"/>
                <a:cs typeface="Inter" panose="02000503000000020004" pitchFamily="2" charset="0"/>
              </a:rPr>
              <a:t>Fragmented Market: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No dominant national consolidator; regional incumbents with limited capital and succession pressure.</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35" name="Text 33"/>
          <p:cNvSpPr/>
          <p:nvPr/>
        </p:nvSpPr>
        <p:spPr>
          <a:xfrm>
            <a:off x="4267200" y="2974848"/>
            <a:ext cx="3596640" cy="536448"/>
          </a:xfrm>
          <a:prstGeom prst="rect">
            <a:avLst/>
          </a:prstGeom>
          <a:noFill/>
          <a:ln/>
        </p:spPr>
        <p:txBody>
          <a:bodyPr wrap="square" lIns="33867" tIns="67733" rIns="67733" bIns="33867" rtlCol="0" anchor="ctr"/>
          <a:lstStyle/>
          <a:p>
            <a:pPr>
              <a:spcAft>
                <a:spcPts val="267"/>
              </a:spcAft>
            </a:pPr>
            <a:r>
              <a:rPr lang="en-US" sz="1000" b="1">
                <a:solidFill>
                  <a:srgbClr val="2D6A4F"/>
                </a:solidFill>
                <a:latin typeface="Inter" panose="02000503000000020004" pitchFamily="2" charset="0"/>
                <a:ea typeface="Inter" panose="02000503000000020004" pitchFamily="2" charset="0"/>
                <a:cs typeface="Inter" panose="02000503000000020004" pitchFamily="2" charset="0"/>
              </a:rPr>
              <a:t>Sticky Revenue: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Highly engineered, spec-driven custom products create long-cycle repeat relationships and switching costs.</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36" name="Text 34"/>
          <p:cNvSpPr/>
          <p:nvPr/>
        </p:nvSpPr>
        <p:spPr>
          <a:xfrm>
            <a:off x="4267200" y="3535680"/>
            <a:ext cx="3596640" cy="536448"/>
          </a:xfrm>
          <a:prstGeom prst="rect">
            <a:avLst/>
          </a:prstGeom>
          <a:noFill/>
          <a:ln/>
        </p:spPr>
        <p:txBody>
          <a:bodyPr wrap="square" lIns="33867" tIns="67733" rIns="67733" bIns="33867" rtlCol="0" anchor="ctr"/>
          <a:lstStyle/>
          <a:p>
            <a:pPr>
              <a:spcAft>
                <a:spcPts val="267"/>
              </a:spcAft>
            </a:pPr>
            <a:r>
              <a:rPr lang="en-US" sz="1000" b="1">
                <a:solidFill>
                  <a:srgbClr val="2D6A4F"/>
                </a:solidFill>
                <a:latin typeface="Inter" panose="02000503000000020004" pitchFamily="2" charset="0"/>
                <a:ea typeface="Inter" panose="02000503000000020004" pitchFamily="2" charset="0"/>
                <a:cs typeface="Inter" panose="02000503000000020004" pitchFamily="2" charset="0"/>
              </a:rPr>
              <a:t>Operational Upside: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Opportunity to professionalize ops, add pricing discipline, and expand margins 200–400bps post-close.</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37" name="Text 35"/>
          <p:cNvSpPr/>
          <p:nvPr/>
        </p:nvSpPr>
        <p:spPr>
          <a:xfrm>
            <a:off x="4267200" y="4096512"/>
            <a:ext cx="3596640" cy="536448"/>
          </a:xfrm>
          <a:prstGeom prst="rect">
            <a:avLst/>
          </a:prstGeom>
          <a:noFill/>
          <a:ln/>
        </p:spPr>
        <p:txBody>
          <a:bodyPr wrap="square" lIns="33867" tIns="67733" rIns="67733" bIns="33867" rtlCol="0" anchor="ctr"/>
          <a:lstStyle/>
          <a:p>
            <a:pPr>
              <a:spcAft>
                <a:spcPts val="267"/>
              </a:spcAft>
            </a:pPr>
            <a:r>
              <a:rPr lang="en-US" sz="1000" b="1">
                <a:solidFill>
                  <a:srgbClr val="2D6A4F"/>
                </a:solidFill>
                <a:latin typeface="Inter" panose="02000503000000020004" pitchFamily="2" charset="0"/>
                <a:ea typeface="Inter" panose="02000503000000020004" pitchFamily="2" charset="0"/>
                <a:cs typeface="Inter" panose="02000503000000020004" pitchFamily="2" charset="0"/>
              </a:rPr>
              <a:t>Thesis Fit: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Direct expression of the Catskill thesis, repositioning engineering and technically differentiated industrial mfg. as a data center infrastructure partner.</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38" name="Shape 36"/>
          <p:cNvSpPr/>
          <p:nvPr/>
        </p:nvSpPr>
        <p:spPr>
          <a:xfrm>
            <a:off x="7985760" y="1438656"/>
            <a:ext cx="3962400" cy="341376"/>
          </a:xfrm>
          <a:prstGeom prst="rect">
            <a:avLst/>
          </a:prstGeom>
          <a:solidFill>
            <a:srgbClr val="B8962E"/>
          </a:solidFill>
          <a:ln w="12700">
            <a:solidFill>
              <a:srgbClr val="B8962E"/>
            </a:solidFill>
            <a:prstDash val="solid"/>
          </a:ln>
        </p:spPr>
        <p:txBody>
          <a:bodyPr/>
          <a:lstStyle/>
          <a:p>
            <a:endParaRPr lang="en-US" sz="2400"/>
          </a:p>
        </p:txBody>
      </p:sp>
      <p:sp>
        <p:nvSpPr>
          <p:cNvPr id="39" name="Text 37"/>
          <p:cNvSpPr/>
          <p:nvPr/>
        </p:nvSpPr>
        <p:spPr>
          <a:xfrm>
            <a:off x="8107680" y="1438656"/>
            <a:ext cx="3840480" cy="341376"/>
          </a:xfrm>
          <a:prstGeom prst="rect">
            <a:avLst/>
          </a:prstGeom>
          <a:noFill/>
          <a:ln/>
        </p:spPr>
        <p:txBody>
          <a:bodyPr wrap="square" lIns="0" tIns="0" rIns="0" bIns="0" rtlCol="0" anchor="ctr"/>
          <a:lstStyle/>
          <a:p>
            <a:r>
              <a:rPr lang="en-US" sz="1000" b="1" kern="0" spc="200">
                <a:solidFill>
                  <a:srgbClr val="FFFFFF"/>
                </a:solidFill>
                <a:latin typeface="Inter" panose="02000503000000020004" pitchFamily="2" charset="0"/>
                <a:ea typeface="Inter" panose="02000503000000020004" pitchFamily="2" charset="0"/>
                <a:cs typeface="Inter" panose="02000503000000020004" pitchFamily="2" charset="0"/>
              </a:rPr>
              <a:t>VALUE CREATION LEVERS</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40" name="Text 38"/>
          <p:cNvSpPr/>
          <p:nvPr/>
        </p:nvSpPr>
        <p:spPr>
          <a:xfrm>
            <a:off x="8046720" y="1853184"/>
            <a:ext cx="3840480" cy="536448"/>
          </a:xfrm>
          <a:prstGeom prst="rect">
            <a:avLst/>
          </a:prstGeom>
          <a:noFill/>
          <a:ln/>
        </p:spPr>
        <p:txBody>
          <a:bodyPr wrap="square" lIns="33867" tIns="67733" rIns="67733" bIns="33867" rtlCol="0" anchor="ctr"/>
          <a:lstStyle/>
          <a:p>
            <a:pPr>
              <a:spcAft>
                <a:spcPts val="267"/>
              </a:spcAft>
            </a:pPr>
            <a:r>
              <a:rPr lang="en-US" sz="1000" b="1">
                <a:solidFill>
                  <a:srgbClr val="8B6914"/>
                </a:solidFill>
                <a:latin typeface="Inter" panose="02000503000000020004" pitchFamily="2" charset="0"/>
                <a:ea typeface="Inter" panose="02000503000000020004" pitchFamily="2" charset="0"/>
                <a:cs typeface="Inter" panose="02000503000000020004" pitchFamily="2" charset="0"/>
              </a:rPr>
              <a:t>Commercial: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Strategic commercial re-alignment, enter hyperscale data center channel; build direct OEM and GC relationships augmenting rep-dependent model.</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41" name="Text 39"/>
          <p:cNvSpPr/>
          <p:nvPr/>
        </p:nvSpPr>
        <p:spPr>
          <a:xfrm>
            <a:off x="8046720" y="2414016"/>
            <a:ext cx="3840480" cy="536448"/>
          </a:xfrm>
          <a:prstGeom prst="rect">
            <a:avLst/>
          </a:prstGeom>
          <a:noFill/>
          <a:ln/>
        </p:spPr>
        <p:txBody>
          <a:bodyPr wrap="square" lIns="33867" tIns="67733" rIns="67733" bIns="33867" rtlCol="0" anchor="ctr"/>
          <a:lstStyle/>
          <a:p>
            <a:pPr>
              <a:spcAft>
                <a:spcPts val="267"/>
              </a:spcAft>
            </a:pPr>
            <a:r>
              <a:rPr lang="en-US" sz="1000" b="1">
                <a:solidFill>
                  <a:srgbClr val="8B6914"/>
                </a:solidFill>
                <a:latin typeface="Inter" panose="02000503000000020004" pitchFamily="2" charset="0"/>
                <a:ea typeface="Inter" panose="02000503000000020004" pitchFamily="2" charset="0"/>
                <a:cs typeface="Inter" panose="02000503000000020004" pitchFamily="2" charset="0"/>
              </a:rPr>
              <a:t>Pricing: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Implement value-based pricing on engineered-to-order products; evaluate lead-time based pricing elasticity.</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42" name="Text 40"/>
          <p:cNvSpPr/>
          <p:nvPr/>
        </p:nvSpPr>
        <p:spPr>
          <a:xfrm>
            <a:off x="8046720" y="2974848"/>
            <a:ext cx="3840480" cy="536448"/>
          </a:xfrm>
          <a:prstGeom prst="rect">
            <a:avLst/>
          </a:prstGeom>
          <a:noFill/>
          <a:ln/>
        </p:spPr>
        <p:txBody>
          <a:bodyPr wrap="square" lIns="33867" tIns="67733" rIns="67733" bIns="33867" rtlCol="0" anchor="ctr"/>
          <a:lstStyle/>
          <a:p>
            <a:pPr>
              <a:spcAft>
                <a:spcPts val="267"/>
              </a:spcAft>
            </a:pPr>
            <a:r>
              <a:rPr lang="en-US" sz="1000" b="1">
                <a:solidFill>
                  <a:srgbClr val="8B6914"/>
                </a:solidFill>
                <a:latin typeface="Inter" panose="02000503000000020004" pitchFamily="2" charset="0"/>
                <a:ea typeface="Inter" panose="02000503000000020004" pitchFamily="2" charset="0"/>
                <a:cs typeface="Inter" panose="02000503000000020004" pitchFamily="2" charset="0"/>
              </a:rPr>
              <a:t>Operations: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Drive lean manufacturing, throughput improvement, and working capital optimization across all six lines. Scale into second shift to leverage fixed costs.</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43" name="Text 41"/>
          <p:cNvSpPr/>
          <p:nvPr/>
        </p:nvSpPr>
        <p:spPr>
          <a:xfrm>
            <a:off x="8046720" y="3535680"/>
            <a:ext cx="3840480" cy="536448"/>
          </a:xfrm>
          <a:prstGeom prst="rect">
            <a:avLst/>
          </a:prstGeom>
          <a:noFill/>
          <a:ln/>
        </p:spPr>
        <p:txBody>
          <a:bodyPr wrap="square" lIns="33867" tIns="67733" rIns="67733" bIns="33867" rtlCol="0" anchor="ctr"/>
          <a:lstStyle/>
          <a:p>
            <a:pPr>
              <a:spcAft>
                <a:spcPts val="267"/>
              </a:spcAft>
            </a:pPr>
            <a:r>
              <a:rPr lang="en-US" sz="1000" b="1">
                <a:solidFill>
                  <a:srgbClr val="8B6914"/>
                </a:solidFill>
                <a:latin typeface="Inter" panose="02000503000000020004" pitchFamily="2" charset="0"/>
                <a:ea typeface="Inter" panose="02000503000000020004" pitchFamily="2" charset="0"/>
                <a:cs typeface="Inter" panose="02000503000000020004" pitchFamily="2" charset="0"/>
              </a:rPr>
              <a:t>M&amp;A Platform: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Pursue geographic and capability add-ons (see Project Star below) to build critical supplier scale and vertical integration.</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44" name="Text 42"/>
          <p:cNvSpPr/>
          <p:nvPr/>
        </p:nvSpPr>
        <p:spPr>
          <a:xfrm>
            <a:off x="8046720" y="4096512"/>
            <a:ext cx="3840480" cy="536448"/>
          </a:xfrm>
          <a:prstGeom prst="rect">
            <a:avLst/>
          </a:prstGeom>
          <a:noFill/>
          <a:ln/>
        </p:spPr>
        <p:txBody>
          <a:bodyPr wrap="square" lIns="33867" tIns="67733" rIns="67733" bIns="33867" rtlCol="0" anchor="ctr"/>
          <a:lstStyle/>
          <a:p>
            <a:pPr>
              <a:spcAft>
                <a:spcPts val="267"/>
              </a:spcAft>
            </a:pPr>
            <a:r>
              <a:rPr lang="en-US" sz="1000" b="1">
                <a:solidFill>
                  <a:srgbClr val="8B6914"/>
                </a:solidFill>
                <a:latin typeface="Inter" panose="02000503000000020004" pitchFamily="2" charset="0"/>
                <a:ea typeface="Inter" panose="02000503000000020004" pitchFamily="2" charset="0"/>
                <a:cs typeface="Inter" panose="02000503000000020004" pitchFamily="2" charset="0"/>
              </a:rPr>
              <a:t>Exit: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Strategic sale to industrial / electrical OEM or sponsor at 6–7x EBITDA in 4–6 year hold.</a:t>
            </a:r>
            <a:endParaRPr lang="en-US" sz="1000">
              <a:latin typeface="Inter" panose="02000503000000020004" pitchFamily="2" charset="0"/>
              <a:ea typeface="Inter" panose="02000503000000020004" pitchFamily="2" charset="0"/>
              <a:cs typeface="Inter" panose="02000503000000020004" pitchFamily="2" charset="0"/>
            </a:endParaRPr>
          </a:p>
        </p:txBody>
      </p:sp>
      <p:sp>
        <p:nvSpPr>
          <p:cNvPr id="45" name="Shape 43"/>
          <p:cNvSpPr/>
          <p:nvPr/>
        </p:nvSpPr>
        <p:spPr>
          <a:xfrm>
            <a:off x="4145280" y="1438656"/>
            <a:ext cx="18288" cy="3243072"/>
          </a:xfrm>
          <a:prstGeom prst="rect">
            <a:avLst/>
          </a:prstGeom>
          <a:solidFill>
            <a:srgbClr val="C2C2BC"/>
          </a:solidFill>
          <a:ln w="12700">
            <a:solidFill>
              <a:srgbClr val="C2C2BC"/>
            </a:solidFill>
            <a:prstDash val="solid"/>
          </a:ln>
        </p:spPr>
        <p:txBody>
          <a:bodyPr/>
          <a:lstStyle/>
          <a:p>
            <a:endParaRPr lang="en-US" sz="2400"/>
          </a:p>
        </p:txBody>
      </p:sp>
      <p:sp>
        <p:nvSpPr>
          <p:cNvPr id="46" name="Shape 44"/>
          <p:cNvSpPr/>
          <p:nvPr/>
        </p:nvSpPr>
        <p:spPr>
          <a:xfrm>
            <a:off x="7924800" y="1438656"/>
            <a:ext cx="18288" cy="3243072"/>
          </a:xfrm>
          <a:prstGeom prst="rect">
            <a:avLst/>
          </a:prstGeom>
          <a:solidFill>
            <a:srgbClr val="C2C2BC"/>
          </a:solidFill>
          <a:ln w="12700">
            <a:solidFill>
              <a:srgbClr val="C2C2BC"/>
            </a:solidFill>
            <a:prstDash val="solid"/>
          </a:ln>
        </p:spPr>
        <p:txBody>
          <a:bodyPr/>
          <a:lstStyle/>
          <a:p>
            <a:endParaRPr lang="en-US" sz="2400"/>
          </a:p>
        </p:txBody>
      </p:sp>
      <p:sp>
        <p:nvSpPr>
          <p:cNvPr id="47" name="Shape 45"/>
          <p:cNvSpPr/>
          <p:nvPr/>
        </p:nvSpPr>
        <p:spPr>
          <a:xfrm>
            <a:off x="0" y="4706112"/>
            <a:ext cx="12192000" cy="365760"/>
          </a:xfrm>
          <a:prstGeom prst="rect">
            <a:avLst/>
          </a:prstGeom>
          <a:solidFill>
            <a:schemeClr val="accent1">
              <a:lumMod val="50000"/>
            </a:schemeClr>
          </a:solidFill>
          <a:ln w="12700">
            <a:solidFill>
              <a:srgbClr val="132240"/>
            </a:solidFill>
            <a:prstDash val="solid"/>
          </a:ln>
        </p:spPr>
        <p:txBody>
          <a:bodyPr/>
          <a:lstStyle/>
          <a:p>
            <a:endParaRPr lang="en-US" sz="2400">
              <a:solidFill>
                <a:schemeClr val="bg1"/>
              </a:solidFill>
            </a:endParaRPr>
          </a:p>
        </p:txBody>
      </p:sp>
      <p:sp>
        <p:nvSpPr>
          <p:cNvPr id="49" name="Shape 47"/>
          <p:cNvSpPr/>
          <p:nvPr/>
        </p:nvSpPr>
        <p:spPr>
          <a:xfrm>
            <a:off x="6339840" y="4779264"/>
            <a:ext cx="12192" cy="219456"/>
          </a:xfrm>
          <a:prstGeom prst="rect">
            <a:avLst/>
          </a:prstGeom>
          <a:solidFill>
            <a:schemeClr val="bg1"/>
          </a:solidFill>
          <a:ln w="12700">
            <a:solidFill>
              <a:srgbClr val="B8962E"/>
            </a:solidFill>
            <a:prstDash val="solid"/>
          </a:ln>
        </p:spPr>
        <p:txBody>
          <a:bodyPr/>
          <a:lstStyle/>
          <a:p>
            <a:endParaRPr lang="en-US" sz="2400"/>
          </a:p>
        </p:txBody>
      </p:sp>
      <p:sp>
        <p:nvSpPr>
          <p:cNvPr id="51" name="Shape 49"/>
          <p:cNvSpPr/>
          <p:nvPr/>
        </p:nvSpPr>
        <p:spPr>
          <a:xfrm>
            <a:off x="0" y="5071872"/>
            <a:ext cx="12192000" cy="1420368"/>
          </a:xfrm>
          <a:prstGeom prst="rect">
            <a:avLst/>
          </a:prstGeom>
          <a:solidFill>
            <a:srgbClr val="EDEEE8"/>
          </a:solidFill>
          <a:ln w="12700">
            <a:solidFill>
              <a:srgbClr val="D0D0C8"/>
            </a:solidFill>
            <a:prstDash val="solid"/>
          </a:ln>
        </p:spPr>
        <p:txBody>
          <a:bodyPr/>
          <a:lstStyle/>
          <a:p>
            <a:endParaRPr lang="en-US" sz="2400"/>
          </a:p>
        </p:txBody>
      </p:sp>
      <p:sp>
        <p:nvSpPr>
          <p:cNvPr id="53" name="Text 51"/>
          <p:cNvSpPr/>
          <p:nvPr/>
        </p:nvSpPr>
        <p:spPr>
          <a:xfrm>
            <a:off x="463296" y="5132832"/>
            <a:ext cx="2804160" cy="219456"/>
          </a:xfrm>
          <a:prstGeom prst="rect">
            <a:avLst/>
          </a:prstGeom>
          <a:noFill/>
          <a:ln/>
        </p:spPr>
        <p:txBody>
          <a:bodyPr wrap="square" lIns="0" tIns="0" rIns="0" bIns="0" rtlCol="0" anchor="ctr"/>
          <a:lstStyle/>
          <a:p>
            <a:r>
              <a:rPr lang="en-US" sz="900" b="1" kern="0" spc="133">
                <a:solidFill>
                  <a:srgbClr val="132240"/>
                </a:solidFill>
                <a:latin typeface="Inter" panose="02000503000000020004" pitchFamily="2" charset="0"/>
                <a:ea typeface="Inter" panose="02000503000000020004" pitchFamily="2" charset="0"/>
                <a:cs typeface="Inter" panose="02000503000000020004" pitchFamily="2" charset="0"/>
              </a:rPr>
              <a:t>DESCRIPTION</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54" name="Text 52"/>
          <p:cNvSpPr/>
          <p:nvPr/>
        </p:nvSpPr>
        <p:spPr>
          <a:xfrm>
            <a:off x="463296" y="5376672"/>
            <a:ext cx="2804160" cy="1048512"/>
          </a:xfrm>
          <a:prstGeom prst="rect">
            <a:avLst/>
          </a:prstGeom>
          <a:noFill/>
          <a:ln/>
        </p:spPr>
        <p:txBody>
          <a:bodyPr wrap="square" lIns="33867" tIns="33867" rIns="33867" bIns="33867" rtlCol="0" anchor="ctr"/>
          <a:lstStyle/>
          <a:p>
            <a:r>
              <a:rPr lang="en-US" sz="900">
                <a:solidFill>
                  <a:srgbClr val="6A6A64"/>
                </a:solidFill>
                <a:latin typeface="Inter" panose="02000503000000020004" pitchFamily="2" charset="0"/>
                <a:ea typeface="Inter" panose="02000503000000020004" pitchFamily="2" charset="0"/>
                <a:cs typeface="Inter" panose="02000503000000020004" pitchFamily="2" charset="0"/>
              </a:rPr>
              <a:t>South-Central U.S. industrial custom power solutions provider. Specializes in custom switchgear, power distribution, and field services for industrial and critical infrastructure customers. Complementary geography and adjacent end-market exposure to Project Anchor.</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55" name="Shape 53"/>
          <p:cNvSpPr/>
          <p:nvPr/>
        </p:nvSpPr>
        <p:spPr>
          <a:xfrm>
            <a:off x="3340608" y="5169408"/>
            <a:ext cx="12192" cy="1219200"/>
          </a:xfrm>
          <a:prstGeom prst="rect">
            <a:avLst/>
          </a:prstGeom>
          <a:solidFill>
            <a:srgbClr val="C2C2BC"/>
          </a:solidFill>
          <a:ln w="12700">
            <a:solidFill>
              <a:srgbClr val="C2C2BC"/>
            </a:solidFill>
            <a:prstDash val="solid"/>
          </a:ln>
        </p:spPr>
        <p:txBody>
          <a:bodyPr/>
          <a:lstStyle/>
          <a:p>
            <a:endParaRPr lang="en-US" sz="2400"/>
          </a:p>
        </p:txBody>
      </p:sp>
      <p:sp>
        <p:nvSpPr>
          <p:cNvPr id="56" name="Text 54"/>
          <p:cNvSpPr/>
          <p:nvPr/>
        </p:nvSpPr>
        <p:spPr>
          <a:xfrm>
            <a:off x="3462528" y="5132832"/>
            <a:ext cx="2682240" cy="219456"/>
          </a:xfrm>
          <a:prstGeom prst="rect">
            <a:avLst/>
          </a:prstGeom>
          <a:noFill/>
          <a:ln/>
        </p:spPr>
        <p:txBody>
          <a:bodyPr wrap="square" lIns="0" tIns="0" rIns="0" bIns="0" rtlCol="0" anchor="ctr"/>
          <a:lstStyle/>
          <a:p>
            <a:r>
              <a:rPr lang="en-US" sz="900" b="1" kern="0" spc="133">
                <a:solidFill>
                  <a:srgbClr val="132240"/>
                </a:solidFill>
                <a:latin typeface="Inter" panose="02000503000000020004" pitchFamily="2" charset="0"/>
                <a:ea typeface="Inter" panose="02000503000000020004" pitchFamily="2" charset="0"/>
                <a:cs typeface="Inter" panose="02000503000000020004" pitchFamily="2" charset="0"/>
              </a:rPr>
              <a:t>FINANCIALS</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57" name="Text 55"/>
          <p:cNvSpPr/>
          <p:nvPr/>
        </p:nvSpPr>
        <p:spPr>
          <a:xfrm>
            <a:off x="3462528" y="5388864"/>
            <a:ext cx="1706880" cy="243840"/>
          </a:xfrm>
          <a:prstGeom prst="rect">
            <a:avLst/>
          </a:prstGeom>
          <a:noFill/>
          <a:ln/>
        </p:spPr>
        <p:txBody>
          <a:bodyPr wrap="square" lIns="0" tIns="0" rIns="0" bIns="0" rtlCol="0" anchor="ctr"/>
          <a:lstStyle/>
          <a:p>
            <a:r>
              <a:rPr lang="en-US" sz="900">
                <a:solidFill>
                  <a:srgbClr val="6A6A64"/>
                </a:solidFill>
                <a:latin typeface="Inter" panose="02000503000000020004" pitchFamily="2" charset="0"/>
                <a:ea typeface="Inter" panose="02000503000000020004" pitchFamily="2" charset="0"/>
                <a:cs typeface="Inter" panose="02000503000000020004" pitchFamily="2" charset="0"/>
              </a:rPr>
              <a:t>Revenue</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58" name="Text 56"/>
          <p:cNvSpPr/>
          <p:nvPr/>
        </p:nvSpPr>
        <p:spPr>
          <a:xfrm>
            <a:off x="4998720" y="5388864"/>
            <a:ext cx="1036320" cy="243840"/>
          </a:xfrm>
          <a:prstGeom prst="rect">
            <a:avLst/>
          </a:prstGeom>
          <a:noFill/>
          <a:ln/>
        </p:spPr>
        <p:txBody>
          <a:bodyPr wrap="square" lIns="0" tIns="0" rIns="0" bIns="0" rtlCol="0" anchor="ctr"/>
          <a:lstStyle/>
          <a:p>
            <a:pPr algn="r"/>
            <a:r>
              <a:rPr lang="en-US" sz="900" b="1">
                <a:solidFill>
                  <a:srgbClr val="1E3558"/>
                </a:solidFill>
                <a:latin typeface="Inter" panose="02000503000000020004" pitchFamily="2" charset="0"/>
                <a:ea typeface="Inter" panose="02000503000000020004" pitchFamily="2" charset="0"/>
                <a:cs typeface="Inter" panose="02000503000000020004" pitchFamily="2" charset="0"/>
              </a:rPr>
              <a:t>~$17M</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59" name="Text 57"/>
          <p:cNvSpPr/>
          <p:nvPr/>
        </p:nvSpPr>
        <p:spPr>
          <a:xfrm>
            <a:off x="3462528" y="5657088"/>
            <a:ext cx="1706880" cy="243840"/>
          </a:xfrm>
          <a:prstGeom prst="rect">
            <a:avLst/>
          </a:prstGeom>
          <a:noFill/>
          <a:ln/>
        </p:spPr>
        <p:txBody>
          <a:bodyPr wrap="square" lIns="0" tIns="0" rIns="0" bIns="0" rtlCol="0" anchor="ctr"/>
          <a:lstStyle/>
          <a:p>
            <a:r>
              <a:rPr lang="en-US" sz="900">
                <a:solidFill>
                  <a:srgbClr val="6A6A64"/>
                </a:solidFill>
                <a:latin typeface="Inter" panose="02000503000000020004" pitchFamily="2" charset="0"/>
                <a:ea typeface="Inter" panose="02000503000000020004" pitchFamily="2" charset="0"/>
                <a:cs typeface="Inter" panose="02000503000000020004" pitchFamily="2" charset="0"/>
              </a:rPr>
              <a:t>EBITDA (est.)</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60" name="Text 58"/>
          <p:cNvSpPr/>
          <p:nvPr/>
        </p:nvSpPr>
        <p:spPr>
          <a:xfrm>
            <a:off x="4998720" y="5657088"/>
            <a:ext cx="1036320" cy="243840"/>
          </a:xfrm>
          <a:prstGeom prst="rect">
            <a:avLst/>
          </a:prstGeom>
          <a:noFill/>
          <a:ln/>
        </p:spPr>
        <p:txBody>
          <a:bodyPr wrap="square" lIns="0" tIns="0" rIns="0" bIns="0" rtlCol="0" anchor="ctr"/>
          <a:lstStyle/>
          <a:p>
            <a:pPr algn="r"/>
            <a:r>
              <a:rPr lang="en-US" sz="900" b="1">
                <a:solidFill>
                  <a:srgbClr val="1E3558"/>
                </a:solidFill>
                <a:latin typeface="Inter" panose="02000503000000020004" pitchFamily="2" charset="0"/>
                <a:ea typeface="Inter" panose="02000503000000020004" pitchFamily="2" charset="0"/>
                <a:cs typeface="Inter" panose="02000503000000020004" pitchFamily="2" charset="0"/>
              </a:rPr>
              <a:t>~$2M</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61" name="Text 59"/>
          <p:cNvSpPr/>
          <p:nvPr/>
        </p:nvSpPr>
        <p:spPr>
          <a:xfrm>
            <a:off x="3462528" y="5925312"/>
            <a:ext cx="1706880" cy="243840"/>
          </a:xfrm>
          <a:prstGeom prst="rect">
            <a:avLst/>
          </a:prstGeom>
          <a:noFill/>
          <a:ln/>
        </p:spPr>
        <p:txBody>
          <a:bodyPr wrap="square" lIns="0" tIns="0" rIns="0" bIns="0" rtlCol="0" anchor="ctr"/>
          <a:lstStyle/>
          <a:p>
            <a:r>
              <a:rPr lang="en-US" sz="900">
                <a:solidFill>
                  <a:srgbClr val="6A6A64"/>
                </a:solidFill>
                <a:latin typeface="Inter" panose="02000503000000020004" pitchFamily="2" charset="0"/>
                <a:ea typeface="Inter" panose="02000503000000020004" pitchFamily="2" charset="0"/>
                <a:cs typeface="Inter" panose="02000503000000020004" pitchFamily="2" charset="0"/>
              </a:rPr>
              <a:t>EBITDA Margin</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62" name="Text 60"/>
          <p:cNvSpPr/>
          <p:nvPr/>
        </p:nvSpPr>
        <p:spPr>
          <a:xfrm>
            <a:off x="4998720" y="5925312"/>
            <a:ext cx="1036320" cy="243840"/>
          </a:xfrm>
          <a:prstGeom prst="rect">
            <a:avLst/>
          </a:prstGeom>
          <a:noFill/>
          <a:ln/>
        </p:spPr>
        <p:txBody>
          <a:bodyPr wrap="square" lIns="0" tIns="0" rIns="0" bIns="0" rtlCol="0" anchor="ctr"/>
          <a:lstStyle/>
          <a:p>
            <a:pPr algn="r"/>
            <a:r>
              <a:rPr lang="en-US" sz="900" b="1">
                <a:solidFill>
                  <a:srgbClr val="1E3558"/>
                </a:solidFill>
                <a:latin typeface="Inter" panose="02000503000000020004" pitchFamily="2" charset="0"/>
                <a:ea typeface="Inter" panose="02000503000000020004" pitchFamily="2" charset="0"/>
                <a:cs typeface="Inter" panose="02000503000000020004" pitchFamily="2" charset="0"/>
              </a:rPr>
              <a:t>~12%</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63" name="Text 61"/>
          <p:cNvSpPr/>
          <p:nvPr/>
        </p:nvSpPr>
        <p:spPr>
          <a:xfrm>
            <a:off x="3462528" y="6193536"/>
            <a:ext cx="1706880" cy="243840"/>
          </a:xfrm>
          <a:prstGeom prst="rect">
            <a:avLst/>
          </a:prstGeom>
          <a:noFill/>
          <a:ln/>
        </p:spPr>
        <p:txBody>
          <a:bodyPr wrap="square" lIns="0" tIns="0" rIns="0" bIns="0" rtlCol="0" anchor="ctr"/>
          <a:lstStyle/>
          <a:p>
            <a:r>
              <a:rPr lang="en-US" sz="900">
                <a:solidFill>
                  <a:srgbClr val="6A6A64"/>
                </a:solidFill>
                <a:latin typeface="Inter" panose="02000503000000020004" pitchFamily="2" charset="0"/>
                <a:ea typeface="Inter" panose="02000503000000020004" pitchFamily="2" charset="0"/>
                <a:cs typeface="Inter" panose="02000503000000020004" pitchFamily="2" charset="0"/>
              </a:rPr>
              <a:t>Entry Multiple</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64" name="Text 62"/>
          <p:cNvSpPr/>
          <p:nvPr/>
        </p:nvSpPr>
        <p:spPr>
          <a:xfrm>
            <a:off x="4998720" y="6193536"/>
            <a:ext cx="1036320" cy="243840"/>
          </a:xfrm>
          <a:prstGeom prst="rect">
            <a:avLst/>
          </a:prstGeom>
          <a:noFill/>
          <a:ln/>
        </p:spPr>
        <p:txBody>
          <a:bodyPr wrap="square" lIns="0" tIns="0" rIns="0" bIns="0" rtlCol="0" anchor="ctr"/>
          <a:lstStyle/>
          <a:p>
            <a:pPr algn="r"/>
            <a:r>
              <a:rPr lang="en-US" sz="900" b="1">
                <a:solidFill>
                  <a:srgbClr val="1E3558"/>
                </a:solidFill>
                <a:latin typeface="Inter" panose="02000503000000020004" pitchFamily="2" charset="0"/>
                <a:ea typeface="Inter" panose="02000503000000020004" pitchFamily="2" charset="0"/>
                <a:cs typeface="Inter" panose="02000503000000020004" pitchFamily="2" charset="0"/>
              </a:rPr>
              <a:t>5.0–6.0x</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65" name="Shape 63"/>
          <p:cNvSpPr/>
          <p:nvPr/>
        </p:nvSpPr>
        <p:spPr>
          <a:xfrm>
            <a:off x="6217920" y="5169408"/>
            <a:ext cx="12192" cy="1219200"/>
          </a:xfrm>
          <a:prstGeom prst="rect">
            <a:avLst/>
          </a:prstGeom>
          <a:solidFill>
            <a:srgbClr val="C2C2BC"/>
          </a:solidFill>
          <a:ln w="12700">
            <a:solidFill>
              <a:srgbClr val="C2C2BC"/>
            </a:solidFill>
            <a:prstDash val="solid"/>
          </a:ln>
        </p:spPr>
        <p:txBody>
          <a:bodyPr/>
          <a:lstStyle/>
          <a:p>
            <a:endParaRPr lang="en-US" sz="2400"/>
          </a:p>
        </p:txBody>
      </p:sp>
      <p:sp>
        <p:nvSpPr>
          <p:cNvPr id="66" name="Text 64"/>
          <p:cNvSpPr/>
          <p:nvPr/>
        </p:nvSpPr>
        <p:spPr>
          <a:xfrm>
            <a:off x="6339840" y="5132832"/>
            <a:ext cx="3048000" cy="219456"/>
          </a:xfrm>
          <a:prstGeom prst="rect">
            <a:avLst/>
          </a:prstGeom>
          <a:noFill/>
          <a:ln/>
        </p:spPr>
        <p:txBody>
          <a:bodyPr wrap="square" lIns="0" tIns="0" rIns="0" bIns="0" rtlCol="0" anchor="ctr"/>
          <a:lstStyle/>
          <a:p>
            <a:r>
              <a:rPr lang="en-US" sz="900" b="1" kern="0" spc="133">
                <a:solidFill>
                  <a:srgbClr val="132240"/>
                </a:solidFill>
                <a:latin typeface="Inter" panose="02000503000000020004" pitchFamily="2" charset="0"/>
                <a:ea typeface="Inter" panose="02000503000000020004" pitchFamily="2" charset="0"/>
                <a:cs typeface="Inter" panose="02000503000000020004" pitchFamily="2" charset="0"/>
              </a:rPr>
              <a:t>STRATEGIC RATIONALE</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67" name="Text 65"/>
          <p:cNvSpPr/>
          <p:nvPr/>
        </p:nvSpPr>
        <p:spPr>
          <a:xfrm>
            <a:off x="6339840" y="5376672"/>
            <a:ext cx="2950464" cy="256032"/>
          </a:xfrm>
          <a:prstGeom prst="rect">
            <a:avLst/>
          </a:prstGeom>
          <a:noFill/>
          <a:ln/>
        </p:spPr>
        <p:txBody>
          <a:bodyPr wrap="square" lIns="16933" tIns="33867" rIns="33867" bIns="16933" rtlCol="0" anchor="ctr"/>
          <a:lstStyle/>
          <a:p>
            <a:pPr marL="171450" indent="-171450">
              <a:buFont typeface="Arial" panose="020B0604020202020204" pitchFamily="34" charset="0"/>
              <a:buChar char="•"/>
            </a:pPr>
            <a:r>
              <a:rPr lang="en-US" sz="900">
                <a:solidFill>
                  <a:srgbClr val="6A6A64"/>
                </a:solidFill>
                <a:latin typeface="Inter" panose="02000503000000020004" pitchFamily="2" charset="0"/>
                <a:ea typeface="Inter" panose="02000503000000020004" pitchFamily="2" charset="0"/>
                <a:cs typeface="Inter" panose="02000503000000020004" pitchFamily="2" charset="0"/>
              </a:rPr>
              <a:t>Geographic diversification: Sun Belt / South-Central market</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68" name="Text 66"/>
          <p:cNvSpPr/>
          <p:nvPr/>
        </p:nvSpPr>
        <p:spPr>
          <a:xfrm>
            <a:off x="6339840" y="5644896"/>
            <a:ext cx="2950464" cy="256032"/>
          </a:xfrm>
          <a:prstGeom prst="rect">
            <a:avLst/>
          </a:prstGeom>
          <a:noFill/>
          <a:ln/>
        </p:spPr>
        <p:txBody>
          <a:bodyPr wrap="square" lIns="16933" tIns="33867" rIns="33867" bIns="16933" rtlCol="0" anchor="ctr"/>
          <a:lstStyle/>
          <a:p>
            <a:pPr marL="171450" indent="-171450">
              <a:buFont typeface="Arial" panose="020B0604020202020204" pitchFamily="34" charset="0"/>
              <a:buChar char="•"/>
            </a:pPr>
            <a:r>
              <a:rPr lang="en-US" sz="900">
                <a:solidFill>
                  <a:srgbClr val="6A6A64"/>
                </a:solidFill>
                <a:latin typeface="Inter" panose="02000503000000020004" pitchFamily="2" charset="0"/>
                <a:ea typeface="Inter" panose="02000503000000020004" pitchFamily="2" charset="0"/>
                <a:cs typeface="Inter" panose="02000503000000020004" pitchFamily="2" charset="0"/>
              </a:rPr>
              <a:t>Expands product offering to  ICT and hyperscale data center customer relationships</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69" name="Text 67"/>
          <p:cNvSpPr/>
          <p:nvPr/>
        </p:nvSpPr>
        <p:spPr>
          <a:xfrm>
            <a:off x="6339840" y="5913120"/>
            <a:ext cx="2950464" cy="256032"/>
          </a:xfrm>
          <a:prstGeom prst="rect">
            <a:avLst/>
          </a:prstGeom>
          <a:noFill/>
          <a:ln/>
        </p:spPr>
        <p:txBody>
          <a:bodyPr wrap="square" lIns="16933" tIns="33867" rIns="33867" bIns="16933" rtlCol="0" anchor="ctr"/>
          <a:lstStyle/>
          <a:p>
            <a:pPr marL="171450" indent="-171450">
              <a:buFont typeface="Arial" panose="020B0604020202020204" pitchFamily="34" charset="0"/>
              <a:buChar char="•"/>
            </a:pPr>
            <a:r>
              <a:rPr lang="en-US" sz="900">
                <a:solidFill>
                  <a:srgbClr val="6A6A64"/>
                </a:solidFill>
                <a:latin typeface="Inter" panose="02000503000000020004" pitchFamily="2" charset="0"/>
                <a:ea typeface="Inter" panose="02000503000000020004" pitchFamily="2" charset="0"/>
                <a:cs typeface="Inter" panose="02000503000000020004" pitchFamily="2" charset="0"/>
              </a:rPr>
              <a:t>Cross-selling Project Anchor's 6 product lines into new region</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70" name="Text 68"/>
          <p:cNvSpPr/>
          <p:nvPr/>
        </p:nvSpPr>
        <p:spPr>
          <a:xfrm>
            <a:off x="6339840" y="6181344"/>
            <a:ext cx="2950464" cy="256032"/>
          </a:xfrm>
          <a:prstGeom prst="rect">
            <a:avLst/>
          </a:prstGeom>
          <a:noFill/>
          <a:ln/>
        </p:spPr>
        <p:txBody>
          <a:bodyPr wrap="square" lIns="16933" tIns="33867" rIns="33867" bIns="16933" rtlCol="0" anchor="ctr"/>
          <a:lstStyle/>
          <a:p>
            <a:pPr marL="171450" indent="-171450">
              <a:buFont typeface="Arial" panose="020B0604020202020204" pitchFamily="34" charset="0"/>
              <a:buChar char="•"/>
            </a:pPr>
            <a:r>
              <a:rPr lang="en-US" sz="900">
                <a:solidFill>
                  <a:srgbClr val="6A6A64"/>
                </a:solidFill>
                <a:latin typeface="Inter" panose="02000503000000020004" pitchFamily="2" charset="0"/>
                <a:ea typeface="Inter" panose="02000503000000020004" pitchFamily="2" charset="0"/>
                <a:cs typeface="Inter" panose="02000503000000020004" pitchFamily="2" charset="0"/>
              </a:rPr>
              <a:t>Combined scale (~$70M rev) accelerates strategic buyer optionality</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71" name="Shape 69"/>
          <p:cNvSpPr/>
          <p:nvPr/>
        </p:nvSpPr>
        <p:spPr>
          <a:xfrm>
            <a:off x="9424416" y="5169408"/>
            <a:ext cx="12192" cy="1219200"/>
          </a:xfrm>
          <a:prstGeom prst="rect">
            <a:avLst/>
          </a:prstGeom>
          <a:solidFill>
            <a:srgbClr val="C2C2BC"/>
          </a:solidFill>
          <a:ln w="12700">
            <a:solidFill>
              <a:srgbClr val="C2C2BC"/>
            </a:solidFill>
            <a:prstDash val="solid"/>
          </a:ln>
        </p:spPr>
        <p:txBody>
          <a:bodyPr/>
          <a:lstStyle/>
          <a:p>
            <a:endParaRPr lang="en-US" sz="2400"/>
          </a:p>
        </p:txBody>
      </p:sp>
      <p:sp>
        <p:nvSpPr>
          <p:cNvPr id="72" name="Text 70"/>
          <p:cNvSpPr/>
          <p:nvPr/>
        </p:nvSpPr>
        <p:spPr>
          <a:xfrm>
            <a:off x="9534144" y="5120640"/>
            <a:ext cx="2438400" cy="219456"/>
          </a:xfrm>
          <a:prstGeom prst="rect">
            <a:avLst/>
          </a:prstGeom>
          <a:noFill/>
          <a:ln/>
        </p:spPr>
        <p:txBody>
          <a:bodyPr wrap="square" lIns="0" tIns="0" rIns="0" bIns="0" rtlCol="0" anchor="ctr"/>
          <a:lstStyle/>
          <a:p>
            <a:r>
              <a:rPr lang="en-US" sz="900" b="1" kern="0" spc="133">
                <a:solidFill>
                  <a:srgbClr val="132240"/>
                </a:solidFill>
                <a:latin typeface="Inter" panose="02000503000000020004" pitchFamily="2" charset="0"/>
                <a:ea typeface="Inter" panose="02000503000000020004" pitchFamily="2" charset="0"/>
                <a:cs typeface="Inter" panose="02000503000000020004" pitchFamily="2" charset="0"/>
              </a:rPr>
              <a:t>PRO FORMA COMBINED</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73" name="Text 71"/>
          <p:cNvSpPr/>
          <p:nvPr/>
        </p:nvSpPr>
        <p:spPr>
          <a:xfrm>
            <a:off x="9534144" y="5401056"/>
            <a:ext cx="1219200" cy="292608"/>
          </a:xfrm>
          <a:prstGeom prst="rect">
            <a:avLst/>
          </a:prstGeom>
          <a:noFill/>
          <a:ln/>
        </p:spPr>
        <p:txBody>
          <a:bodyPr wrap="square" lIns="0" tIns="0" rIns="0" bIns="0" rtlCol="0" anchor="ctr"/>
          <a:lstStyle/>
          <a:p>
            <a:r>
              <a:rPr lang="en-US" sz="900">
                <a:solidFill>
                  <a:srgbClr val="6A6A64"/>
                </a:solidFill>
                <a:latin typeface="Inter" panose="02000503000000020004" pitchFamily="2" charset="0"/>
                <a:ea typeface="Inter" panose="02000503000000020004" pitchFamily="2" charset="0"/>
                <a:cs typeface="Inter" panose="02000503000000020004" pitchFamily="2" charset="0"/>
              </a:rPr>
              <a:t>Revenue</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74" name="Text 72"/>
          <p:cNvSpPr/>
          <p:nvPr/>
        </p:nvSpPr>
        <p:spPr>
          <a:xfrm>
            <a:off x="10753344" y="5401056"/>
            <a:ext cx="1194816" cy="292608"/>
          </a:xfrm>
          <a:prstGeom prst="rect">
            <a:avLst/>
          </a:prstGeom>
          <a:noFill/>
          <a:ln/>
        </p:spPr>
        <p:txBody>
          <a:bodyPr wrap="square" lIns="0" tIns="0" rIns="0" bIns="0" rtlCol="0" anchor="ctr"/>
          <a:lstStyle/>
          <a:p>
            <a:pPr algn="r"/>
            <a:r>
              <a:rPr lang="en-US" sz="900" b="1">
                <a:solidFill>
                  <a:srgbClr val="2D6A4F"/>
                </a:solidFill>
                <a:latin typeface="Inter" panose="02000503000000020004" pitchFamily="2" charset="0"/>
                <a:ea typeface="Inter" panose="02000503000000020004" pitchFamily="2" charset="0"/>
                <a:cs typeface="Inter" panose="02000503000000020004" pitchFamily="2" charset="0"/>
              </a:rPr>
              <a:t>~$70M</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75" name="Text 73"/>
          <p:cNvSpPr/>
          <p:nvPr/>
        </p:nvSpPr>
        <p:spPr>
          <a:xfrm>
            <a:off x="9534144" y="5742432"/>
            <a:ext cx="1219200" cy="292608"/>
          </a:xfrm>
          <a:prstGeom prst="rect">
            <a:avLst/>
          </a:prstGeom>
          <a:noFill/>
          <a:ln/>
        </p:spPr>
        <p:txBody>
          <a:bodyPr wrap="square" lIns="0" tIns="0" rIns="0" bIns="0" rtlCol="0" anchor="ctr"/>
          <a:lstStyle/>
          <a:p>
            <a:r>
              <a:rPr lang="en-US" sz="900">
                <a:solidFill>
                  <a:srgbClr val="6A6A64"/>
                </a:solidFill>
                <a:latin typeface="Inter" panose="02000503000000020004" pitchFamily="2" charset="0"/>
                <a:ea typeface="Inter" panose="02000503000000020004" pitchFamily="2" charset="0"/>
                <a:cs typeface="Inter" panose="02000503000000020004" pitchFamily="2" charset="0"/>
              </a:rPr>
              <a:t>EBITDA</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76" name="Text 74"/>
          <p:cNvSpPr/>
          <p:nvPr/>
        </p:nvSpPr>
        <p:spPr>
          <a:xfrm>
            <a:off x="10753344" y="5742432"/>
            <a:ext cx="1194816" cy="292608"/>
          </a:xfrm>
          <a:prstGeom prst="rect">
            <a:avLst/>
          </a:prstGeom>
          <a:noFill/>
          <a:ln/>
        </p:spPr>
        <p:txBody>
          <a:bodyPr wrap="square" lIns="0" tIns="0" rIns="0" bIns="0" rtlCol="0" anchor="ctr"/>
          <a:lstStyle/>
          <a:p>
            <a:pPr algn="r"/>
            <a:r>
              <a:rPr lang="en-US" sz="900" b="1">
                <a:solidFill>
                  <a:srgbClr val="2D6A4F"/>
                </a:solidFill>
                <a:latin typeface="Inter" panose="02000503000000020004" pitchFamily="2" charset="0"/>
                <a:ea typeface="Inter" panose="02000503000000020004" pitchFamily="2" charset="0"/>
                <a:cs typeface="Inter" panose="02000503000000020004" pitchFamily="2" charset="0"/>
              </a:rPr>
              <a:t>~$15–17M</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77" name="Text 75"/>
          <p:cNvSpPr/>
          <p:nvPr/>
        </p:nvSpPr>
        <p:spPr>
          <a:xfrm>
            <a:off x="9534144" y="6096000"/>
            <a:ext cx="1219200" cy="292608"/>
          </a:xfrm>
          <a:prstGeom prst="rect">
            <a:avLst/>
          </a:prstGeom>
          <a:noFill/>
          <a:ln/>
        </p:spPr>
        <p:txBody>
          <a:bodyPr wrap="square" lIns="0" tIns="0" rIns="0" bIns="0" rtlCol="0" anchor="ctr"/>
          <a:lstStyle/>
          <a:p>
            <a:r>
              <a:rPr lang="en-US" sz="900">
                <a:solidFill>
                  <a:srgbClr val="6A6A64"/>
                </a:solidFill>
                <a:latin typeface="Inter" panose="02000503000000020004" pitchFamily="2" charset="0"/>
                <a:ea typeface="Inter" panose="02000503000000020004" pitchFamily="2" charset="0"/>
                <a:cs typeface="Inter" panose="02000503000000020004" pitchFamily="2" charset="0"/>
              </a:rPr>
              <a:t>Margin</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78" name="Text 76"/>
          <p:cNvSpPr/>
          <p:nvPr/>
        </p:nvSpPr>
        <p:spPr>
          <a:xfrm>
            <a:off x="10753344" y="6083808"/>
            <a:ext cx="1194816" cy="292608"/>
          </a:xfrm>
          <a:prstGeom prst="rect">
            <a:avLst/>
          </a:prstGeom>
          <a:noFill/>
          <a:ln/>
        </p:spPr>
        <p:txBody>
          <a:bodyPr wrap="square" lIns="0" tIns="0" rIns="0" bIns="0" rtlCol="0" anchor="ctr"/>
          <a:lstStyle/>
          <a:p>
            <a:pPr algn="r"/>
            <a:r>
              <a:rPr lang="en-US" sz="900" b="1">
                <a:solidFill>
                  <a:srgbClr val="2D6A4F"/>
                </a:solidFill>
                <a:latin typeface="Inter" panose="02000503000000020004" pitchFamily="2" charset="0"/>
                <a:ea typeface="Inter" panose="02000503000000020004" pitchFamily="2" charset="0"/>
                <a:cs typeface="Inter" panose="02000503000000020004" pitchFamily="2" charset="0"/>
              </a:rPr>
              <a:t>~23-25%</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23" name="Text 46">
            <a:extLst>
              <a:ext uri="{FF2B5EF4-FFF2-40B4-BE49-F238E27FC236}">
                <a16:creationId xmlns:a16="http://schemas.microsoft.com/office/drawing/2014/main" id="{26FA9339-8881-FC39-70C6-3E2CC088FA36}"/>
              </a:ext>
            </a:extLst>
          </p:cNvPr>
          <p:cNvSpPr/>
          <p:nvPr/>
        </p:nvSpPr>
        <p:spPr>
          <a:xfrm>
            <a:off x="1066800" y="4788294"/>
            <a:ext cx="4572000" cy="256032"/>
          </a:xfrm>
          <a:prstGeom prst="rect">
            <a:avLst/>
          </a:prstGeom>
          <a:noFill/>
          <a:ln/>
        </p:spPr>
        <p:txBody>
          <a:bodyPr wrap="square" lIns="0" tIns="0" rIns="0" bIns="0" rtlCol="0" anchor="ctr"/>
          <a:lstStyle/>
          <a:p>
            <a:pPr marL="0" indent="0">
              <a:buNone/>
            </a:pPr>
            <a:r>
              <a:rPr lang="en-US" sz="900" b="1" kern="0" spc="150">
                <a:solidFill>
                  <a:srgbClr val="FFFFFF"/>
                </a:solidFill>
                <a:latin typeface="Inter" panose="02000503000000020004" pitchFamily="2" charset="0"/>
                <a:ea typeface="Inter" panose="02000503000000020004" pitchFamily="2" charset="0"/>
                <a:cs typeface="Inter" panose="02000503000000020004" pitchFamily="2" charset="0"/>
              </a:rPr>
              <a:t>ADD-ON ACQUISITION  ·  PROJECT STAR</a:t>
            </a:r>
            <a:endParaRPr lang="en-US" sz="900">
              <a:latin typeface="Inter" panose="02000503000000020004" pitchFamily="2" charset="0"/>
              <a:ea typeface="Inter" panose="02000503000000020004" pitchFamily="2" charset="0"/>
              <a:cs typeface="Inter" panose="02000503000000020004" pitchFamily="2" charset="0"/>
            </a:endParaRPr>
          </a:p>
        </p:txBody>
      </p:sp>
      <p:sp>
        <p:nvSpPr>
          <p:cNvPr id="25" name="Text 48">
            <a:extLst>
              <a:ext uri="{FF2B5EF4-FFF2-40B4-BE49-F238E27FC236}">
                <a16:creationId xmlns:a16="http://schemas.microsoft.com/office/drawing/2014/main" id="{C6C7B4FC-42C9-0641-B6F7-EFC93F42A2FA}"/>
              </a:ext>
            </a:extLst>
          </p:cNvPr>
          <p:cNvSpPr/>
          <p:nvPr/>
        </p:nvSpPr>
        <p:spPr>
          <a:xfrm>
            <a:off x="7887547" y="4772828"/>
            <a:ext cx="3816096" cy="288319"/>
          </a:xfrm>
          <a:prstGeom prst="rect">
            <a:avLst/>
          </a:prstGeom>
          <a:noFill/>
          <a:ln/>
        </p:spPr>
        <p:txBody>
          <a:bodyPr wrap="square" lIns="0" tIns="0" rIns="0" bIns="0" rtlCol="0" anchor="ctr"/>
          <a:lstStyle/>
          <a:p>
            <a:pPr marL="0" indent="0">
              <a:buNone/>
            </a:pPr>
            <a:r>
              <a:rPr lang="en-US" sz="900" b="1" kern="0" spc="100">
                <a:solidFill>
                  <a:schemeClr val="bg1"/>
                </a:solidFill>
                <a:latin typeface="Inter" panose="02000503000000020004" pitchFamily="2" charset="0"/>
                <a:ea typeface="Inter" panose="02000503000000020004" pitchFamily="2" charset="0"/>
                <a:cs typeface="Inter" panose="02000503000000020004" pitchFamily="2" charset="0"/>
              </a:rPr>
              <a:t>IOI SUBMITTED  ·  ACTIVE DILIGENCE</a:t>
            </a:r>
            <a:endParaRPr lang="en-US" sz="900">
              <a:solidFill>
                <a:schemeClr val="bg1"/>
              </a:solidFill>
              <a:latin typeface="Inter" panose="02000503000000020004" pitchFamily="2" charset="0"/>
              <a:ea typeface="Inter" panose="02000503000000020004" pitchFamily="2" charset="0"/>
              <a:cs typeface="Inter" panose="02000503000000020004" pitchFamily="2" charset="0"/>
            </a:endParaRPr>
          </a:p>
        </p:txBody>
      </p:sp>
      <p:sp>
        <p:nvSpPr>
          <p:cNvPr id="27" name="Text 28">
            <a:extLst>
              <a:ext uri="{FF2B5EF4-FFF2-40B4-BE49-F238E27FC236}">
                <a16:creationId xmlns:a16="http://schemas.microsoft.com/office/drawing/2014/main" id="{B5EF3F35-659B-C8E3-2132-D00B50C0467F}"/>
              </a:ext>
            </a:extLst>
          </p:cNvPr>
          <p:cNvSpPr/>
          <p:nvPr/>
        </p:nvSpPr>
        <p:spPr>
          <a:xfrm>
            <a:off x="304800" y="4084320"/>
            <a:ext cx="3718560" cy="536448"/>
          </a:xfrm>
          <a:prstGeom prst="rect">
            <a:avLst/>
          </a:prstGeom>
          <a:noFill/>
          <a:ln/>
        </p:spPr>
        <p:txBody>
          <a:bodyPr wrap="square" lIns="33867" tIns="67733" rIns="67733" bIns="33867" rtlCol="0" anchor="ctr"/>
          <a:lstStyle/>
          <a:p>
            <a:pPr>
              <a:spcAft>
                <a:spcPts val="267"/>
              </a:spcAft>
            </a:pPr>
            <a:r>
              <a:rPr lang="en-US" sz="1000" b="1">
                <a:solidFill>
                  <a:srgbClr val="1E3558"/>
                </a:solidFill>
                <a:latin typeface="Inter" panose="02000503000000020004" pitchFamily="2" charset="0"/>
                <a:ea typeface="Inter" panose="02000503000000020004" pitchFamily="2" charset="0"/>
                <a:cs typeface="Inter" panose="02000503000000020004" pitchFamily="2" charset="0"/>
              </a:rPr>
              <a:t>Certifications:  </a:t>
            </a:r>
            <a:r>
              <a:rPr lang="en-US" sz="1000">
                <a:solidFill>
                  <a:srgbClr val="6A6A64"/>
                </a:solidFill>
                <a:latin typeface="Inter" panose="02000503000000020004" pitchFamily="2" charset="0"/>
                <a:ea typeface="Inter" panose="02000503000000020004" pitchFamily="2" charset="0"/>
                <a:cs typeface="Inter" panose="02000503000000020004" pitchFamily="2" charset="0"/>
              </a:rPr>
              <a:t>UL-listed products (50+ years); BABA/Buy America compliant.</a:t>
            </a:r>
            <a:endParaRPr lang="en-US" sz="1000">
              <a:latin typeface="Inter" panose="02000503000000020004" pitchFamily="2" charset="0"/>
              <a:ea typeface="Inter" panose="02000503000000020004" pitchFamily="2" charset="0"/>
              <a:cs typeface="Inter" panose="02000503000000020004" pitchFamily="2"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Office Theme">
  <a:themeElements>
    <a:clrScheme name="Catskill Partners">
      <a:dk1>
        <a:srgbClr val="1A4C3D"/>
      </a:dk1>
      <a:lt1>
        <a:srgbClr val="FFFFFF"/>
      </a:lt1>
      <a:dk2>
        <a:srgbClr val="1A4C3D"/>
      </a:dk2>
      <a:lt2>
        <a:srgbClr val="EEECE1"/>
      </a:lt2>
      <a:accent1>
        <a:srgbClr val="41AC48"/>
      </a:accent1>
      <a:accent2>
        <a:srgbClr val="024553"/>
      </a:accent2>
      <a:accent3>
        <a:srgbClr val="C1C0A6"/>
      </a:accent3>
      <a:accent4>
        <a:srgbClr val="00708E"/>
      </a:accent4>
      <a:accent5>
        <a:srgbClr val="506166"/>
      </a:accent5>
      <a:accent6>
        <a:srgbClr val="DAF127"/>
      </a:accent6>
      <a:hlink>
        <a:srgbClr val="506266"/>
      </a:hlink>
      <a:folHlink>
        <a:srgbClr val="1A4C3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Catskill Partners">
      <a:dk1>
        <a:srgbClr val="1A4C3D"/>
      </a:dk1>
      <a:lt1>
        <a:srgbClr val="FFFFFF"/>
      </a:lt1>
      <a:dk2>
        <a:srgbClr val="1A4C3D"/>
      </a:dk2>
      <a:lt2>
        <a:srgbClr val="EEECE1"/>
      </a:lt2>
      <a:accent1>
        <a:srgbClr val="41AC48"/>
      </a:accent1>
      <a:accent2>
        <a:srgbClr val="024553"/>
      </a:accent2>
      <a:accent3>
        <a:srgbClr val="C1C0A6"/>
      </a:accent3>
      <a:accent4>
        <a:srgbClr val="00708E"/>
      </a:accent4>
      <a:accent5>
        <a:srgbClr val="506166"/>
      </a:accent5>
      <a:accent6>
        <a:srgbClr val="DAF127"/>
      </a:accent6>
      <a:hlink>
        <a:srgbClr val="506266"/>
      </a:hlink>
      <a:folHlink>
        <a:srgbClr val="1A4C3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3861</Words>
  <Application>Microsoft Macintosh PowerPoint</Application>
  <PresentationFormat>Widescreen</PresentationFormat>
  <Paragraphs>581</Paragraphs>
  <Slides>20</Slides>
  <Notes>11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0" baseType="lpstr">
      <vt:lpstr>Aptos</vt:lpstr>
      <vt:lpstr>Aptos Display</vt:lpstr>
      <vt:lpstr>Arial</vt:lpstr>
      <vt:lpstr>Calibri</vt:lpstr>
      <vt:lpstr>Inter</vt:lpstr>
      <vt:lpstr>Inter ExtraBold</vt:lpstr>
      <vt:lpstr>Inter Medium</vt:lpstr>
      <vt:lpstr>2_Office Theme</vt:lpstr>
      <vt:lpstr>1_Office Theme</vt:lpstr>
      <vt:lpstr>think-cell Slide</vt:lpstr>
      <vt:lpstr>CLARITY. CRAFT. CAPITAL.</vt:lpstr>
      <vt:lpstr>CONFIDENTIAL – Important Disclaimer</vt:lpstr>
      <vt:lpstr>     Table of Contents</vt:lpstr>
      <vt:lpstr>PowerPoint Presentation</vt:lpstr>
      <vt:lpstr>PowerPoint Presentation</vt:lpstr>
      <vt:lpstr>Proven Investment Strategy</vt:lpstr>
      <vt:lpstr>Lower-Middle Market Industrials:  Sub-Segment Focus </vt:lpstr>
      <vt:lpstr>PowerPoint Presentation</vt:lpstr>
      <vt:lpstr>PowerPoint Presentation</vt:lpstr>
      <vt:lpstr>PowerPoint Presentation</vt:lpstr>
      <vt:lpstr>Underwriting Discipline</vt:lpstr>
      <vt:lpstr>PowerPoint Presentation</vt:lpstr>
      <vt:lpstr>PowerPoint Presentation</vt:lpstr>
      <vt:lpstr>PowerPoint Presentation</vt:lpstr>
      <vt:lpstr>Let's Build Enduring Value Together</vt:lpstr>
      <vt:lpstr>Independent Sponsor Legal Structure</vt:lpstr>
      <vt:lpstr>Independent Sponsor Model Economics Overview</vt:lpstr>
      <vt:lpstr>Fund I Model Economics Overview</vt:lpstr>
      <vt:lpstr>Team Evolution &amp; Readiness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Brian Steel</dc:creator>
  <cp:lastModifiedBy>Brian Steel</cp:lastModifiedBy>
  <cp:revision>2</cp:revision>
  <dcterms:created xsi:type="dcterms:W3CDTF">2026-03-13T20:28:47Z</dcterms:created>
  <dcterms:modified xsi:type="dcterms:W3CDTF">2026-03-17T19:45:21Z</dcterms:modified>
</cp:coreProperties>
</file>